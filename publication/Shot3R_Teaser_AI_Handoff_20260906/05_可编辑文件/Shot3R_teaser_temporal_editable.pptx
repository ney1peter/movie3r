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344400" cy="43616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使用方法：开始 → 选择 → 选择窗格，可逐项选择文字、箭头、图例和图片。</a:t>
            </a:r>
          </a:p>
          <a:p>
            <a:r>
              <a:t>更换素材：选中图片 → 图片格式 → 更改图片；按住 Shift 缩放以保持比例。</a:t>
            </a:r>
          </a:p>
          <a:p>
            <a:r>
              <a:t>正文、箭头与底色为 PPT 原生对象；人体和点云是可独立替换的透明 PNG，不能直接编辑人体表面。</a:t>
            </a:r>
          </a:p>
          <a:p>
            <a:r>
              <a:t>导出：文件 → 导出 → PDF，或另存为 PNG。生成式图不自动成为矢量图。</a:t>
            </a:r>
          </a:p>
          <a:p>
            <a:r>
              <a:t>本页使用真实预测，人物 ID 未重标注。f042 和 f050 是抽样帧，不是边界相邻帧；完整片段 IDF1=0.951。</a:t>
            </a:r>
          </a:p>
          <a:p/>
          <a:p>
            <a:r>
              <a:t>英文文字与中文翻译：</a:t>
            </a:r>
          </a:p>
          <a:p>
            <a:r>
              <a:t>Streaming multi-person 4D reconstruction：流式多人体四维重建</a:t>
            </a:r>
          </a:p>
          <a:p>
            <a:r>
              <a:t>EgoHumans · three people：EgoHumans · 三人</a:t>
            </a:r>
          </a:p>
          <a:p>
            <a:r>
              <a:t>Full-clip IDF1: 0.951：完整测试片段的 IDF1：0.951</a:t>
            </a:r>
          </a:p>
          <a:p>
            <a:r>
              <a:t>Same world, same viewing angle：同一世界坐标系、同一渲染视角</a:t>
            </a:r>
          </a:p>
          <a:p>
            <a:r>
              <a:t>Predicted identities：预测人物身份</a:t>
            </a:r>
          </a:p>
          <a:p>
            <a:r>
              <a:t>ID 0：预测人物身份 0</a:t>
            </a:r>
          </a:p>
          <a:p>
            <a:r>
              <a:t>ID 1：预测人物身份 1</a:t>
            </a:r>
          </a:p>
          <a:p>
            <a:r>
              <a:t>ID 2：预测人物身份 2</a:t>
            </a:r>
          </a:p>
          <a:p>
            <a:r>
              <a:t>Monocular input stream：单目视频输入流</a:t>
            </a:r>
          </a:p>
          <a:p>
            <a:r>
              <a:t>Sampled frames; time increases left to right：抽样帧；时间从左向右推进</a:t>
            </a:r>
          </a:p>
          <a:p>
            <a:r>
              <a:t>0.75 s · f015：相对于片段起点的秒数与零起始帧号</a:t>
            </a:r>
          </a:p>
          <a:p>
            <a:r>
              <a:t>1.60 s · f032：相对于片段起点的秒数与零起始帧号</a:t>
            </a:r>
          </a:p>
          <a:p>
            <a:r>
              <a:t>2.10 s · f042：相对于片段起点的秒数与零起始帧号</a:t>
            </a:r>
          </a:p>
          <a:p>
            <a:r>
              <a:t>2.50 s · f050：相对于片段起点的秒数与零起始帧号</a:t>
            </a:r>
          </a:p>
          <a:p>
            <a:r>
              <a:t>3.05 s · f061：相对于片段起点的秒数与零起始帧号</a:t>
            </a:r>
          </a:p>
          <a:p>
            <a:r>
              <a:t>3.70 s · f074：相对于片段起点的秒数与零起始帧号</a:t>
            </a:r>
          </a:p>
          <a:p>
            <a:r>
              <a:t>Shot cut · 177°：镜头切换 · 约 177°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anel_1"/>
          <p:cNvSpPr/>
          <p:nvPr/>
        </p:nvSpPr>
        <p:spPr>
          <a:xfrm>
            <a:off x="0" y="0"/>
            <a:ext cx="12344400" cy="43616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_1_Shot3R"/>
          <p:cNvSpPr txBox="1"/>
          <p:nvPr/>
        </p:nvSpPr>
        <p:spPr>
          <a:xfrm>
            <a:off x="205740" y="72558"/>
            <a:ext cx="1209065" cy="44234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22" b="1">
                <a:solidFill>
                  <a:srgbClr val="172D3D"/>
                </a:solidFill>
                <a:latin typeface="Arial"/>
              </a:rPr>
              <a:t>Shot3R</a:t>
            </a:r>
          </a:p>
        </p:txBody>
      </p:sp>
      <p:cxnSp>
        <p:nvCxnSpPr>
          <p:cNvPr id="4" name="Line_or_arrow_1"/>
          <p:cNvCxnSpPr/>
          <p:nvPr/>
        </p:nvCxnSpPr>
        <p:spPr>
          <a:xfrm>
            <a:off x="1563624" y="150876"/>
            <a:ext cx="0" cy="233172"/>
          </a:xfrm>
          <a:prstGeom prst="line">
            <a:avLst/>
          </a:prstGeom>
          <a:ln w="13716">
            <a:solidFill>
              <a:srgbClr val="D9E1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_2_Streaming multi-person 4D reconstruction"/>
          <p:cNvSpPr txBox="1"/>
          <p:nvPr/>
        </p:nvSpPr>
        <p:spPr>
          <a:xfrm>
            <a:off x="1714500" y="135788"/>
            <a:ext cx="3919802" cy="3086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20" b="0">
                <a:solidFill>
                  <a:srgbClr val="172D3D"/>
                </a:solidFill>
                <a:latin typeface="Arial"/>
              </a:rPr>
              <a:t>Streaming multi-person 4D reconstruction</a:t>
            </a:r>
          </a:p>
        </p:txBody>
      </p:sp>
      <p:sp>
        <p:nvSpPr>
          <p:cNvPr id="6" name="Text_3_EgoHumans · three people"/>
          <p:cNvSpPr txBox="1"/>
          <p:nvPr/>
        </p:nvSpPr>
        <p:spPr>
          <a:xfrm>
            <a:off x="10416820" y="97384"/>
            <a:ext cx="1721840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57685"/>
                </a:solidFill>
                <a:latin typeface="Arial"/>
              </a:rPr>
              <a:t>EgoHumans · three people</a:t>
            </a:r>
          </a:p>
        </p:txBody>
      </p:sp>
      <p:sp>
        <p:nvSpPr>
          <p:cNvPr id="7" name="Text_4_Full-clip IDF1: 0.951"/>
          <p:cNvSpPr txBox="1"/>
          <p:nvPr/>
        </p:nvSpPr>
        <p:spPr>
          <a:xfrm>
            <a:off x="10768024" y="261976"/>
            <a:ext cx="1370636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4A6A0"/>
                </a:solidFill>
                <a:latin typeface="Arial"/>
              </a:rPr>
              <a:t>Full-clip IDF1: 0.951</a:t>
            </a:r>
          </a:p>
        </p:txBody>
      </p:sp>
      <p:cxnSp>
        <p:nvCxnSpPr>
          <p:cNvPr id="8" name="Line_or_arrow_2"/>
          <p:cNvCxnSpPr/>
          <p:nvPr/>
        </p:nvCxnSpPr>
        <p:spPr>
          <a:xfrm>
            <a:off x="205740" y="541782"/>
            <a:ext cx="11932920" cy="0"/>
          </a:xfrm>
          <a:prstGeom prst="line">
            <a:avLst/>
          </a:prstGeom>
          <a:ln w="6858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_5_Same world, same viewing angle"/>
          <p:cNvSpPr txBox="1"/>
          <p:nvPr/>
        </p:nvSpPr>
        <p:spPr>
          <a:xfrm>
            <a:off x="205740" y="660563"/>
            <a:ext cx="2438319" cy="22631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88" b="1">
                <a:solidFill>
                  <a:srgbClr val="172D3D"/>
                </a:solidFill>
                <a:latin typeface="Arial"/>
              </a:rPr>
              <a:t>Same world, same viewing angle</a:t>
            </a:r>
          </a:p>
        </p:txBody>
      </p:sp>
      <p:sp>
        <p:nvSpPr>
          <p:cNvPr id="10" name="Text_6_Predicted identities"/>
          <p:cNvSpPr txBox="1"/>
          <p:nvPr/>
        </p:nvSpPr>
        <p:spPr>
          <a:xfrm>
            <a:off x="8366760" y="659740"/>
            <a:ext cx="1241405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57685"/>
                </a:solidFill>
                <a:latin typeface="Arial"/>
              </a:rPr>
              <a:t>Predicted identities</a:t>
            </a:r>
          </a:p>
        </p:txBody>
      </p:sp>
      <p:sp>
        <p:nvSpPr>
          <p:cNvPr id="11" name="Identity_color_2"/>
          <p:cNvSpPr/>
          <p:nvPr/>
        </p:nvSpPr>
        <p:spPr>
          <a:xfrm>
            <a:off x="9738360" y="706374"/>
            <a:ext cx="82296" cy="82296"/>
          </a:xfrm>
          <a:prstGeom prst="ellipse">
            <a:avLst/>
          </a:prstGeom>
          <a:solidFill>
            <a:srgbClr val="E86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_7_ID 0"/>
          <p:cNvSpPr txBox="1"/>
          <p:nvPr/>
        </p:nvSpPr>
        <p:spPr>
          <a:xfrm>
            <a:off x="9875520" y="659740"/>
            <a:ext cx="333899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72D3D"/>
                </a:solidFill>
                <a:latin typeface="Arial"/>
              </a:rPr>
              <a:t>ID 0</a:t>
            </a:r>
          </a:p>
        </p:txBody>
      </p:sp>
      <p:sp>
        <p:nvSpPr>
          <p:cNvPr id="13" name="Identity_color_3"/>
          <p:cNvSpPr/>
          <p:nvPr/>
        </p:nvSpPr>
        <p:spPr>
          <a:xfrm>
            <a:off x="10355580" y="706374"/>
            <a:ext cx="82296" cy="82296"/>
          </a:xfrm>
          <a:prstGeom prst="ellipse">
            <a:avLst/>
          </a:prstGeom>
          <a:solidFill>
            <a:srgbClr val="14A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_8_ID 1"/>
          <p:cNvSpPr txBox="1"/>
          <p:nvPr/>
        </p:nvSpPr>
        <p:spPr>
          <a:xfrm>
            <a:off x="10492740" y="659740"/>
            <a:ext cx="333899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72D3D"/>
                </a:solidFill>
                <a:latin typeface="Arial"/>
              </a:rPr>
              <a:t>ID 1</a:t>
            </a:r>
          </a:p>
        </p:txBody>
      </p:sp>
      <p:sp>
        <p:nvSpPr>
          <p:cNvPr id="15" name="Identity_color_4"/>
          <p:cNvSpPr/>
          <p:nvPr/>
        </p:nvSpPr>
        <p:spPr>
          <a:xfrm>
            <a:off x="10972800" y="706374"/>
            <a:ext cx="82296" cy="82296"/>
          </a:xfrm>
          <a:prstGeom prst="ellipse">
            <a:avLst/>
          </a:prstGeom>
          <a:solidFill>
            <a:srgbClr val="8569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_9_ID 2"/>
          <p:cNvSpPr txBox="1"/>
          <p:nvPr/>
        </p:nvSpPr>
        <p:spPr>
          <a:xfrm>
            <a:off x="11109960" y="659740"/>
            <a:ext cx="333899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172D3D"/>
                </a:solidFill>
                <a:latin typeface="Arial"/>
              </a:rPr>
              <a:t>ID 2</a:t>
            </a:r>
          </a:p>
        </p:txBody>
      </p:sp>
      <p:sp>
        <p:nvSpPr>
          <p:cNvPr id="17" name="Panel_5"/>
          <p:cNvSpPr/>
          <p:nvPr/>
        </p:nvSpPr>
        <p:spPr>
          <a:xfrm>
            <a:off x="205740" y="953262"/>
            <a:ext cx="1908810" cy="1625346"/>
          </a:xfrm>
          <a:prstGeom prst="roundRect">
            <a:avLst>
              <a:gd name="adj" fmla="val 2531"/>
            </a:avLst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_1_assets/egohumans/renders/f015_transparent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" y="1001268"/>
            <a:ext cx="1885950" cy="1508760"/>
          </a:xfrm>
          <a:prstGeom prst="rect">
            <a:avLst/>
          </a:prstGeom>
          <a:effectLst/>
        </p:spPr>
      </p:pic>
      <p:sp>
        <p:nvSpPr>
          <p:cNvPr id="19" name="Panel_6"/>
          <p:cNvSpPr/>
          <p:nvPr/>
        </p:nvSpPr>
        <p:spPr>
          <a:xfrm>
            <a:off x="205740" y="2558034"/>
            <a:ext cx="1908810" cy="20574"/>
          </a:xfrm>
          <a:prstGeom prst="rect">
            <a:avLst/>
          </a:prstGeom>
          <a:solidFill>
            <a:srgbClr val="337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anel_7"/>
          <p:cNvSpPr/>
          <p:nvPr/>
        </p:nvSpPr>
        <p:spPr>
          <a:xfrm>
            <a:off x="2210562" y="953262"/>
            <a:ext cx="1908810" cy="1625346"/>
          </a:xfrm>
          <a:prstGeom prst="roundRect">
            <a:avLst>
              <a:gd name="adj" fmla="val 2531"/>
            </a:avLst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_2_assets/egohumans/renders/f032_transparent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1992" y="1001268"/>
            <a:ext cx="1885950" cy="1508760"/>
          </a:xfrm>
          <a:prstGeom prst="rect">
            <a:avLst/>
          </a:prstGeom>
          <a:effectLst/>
        </p:spPr>
      </p:pic>
      <p:sp>
        <p:nvSpPr>
          <p:cNvPr id="22" name="Panel_8"/>
          <p:cNvSpPr/>
          <p:nvPr/>
        </p:nvSpPr>
        <p:spPr>
          <a:xfrm>
            <a:off x="2210562" y="2558034"/>
            <a:ext cx="1908810" cy="20574"/>
          </a:xfrm>
          <a:prstGeom prst="rect">
            <a:avLst/>
          </a:prstGeom>
          <a:solidFill>
            <a:srgbClr val="337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nel_9"/>
          <p:cNvSpPr/>
          <p:nvPr/>
        </p:nvSpPr>
        <p:spPr>
          <a:xfrm>
            <a:off x="4215384" y="953262"/>
            <a:ext cx="1908810" cy="1625346"/>
          </a:xfrm>
          <a:prstGeom prst="roundRect">
            <a:avLst>
              <a:gd name="adj" fmla="val 2531"/>
            </a:avLst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_3_assets/egohumans/renders/f042_transparent.png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6814" y="1001268"/>
            <a:ext cx="1885950" cy="1508760"/>
          </a:xfrm>
          <a:prstGeom prst="rect">
            <a:avLst/>
          </a:prstGeom>
          <a:effectLst/>
        </p:spPr>
      </p:pic>
      <p:sp>
        <p:nvSpPr>
          <p:cNvPr id="25" name="Panel_10"/>
          <p:cNvSpPr/>
          <p:nvPr/>
        </p:nvSpPr>
        <p:spPr>
          <a:xfrm>
            <a:off x="4215384" y="2558034"/>
            <a:ext cx="1908810" cy="20574"/>
          </a:xfrm>
          <a:prstGeom prst="rect">
            <a:avLst/>
          </a:prstGeom>
          <a:solidFill>
            <a:srgbClr val="337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anel_11"/>
          <p:cNvSpPr/>
          <p:nvPr/>
        </p:nvSpPr>
        <p:spPr>
          <a:xfrm>
            <a:off x="6220206" y="953262"/>
            <a:ext cx="1908810" cy="1625346"/>
          </a:xfrm>
          <a:prstGeom prst="roundRect">
            <a:avLst>
              <a:gd name="adj" fmla="val 2531"/>
            </a:avLst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_4_assets/egohumans/renders/f050_transparent.png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1636" y="1001268"/>
            <a:ext cx="1885950" cy="1508760"/>
          </a:xfrm>
          <a:prstGeom prst="rect">
            <a:avLst/>
          </a:prstGeom>
          <a:effectLst/>
        </p:spPr>
      </p:pic>
      <p:sp>
        <p:nvSpPr>
          <p:cNvPr id="28" name="Panel_12"/>
          <p:cNvSpPr/>
          <p:nvPr/>
        </p:nvSpPr>
        <p:spPr>
          <a:xfrm>
            <a:off x="6220206" y="2558034"/>
            <a:ext cx="1908810" cy="20574"/>
          </a:xfrm>
          <a:prstGeom prst="rect">
            <a:avLst/>
          </a:prstGeom>
          <a:solidFill>
            <a:srgbClr val="DF9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anel_13"/>
          <p:cNvSpPr/>
          <p:nvPr/>
        </p:nvSpPr>
        <p:spPr>
          <a:xfrm>
            <a:off x="8225028" y="953262"/>
            <a:ext cx="1908810" cy="1625346"/>
          </a:xfrm>
          <a:prstGeom prst="roundRect">
            <a:avLst>
              <a:gd name="adj" fmla="val 2531"/>
            </a:avLst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_5_assets/egohumans/renders/f061_transparent.png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6458" y="1001268"/>
            <a:ext cx="1885950" cy="1508760"/>
          </a:xfrm>
          <a:prstGeom prst="rect">
            <a:avLst/>
          </a:prstGeom>
          <a:effectLst/>
        </p:spPr>
      </p:pic>
      <p:sp>
        <p:nvSpPr>
          <p:cNvPr id="31" name="Panel_14"/>
          <p:cNvSpPr/>
          <p:nvPr/>
        </p:nvSpPr>
        <p:spPr>
          <a:xfrm>
            <a:off x="8225028" y="2558034"/>
            <a:ext cx="1908810" cy="20574"/>
          </a:xfrm>
          <a:prstGeom prst="rect">
            <a:avLst/>
          </a:prstGeom>
          <a:solidFill>
            <a:srgbClr val="DF9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anel_15"/>
          <p:cNvSpPr/>
          <p:nvPr/>
        </p:nvSpPr>
        <p:spPr>
          <a:xfrm>
            <a:off x="10229850" y="953262"/>
            <a:ext cx="1908810" cy="1625346"/>
          </a:xfrm>
          <a:prstGeom prst="roundRect">
            <a:avLst>
              <a:gd name="adj" fmla="val 2531"/>
            </a:avLst>
          </a:prstGeom>
          <a:solidFill>
            <a:srgbClr val="F5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_6_assets/egohumans/renders/f074_transparent.png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0" y="1001268"/>
            <a:ext cx="1885950" cy="1508760"/>
          </a:xfrm>
          <a:prstGeom prst="rect">
            <a:avLst/>
          </a:prstGeom>
          <a:effectLst/>
        </p:spPr>
      </p:pic>
      <p:sp>
        <p:nvSpPr>
          <p:cNvPr id="34" name="Panel_16"/>
          <p:cNvSpPr/>
          <p:nvPr/>
        </p:nvSpPr>
        <p:spPr>
          <a:xfrm>
            <a:off x="10229850" y="2558034"/>
            <a:ext cx="1908810" cy="20574"/>
          </a:xfrm>
          <a:prstGeom prst="rect">
            <a:avLst/>
          </a:prstGeom>
          <a:solidFill>
            <a:srgbClr val="DF9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_10_Monocular input stream"/>
          <p:cNvSpPr txBox="1"/>
          <p:nvPr/>
        </p:nvSpPr>
        <p:spPr>
          <a:xfrm>
            <a:off x="205740" y="2662687"/>
            <a:ext cx="1718829" cy="2160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34" b="1">
                <a:solidFill>
                  <a:srgbClr val="172D3D"/>
                </a:solidFill>
                <a:latin typeface="Arial"/>
              </a:rPr>
              <a:t>Monocular input stream</a:t>
            </a:r>
          </a:p>
        </p:txBody>
      </p:sp>
      <p:sp>
        <p:nvSpPr>
          <p:cNvPr id="36" name="Text_11_Sampled frames; time increases left to right"/>
          <p:cNvSpPr txBox="1"/>
          <p:nvPr/>
        </p:nvSpPr>
        <p:spPr>
          <a:xfrm>
            <a:off x="9418338" y="2669134"/>
            <a:ext cx="2720322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57685"/>
                </a:solidFill>
                <a:latin typeface="Arial"/>
              </a:rPr>
              <a:t>Sampled frames; time increases left to right</a:t>
            </a:r>
          </a:p>
        </p:txBody>
      </p:sp>
      <p:sp>
        <p:nvSpPr>
          <p:cNvPr id="37" name="Panel_17"/>
          <p:cNvSpPr/>
          <p:nvPr/>
        </p:nvSpPr>
        <p:spPr>
          <a:xfrm>
            <a:off x="205740" y="2921508"/>
            <a:ext cx="1908810" cy="112857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_7_assets/egohumans/rgb/f015.jpg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502" y="2948940"/>
            <a:ext cx="1907285" cy="1073706"/>
          </a:xfrm>
          <a:prstGeom prst="rect">
            <a:avLst/>
          </a:prstGeom>
          <a:effectLst/>
        </p:spPr>
      </p:pic>
      <p:sp>
        <p:nvSpPr>
          <p:cNvPr id="39" name="Panel_18"/>
          <p:cNvSpPr/>
          <p:nvPr/>
        </p:nvSpPr>
        <p:spPr>
          <a:xfrm>
            <a:off x="205740" y="2921508"/>
            <a:ext cx="1908810" cy="20574"/>
          </a:xfrm>
          <a:prstGeom prst="rect">
            <a:avLst/>
          </a:prstGeom>
          <a:solidFill>
            <a:srgbClr val="337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_12_0.75 s · f015"/>
          <p:cNvSpPr txBox="1"/>
          <p:nvPr/>
        </p:nvSpPr>
        <p:spPr>
          <a:xfrm>
            <a:off x="737681" y="4072023"/>
            <a:ext cx="844927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57685"/>
                </a:solidFill>
                <a:latin typeface="Arial"/>
              </a:rPr>
              <a:t>0.75 s · f015</a:t>
            </a:r>
          </a:p>
        </p:txBody>
      </p:sp>
      <p:sp>
        <p:nvSpPr>
          <p:cNvPr id="41" name="Panel_19"/>
          <p:cNvSpPr/>
          <p:nvPr/>
        </p:nvSpPr>
        <p:spPr>
          <a:xfrm>
            <a:off x="2210562" y="2921508"/>
            <a:ext cx="1908810" cy="112857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_8_assets/egohumans/rgb/f032.jpg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11324" y="2948940"/>
            <a:ext cx="1907285" cy="1073706"/>
          </a:xfrm>
          <a:prstGeom prst="rect">
            <a:avLst/>
          </a:prstGeom>
          <a:effectLst/>
        </p:spPr>
      </p:pic>
      <p:sp>
        <p:nvSpPr>
          <p:cNvPr id="43" name="Panel_20"/>
          <p:cNvSpPr/>
          <p:nvPr/>
        </p:nvSpPr>
        <p:spPr>
          <a:xfrm>
            <a:off x="2210562" y="2921508"/>
            <a:ext cx="1908810" cy="20574"/>
          </a:xfrm>
          <a:prstGeom prst="rect">
            <a:avLst/>
          </a:prstGeom>
          <a:solidFill>
            <a:srgbClr val="337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_13_1.60 s · f032"/>
          <p:cNvSpPr txBox="1"/>
          <p:nvPr/>
        </p:nvSpPr>
        <p:spPr>
          <a:xfrm>
            <a:off x="2742503" y="4072023"/>
            <a:ext cx="844927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57685"/>
                </a:solidFill>
                <a:latin typeface="Arial"/>
              </a:rPr>
              <a:t>1.60 s · f032</a:t>
            </a:r>
          </a:p>
        </p:txBody>
      </p:sp>
      <p:sp>
        <p:nvSpPr>
          <p:cNvPr id="45" name="Panel_21"/>
          <p:cNvSpPr/>
          <p:nvPr/>
        </p:nvSpPr>
        <p:spPr>
          <a:xfrm>
            <a:off x="4215384" y="2921508"/>
            <a:ext cx="1908810" cy="112857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_9_assets/egohumans/rgb/f042.jpg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16146" y="2948940"/>
            <a:ext cx="1907285" cy="1073706"/>
          </a:xfrm>
          <a:prstGeom prst="rect">
            <a:avLst/>
          </a:prstGeom>
          <a:effectLst/>
        </p:spPr>
      </p:pic>
      <p:sp>
        <p:nvSpPr>
          <p:cNvPr id="47" name="Panel_22"/>
          <p:cNvSpPr/>
          <p:nvPr/>
        </p:nvSpPr>
        <p:spPr>
          <a:xfrm>
            <a:off x="4215384" y="2921508"/>
            <a:ext cx="1908810" cy="20574"/>
          </a:xfrm>
          <a:prstGeom prst="rect">
            <a:avLst/>
          </a:prstGeom>
          <a:solidFill>
            <a:srgbClr val="337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_14_2.10 s · f042"/>
          <p:cNvSpPr txBox="1"/>
          <p:nvPr/>
        </p:nvSpPr>
        <p:spPr>
          <a:xfrm>
            <a:off x="4747325" y="4072023"/>
            <a:ext cx="844927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57685"/>
                </a:solidFill>
                <a:latin typeface="Arial"/>
              </a:rPr>
              <a:t>2.10 s · f042</a:t>
            </a:r>
          </a:p>
        </p:txBody>
      </p:sp>
      <p:sp>
        <p:nvSpPr>
          <p:cNvPr id="49" name="Panel_23"/>
          <p:cNvSpPr/>
          <p:nvPr/>
        </p:nvSpPr>
        <p:spPr>
          <a:xfrm>
            <a:off x="6220206" y="2921508"/>
            <a:ext cx="1908810" cy="112857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_10_assets/egohumans/rgb/f050.jpg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0968" y="2948940"/>
            <a:ext cx="1907285" cy="1073706"/>
          </a:xfrm>
          <a:prstGeom prst="rect">
            <a:avLst/>
          </a:prstGeom>
          <a:effectLst/>
        </p:spPr>
      </p:pic>
      <p:sp>
        <p:nvSpPr>
          <p:cNvPr id="51" name="Panel_24"/>
          <p:cNvSpPr/>
          <p:nvPr/>
        </p:nvSpPr>
        <p:spPr>
          <a:xfrm>
            <a:off x="6220206" y="2921508"/>
            <a:ext cx="1908810" cy="20574"/>
          </a:xfrm>
          <a:prstGeom prst="rect">
            <a:avLst/>
          </a:prstGeom>
          <a:solidFill>
            <a:srgbClr val="DF9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_15_2.50 s · f050"/>
          <p:cNvSpPr txBox="1"/>
          <p:nvPr/>
        </p:nvSpPr>
        <p:spPr>
          <a:xfrm>
            <a:off x="6752147" y="4072023"/>
            <a:ext cx="844927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57685"/>
                </a:solidFill>
                <a:latin typeface="Arial"/>
              </a:rPr>
              <a:t>2.50 s · f050</a:t>
            </a:r>
          </a:p>
        </p:txBody>
      </p:sp>
      <p:sp>
        <p:nvSpPr>
          <p:cNvPr id="53" name="Panel_25"/>
          <p:cNvSpPr/>
          <p:nvPr/>
        </p:nvSpPr>
        <p:spPr>
          <a:xfrm>
            <a:off x="8225028" y="2921508"/>
            <a:ext cx="1908810" cy="112857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_11_assets/egohumans/rgb/f061.jpg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5790" y="2948940"/>
            <a:ext cx="1907285" cy="1073706"/>
          </a:xfrm>
          <a:prstGeom prst="rect">
            <a:avLst/>
          </a:prstGeom>
          <a:effectLst/>
        </p:spPr>
      </p:pic>
      <p:sp>
        <p:nvSpPr>
          <p:cNvPr id="55" name="Panel_26"/>
          <p:cNvSpPr/>
          <p:nvPr/>
        </p:nvSpPr>
        <p:spPr>
          <a:xfrm>
            <a:off x="8225028" y="2921508"/>
            <a:ext cx="1908810" cy="20574"/>
          </a:xfrm>
          <a:prstGeom prst="rect">
            <a:avLst/>
          </a:prstGeom>
          <a:solidFill>
            <a:srgbClr val="DF9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_16_3.05 s · f061"/>
          <p:cNvSpPr txBox="1"/>
          <p:nvPr/>
        </p:nvSpPr>
        <p:spPr>
          <a:xfrm>
            <a:off x="8756969" y="4072023"/>
            <a:ext cx="844927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57685"/>
                </a:solidFill>
                <a:latin typeface="Arial"/>
              </a:rPr>
              <a:t>3.05 s · f061</a:t>
            </a:r>
          </a:p>
        </p:txBody>
      </p:sp>
      <p:sp>
        <p:nvSpPr>
          <p:cNvPr id="57" name="Panel_27"/>
          <p:cNvSpPr/>
          <p:nvPr/>
        </p:nvSpPr>
        <p:spPr>
          <a:xfrm>
            <a:off x="10229850" y="2921508"/>
            <a:ext cx="1908810" cy="112857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_12_assets/egohumans/rgb/f074.jpg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30612" y="2948940"/>
            <a:ext cx="1907285" cy="1073706"/>
          </a:xfrm>
          <a:prstGeom prst="rect">
            <a:avLst/>
          </a:prstGeom>
          <a:effectLst/>
        </p:spPr>
      </p:pic>
      <p:sp>
        <p:nvSpPr>
          <p:cNvPr id="59" name="Panel_28"/>
          <p:cNvSpPr/>
          <p:nvPr/>
        </p:nvSpPr>
        <p:spPr>
          <a:xfrm>
            <a:off x="10229850" y="2921508"/>
            <a:ext cx="1908810" cy="20574"/>
          </a:xfrm>
          <a:prstGeom prst="rect">
            <a:avLst/>
          </a:prstGeom>
          <a:solidFill>
            <a:srgbClr val="DF95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_17_3.70 s · f074"/>
          <p:cNvSpPr txBox="1"/>
          <p:nvPr/>
        </p:nvSpPr>
        <p:spPr>
          <a:xfrm>
            <a:off x="10761791" y="4072023"/>
            <a:ext cx="844927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657685"/>
                </a:solidFill>
                <a:latin typeface="Arial"/>
              </a:rPr>
              <a:t>3.70 s · f074</a:t>
            </a:r>
          </a:p>
        </p:txBody>
      </p:sp>
      <p:cxnSp>
        <p:nvCxnSpPr>
          <p:cNvPr id="61" name="Line_or_arrow_3"/>
          <p:cNvCxnSpPr/>
          <p:nvPr/>
        </p:nvCxnSpPr>
        <p:spPr>
          <a:xfrm>
            <a:off x="6172200" y="891540"/>
            <a:ext cx="0" cy="3346704"/>
          </a:xfrm>
          <a:prstGeom prst="line">
            <a:avLst/>
          </a:prstGeom>
          <a:ln w="10287">
            <a:solidFill>
              <a:srgbClr val="DF952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Panel_29"/>
          <p:cNvSpPr/>
          <p:nvPr/>
        </p:nvSpPr>
        <p:spPr>
          <a:xfrm>
            <a:off x="5596128" y="637794"/>
            <a:ext cx="1152144" cy="226314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6858">
            <a:solidFill>
              <a:srgbClr val="DF95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_18_Shot cut · 177°"/>
          <p:cNvSpPr txBox="1"/>
          <p:nvPr/>
        </p:nvSpPr>
        <p:spPr>
          <a:xfrm>
            <a:off x="5653899" y="659740"/>
            <a:ext cx="1036603" cy="2057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>
                <a:solidFill>
                  <a:srgbClr val="DF9525"/>
                </a:solidFill>
                <a:latin typeface="Arial"/>
              </a:rPr>
              <a:t>Shot cut · 177°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Shot3R 可编辑 teaser：真实结果</dc:title>
  <dc:subject>Editable text, vector annotations, and independently replaceable raster assets</dc:subject>
  <dc:creator>Shot3R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