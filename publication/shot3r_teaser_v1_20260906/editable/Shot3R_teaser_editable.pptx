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344400" cy="60350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使用方法：开始 → 选择 → 选择窗格，可逐项选择文字、箭头、图例和图片。</a:t>
            </a:r>
          </a:p>
          <a:p>
            <a:r>
              <a:t>更换素材：选中图片 → 图片格式 → 更改图片；按住 Shift 缩放以保持比例。</a:t>
            </a:r>
          </a:p>
          <a:p>
            <a:r>
              <a:t>正文、箭头与底色为 PPT 原生对象；人体和点云是可独立替换的透明 PNG，不能直接编辑人体表面。</a:t>
            </a:r>
          </a:p>
          <a:p>
            <a:r>
              <a:t>导出：文件 → 导出 → PDF，或另存为 PNG。生成式图不自动成为矢量图。</a:t>
            </a:r>
          </a:p>
          <a:p>
            <a:r>
              <a:t>本页使用真实预测，人物 ID 未重标注。f042 和 f050 是抽样帧，不是边界相邻帧；完整片段 IDF1=0.951。</a:t>
            </a:r>
          </a:p>
          <a:p/>
          <a:p>
            <a:r>
              <a:t>英文文字与中文翻译：</a:t>
            </a:r>
          </a:p>
          <a:p>
            <a:r>
              <a:t>Streaming multi-person 4D reconstruction：流式多人体四维重建</a:t>
            </a:r>
          </a:p>
          <a:p>
            <a:r>
              <a:t>EgoHumans · three people：EgoHumans · 三人</a:t>
            </a:r>
          </a:p>
          <a:p>
            <a:r>
              <a:t>Full-clip IDF1: 0.951：完整测试片段的 IDF1：0.951</a:t>
            </a:r>
          </a:p>
          <a:p>
            <a:r>
              <a:t>A shared 3D world：统一的三维世界坐标系</a:t>
            </a:r>
          </a:p>
          <a:p>
            <a:r>
              <a:t>Predicted identities：预测人物身份</a:t>
            </a:r>
          </a:p>
          <a:p>
            <a:r>
              <a:t>ID 0：预测人物身份 0</a:t>
            </a:r>
          </a:p>
          <a:p>
            <a:r>
              <a:t>ID 1：预测人物身份 1</a:t>
            </a:r>
          </a:p>
          <a:p>
            <a:r>
              <a:t>ID 2：预测人物身份 2</a:t>
            </a:r>
          </a:p>
          <a:p>
            <a:r>
              <a:t>Faint meshes: earlier poses：浅色网格：较早时刻的姿态</a:t>
            </a:r>
          </a:p>
          <a:p>
            <a:r>
              <a:t>Across a 177° viewpoint change：跨越约 177° 的视角变化</a:t>
            </a:r>
          </a:p>
          <a:p>
            <a:r>
              <a:t>Same world, same viewing angle：同一世界坐标系、同一渲染视角</a:t>
            </a:r>
          </a:p>
          <a:p>
            <a:r>
              <a:t>Before the cut：切镜前</a:t>
            </a:r>
          </a:p>
          <a:p>
            <a:r>
              <a:t>2.10 s · f042：相对于片段起点的秒数与零起始帧号</a:t>
            </a:r>
          </a:p>
          <a:p>
            <a:r>
              <a:t>After the cut：切镜后</a:t>
            </a:r>
          </a:p>
          <a:p>
            <a:r>
              <a:t>2.50 s · f050：相对于片段起点的秒数与零起始帧号</a:t>
            </a:r>
          </a:p>
          <a:p>
            <a:r>
              <a:t>Persistent person IDs：持续关联的人物 ID</a:t>
            </a:r>
          </a:p>
          <a:p>
            <a:r>
              <a:t>Shared world coordinates：统一世界坐标系</a:t>
            </a:r>
          </a:p>
          <a:p>
            <a:r>
              <a:t>Monocular input stream：单目视频输入流</a:t>
            </a:r>
          </a:p>
          <a:p>
            <a:r>
              <a:t>Sampled frames; time increases left to right：抽样帧；时间从左向右推进</a:t>
            </a:r>
          </a:p>
          <a:p>
            <a:r>
              <a:t>0.75 s · f015：相对于片段起点的秒数与零起始帧号</a:t>
            </a:r>
          </a:p>
          <a:p>
            <a:r>
              <a:t>1.60 s · f032：相对于片段起点的秒数与零起始帧号</a:t>
            </a:r>
          </a:p>
          <a:p>
            <a:r>
              <a:t>2.10 s · f042：相对于片段起点的秒数与零起始帧号</a:t>
            </a:r>
          </a:p>
          <a:p>
            <a:r>
              <a:t>2.50 s · f050：相对于片段起点的秒数与零起始帧号</a:t>
            </a:r>
          </a:p>
          <a:p>
            <a:r>
              <a:t>3.05 s · f061：相对于片段起点的秒数与零起始帧号</a:t>
            </a:r>
          </a:p>
          <a:p>
            <a:r>
              <a:t>3.70 s · f074：相对于片段起点的秒数与零起始帧号</a:t>
            </a:r>
          </a:p>
          <a:p>
            <a:r>
              <a:t>Shot cut · 177°：镜头切换 · 约 177°</a:t>
            </a:r>
          </a:p>
          <a:p>
            <a:r>
              <a:t>Shot 1：镜头 1</a:t>
            </a:r>
          </a:p>
          <a:p>
            <a:r>
              <a:t>Shot 2：镜头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nel_1"/>
          <p:cNvSpPr/>
          <p:nvPr/>
        </p:nvSpPr>
        <p:spPr>
          <a:xfrm>
            <a:off x="0" y="0"/>
            <a:ext cx="12344400" cy="6035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_1_Shot3R"/>
          <p:cNvSpPr txBox="1"/>
          <p:nvPr/>
        </p:nvSpPr>
        <p:spPr>
          <a:xfrm>
            <a:off x="205740" y="72558"/>
            <a:ext cx="1209065" cy="4423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22" b="1">
                <a:solidFill>
                  <a:srgbClr val="172D3D"/>
                </a:solidFill>
                <a:latin typeface="Arial"/>
              </a:rPr>
              <a:t>Shot3R</a:t>
            </a:r>
          </a:p>
        </p:txBody>
      </p:sp>
      <p:cxnSp>
        <p:nvCxnSpPr>
          <p:cNvPr id="4" name="Line_or_arrow_1"/>
          <p:cNvCxnSpPr/>
          <p:nvPr/>
        </p:nvCxnSpPr>
        <p:spPr>
          <a:xfrm>
            <a:off x="1563624" y="150876"/>
            <a:ext cx="0" cy="233172"/>
          </a:xfrm>
          <a:prstGeom prst="line">
            <a:avLst/>
          </a:prstGeom>
          <a:ln w="13716">
            <a:solidFill>
              <a:srgbClr val="D9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_2_Streaming multi-person 4D reconstruction"/>
          <p:cNvSpPr txBox="1"/>
          <p:nvPr/>
        </p:nvSpPr>
        <p:spPr>
          <a:xfrm>
            <a:off x="1714500" y="135788"/>
            <a:ext cx="3919802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2D3D"/>
                </a:solidFill>
                <a:latin typeface="Arial"/>
              </a:rPr>
              <a:t>Streaming multi-person 4D reconstruction</a:t>
            </a:r>
          </a:p>
        </p:txBody>
      </p:sp>
      <p:sp>
        <p:nvSpPr>
          <p:cNvPr id="6" name="Text_3_EgoHumans · three people"/>
          <p:cNvSpPr txBox="1"/>
          <p:nvPr/>
        </p:nvSpPr>
        <p:spPr>
          <a:xfrm>
            <a:off x="10416820" y="97384"/>
            <a:ext cx="1721840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EgoHumans · three people</a:t>
            </a:r>
          </a:p>
        </p:txBody>
      </p:sp>
      <p:sp>
        <p:nvSpPr>
          <p:cNvPr id="7" name="Text_4_Full-clip IDF1: 0.951"/>
          <p:cNvSpPr txBox="1"/>
          <p:nvPr/>
        </p:nvSpPr>
        <p:spPr>
          <a:xfrm>
            <a:off x="10768024" y="261976"/>
            <a:ext cx="1370636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4A6A0"/>
                </a:solidFill>
                <a:latin typeface="Arial"/>
              </a:rPr>
              <a:t>Full-clip IDF1: 0.951</a:t>
            </a:r>
          </a:p>
        </p:txBody>
      </p:sp>
      <p:cxnSp>
        <p:nvCxnSpPr>
          <p:cNvPr id="8" name="Line_or_arrow_2"/>
          <p:cNvCxnSpPr/>
          <p:nvPr/>
        </p:nvCxnSpPr>
        <p:spPr>
          <a:xfrm>
            <a:off x="205740" y="541782"/>
            <a:ext cx="11932920" cy="0"/>
          </a:xfrm>
          <a:prstGeom prst="line">
            <a:avLst/>
          </a:prstGeom>
          <a:ln w="6858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_5_A shared 3D world"/>
          <p:cNvSpPr txBox="1"/>
          <p:nvPr/>
        </p:nvSpPr>
        <p:spPr>
          <a:xfrm>
            <a:off x="260604" y="654939"/>
            <a:ext cx="1601745" cy="2571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2D3D"/>
                </a:solidFill>
                <a:latin typeface="Arial"/>
              </a:rPr>
              <a:t>A shared 3D world</a:t>
            </a:r>
          </a:p>
        </p:txBody>
      </p:sp>
      <p:sp>
        <p:nvSpPr>
          <p:cNvPr id="10" name="Text_6_Predicted identities"/>
          <p:cNvSpPr txBox="1"/>
          <p:nvPr/>
        </p:nvSpPr>
        <p:spPr>
          <a:xfrm>
            <a:off x="260604" y="906628"/>
            <a:ext cx="1241405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Predicted identities</a:t>
            </a:r>
          </a:p>
        </p:txBody>
      </p:sp>
      <p:sp>
        <p:nvSpPr>
          <p:cNvPr id="11" name="Identity_color_2"/>
          <p:cNvSpPr/>
          <p:nvPr/>
        </p:nvSpPr>
        <p:spPr>
          <a:xfrm>
            <a:off x="1632204" y="953262"/>
            <a:ext cx="82296" cy="82296"/>
          </a:xfrm>
          <a:prstGeom prst="ellipse">
            <a:avLst/>
          </a:prstGeom>
          <a:solidFill>
            <a:srgbClr val="E86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_7_ID 0"/>
          <p:cNvSpPr txBox="1"/>
          <p:nvPr/>
        </p:nvSpPr>
        <p:spPr>
          <a:xfrm>
            <a:off x="1769364" y="906628"/>
            <a:ext cx="333899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72D3D"/>
                </a:solidFill>
                <a:latin typeface="Arial"/>
              </a:rPr>
              <a:t>ID 0</a:t>
            </a:r>
          </a:p>
        </p:txBody>
      </p:sp>
      <p:sp>
        <p:nvSpPr>
          <p:cNvPr id="13" name="Identity_color_3"/>
          <p:cNvSpPr/>
          <p:nvPr/>
        </p:nvSpPr>
        <p:spPr>
          <a:xfrm>
            <a:off x="2249424" y="953262"/>
            <a:ext cx="82296" cy="82296"/>
          </a:xfrm>
          <a:prstGeom prst="ellipse">
            <a:avLst/>
          </a:prstGeom>
          <a:solidFill>
            <a:srgbClr val="14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_8_ID 1"/>
          <p:cNvSpPr txBox="1"/>
          <p:nvPr/>
        </p:nvSpPr>
        <p:spPr>
          <a:xfrm>
            <a:off x="2386584" y="906628"/>
            <a:ext cx="333899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72D3D"/>
                </a:solidFill>
                <a:latin typeface="Arial"/>
              </a:rPr>
              <a:t>ID 1</a:t>
            </a:r>
          </a:p>
        </p:txBody>
      </p:sp>
      <p:sp>
        <p:nvSpPr>
          <p:cNvPr id="15" name="Identity_color_4"/>
          <p:cNvSpPr/>
          <p:nvPr/>
        </p:nvSpPr>
        <p:spPr>
          <a:xfrm>
            <a:off x="2866644" y="953262"/>
            <a:ext cx="82296" cy="82296"/>
          </a:xfrm>
          <a:prstGeom prst="ellipse">
            <a:avLst/>
          </a:prstGeom>
          <a:solidFill>
            <a:srgbClr val="85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_9_ID 2"/>
          <p:cNvSpPr txBox="1"/>
          <p:nvPr/>
        </p:nvSpPr>
        <p:spPr>
          <a:xfrm>
            <a:off x="3003804" y="906628"/>
            <a:ext cx="333899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72D3D"/>
                </a:solidFill>
                <a:latin typeface="Arial"/>
              </a:rPr>
              <a:t>ID 2</a:t>
            </a:r>
          </a:p>
        </p:txBody>
      </p:sp>
      <p:pic>
        <p:nvPicPr>
          <p:cNvPr id="17" name="Picture_1_assets/egohumans/renders/world_a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33" y="1076706"/>
            <a:ext cx="7896785" cy="2983230"/>
          </a:xfrm>
          <a:prstGeom prst="rect">
            <a:avLst/>
          </a:prstGeom>
          <a:effectLst/>
        </p:spPr>
      </p:pic>
      <p:sp>
        <p:nvSpPr>
          <p:cNvPr id="18" name="Text_10_Faint meshes: earlier poses"/>
          <p:cNvSpPr txBox="1"/>
          <p:nvPr/>
        </p:nvSpPr>
        <p:spPr>
          <a:xfrm>
            <a:off x="253746" y="3821278"/>
            <a:ext cx="1767328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Faint meshes: earlier poses</a:t>
            </a:r>
          </a:p>
        </p:txBody>
      </p:sp>
      <p:cxnSp>
        <p:nvCxnSpPr>
          <p:cNvPr id="19" name="Line_or_arrow_3"/>
          <p:cNvCxnSpPr/>
          <p:nvPr/>
        </p:nvCxnSpPr>
        <p:spPr>
          <a:xfrm>
            <a:off x="8209026" y="754380"/>
            <a:ext cx="0" cy="3188970"/>
          </a:xfrm>
          <a:prstGeom prst="line">
            <a:avLst/>
          </a:prstGeom>
          <a:ln w="6858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_11_Across a 177° viewpoint change"/>
          <p:cNvSpPr txBox="1"/>
          <p:nvPr/>
        </p:nvSpPr>
        <p:spPr>
          <a:xfrm>
            <a:off x="8921811" y="668244"/>
            <a:ext cx="2606935" cy="2468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172D3D"/>
                </a:solidFill>
                <a:latin typeface="Arial"/>
              </a:rPr>
              <a:t>Across a 177° viewpoint change</a:t>
            </a:r>
          </a:p>
        </p:txBody>
      </p:sp>
      <p:sp>
        <p:nvSpPr>
          <p:cNvPr id="21" name="Text_12_Same world, same viewing angle"/>
          <p:cNvSpPr txBox="1"/>
          <p:nvPr/>
        </p:nvSpPr>
        <p:spPr>
          <a:xfrm>
            <a:off x="9181456" y="899770"/>
            <a:ext cx="2087645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Same world, same viewing angle</a:t>
            </a:r>
          </a:p>
        </p:txBody>
      </p:sp>
      <p:sp>
        <p:nvSpPr>
          <p:cNvPr id="22" name="Panel_5"/>
          <p:cNvSpPr/>
          <p:nvPr/>
        </p:nvSpPr>
        <p:spPr>
          <a:xfrm>
            <a:off x="8346186" y="1200150"/>
            <a:ext cx="1824228" cy="2187702"/>
          </a:xfrm>
          <a:prstGeom prst="roundRect">
            <a:avLst>
              <a:gd name="adj" fmla="val 3007"/>
            </a:avLst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nel_6"/>
          <p:cNvSpPr/>
          <p:nvPr/>
        </p:nvSpPr>
        <p:spPr>
          <a:xfrm>
            <a:off x="8428482" y="1282446"/>
            <a:ext cx="1659636" cy="20574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_13_Before the cut"/>
          <p:cNvSpPr txBox="1"/>
          <p:nvPr/>
        </p:nvSpPr>
        <p:spPr>
          <a:xfrm>
            <a:off x="8756005" y="1366114"/>
            <a:ext cx="1004590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371CA"/>
                </a:solidFill>
                <a:latin typeface="Arial"/>
              </a:rPr>
              <a:t>Before the cut</a:t>
            </a:r>
          </a:p>
        </p:txBody>
      </p:sp>
      <p:pic>
        <p:nvPicPr>
          <p:cNvPr id="25" name="Picture_2_assets/egohumans/renders/f042_transparent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35633"/>
            <a:ext cx="1783080" cy="1426464"/>
          </a:xfrm>
          <a:prstGeom prst="rect">
            <a:avLst/>
          </a:prstGeom>
          <a:effectLst/>
        </p:spPr>
      </p:pic>
      <p:sp>
        <p:nvSpPr>
          <p:cNvPr id="26" name="Text_14_2.10 s · f042"/>
          <p:cNvSpPr txBox="1"/>
          <p:nvPr/>
        </p:nvSpPr>
        <p:spPr>
          <a:xfrm>
            <a:off x="8835836" y="3149194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2.10 s · f042</a:t>
            </a:r>
          </a:p>
        </p:txBody>
      </p:sp>
      <p:sp>
        <p:nvSpPr>
          <p:cNvPr id="27" name="Panel_7"/>
          <p:cNvSpPr/>
          <p:nvPr/>
        </p:nvSpPr>
        <p:spPr>
          <a:xfrm>
            <a:off x="10307574" y="1200150"/>
            <a:ext cx="1824228" cy="2187702"/>
          </a:xfrm>
          <a:prstGeom prst="roundRect">
            <a:avLst>
              <a:gd name="adj" fmla="val 3007"/>
            </a:avLst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nel_8"/>
          <p:cNvSpPr/>
          <p:nvPr/>
        </p:nvSpPr>
        <p:spPr>
          <a:xfrm>
            <a:off x="10389870" y="1282446"/>
            <a:ext cx="1659636" cy="20574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_15_After the cut"/>
          <p:cNvSpPr txBox="1"/>
          <p:nvPr/>
        </p:nvSpPr>
        <p:spPr>
          <a:xfrm>
            <a:off x="10774601" y="1366114"/>
            <a:ext cx="890174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F9525"/>
                </a:solidFill>
                <a:latin typeface="Arial"/>
              </a:rPr>
              <a:t>After the cut</a:t>
            </a:r>
          </a:p>
        </p:txBody>
      </p:sp>
      <p:pic>
        <p:nvPicPr>
          <p:cNvPr id="30" name="Picture_3_assets/egohumans/renders/f050_transparent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8148" y="1635633"/>
            <a:ext cx="1783080" cy="1426464"/>
          </a:xfrm>
          <a:prstGeom prst="rect">
            <a:avLst/>
          </a:prstGeom>
          <a:effectLst/>
        </p:spPr>
      </p:pic>
      <p:sp>
        <p:nvSpPr>
          <p:cNvPr id="31" name="Text_16_2.50 s · f050"/>
          <p:cNvSpPr txBox="1"/>
          <p:nvPr/>
        </p:nvSpPr>
        <p:spPr>
          <a:xfrm>
            <a:off x="10797224" y="3149194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2.50 s · f050</a:t>
            </a:r>
          </a:p>
        </p:txBody>
      </p:sp>
      <p:cxnSp>
        <p:nvCxnSpPr>
          <p:cNvPr id="32" name="Line_or_arrow_4"/>
          <p:cNvCxnSpPr/>
          <p:nvPr/>
        </p:nvCxnSpPr>
        <p:spPr>
          <a:xfrm>
            <a:off x="10129266" y="2276856"/>
            <a:ext cx="116586" cy="0"/>
          </a:xfrm>
          <a:prstGeom prst="line">
            <a:avLst/>
          </a:prstGeom>
          <a:ln w="10972">
            <a:solidFill>
              <a:srgbClr val="65768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_17_Persistent person IDs"/>
          <p:cNvSpPr txBox="1"/>
          <p:nvPr/>
        </p:nvSpPr>
        <p:spPr>
          <a:xfrm>
            <a:off x="9448561" y="3561085"/>
            <a:ext cx="1567149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4" b="1">
                <a:solidFill>
                  <a:srgbClr val="14A6A0"/>
                </a:solidFill>
                <a:latin typeface="Arial"/>
              </a:rPr>
              <a:t>Persistent person IDs</a:t>
            </a:r>
          </a:p>
        </p:txBody>
      </p:sp>
      <p:sp>
        <p:nvSpPr>
          <p:cNvPr id="34" name="Text_18_Shared world coordinates"/>
          <p:cNvSpPr txBox="1"/>
          <p:nvPr/>
        </p:nvSpPr>
        <p:spPr>
          <a:xfrm>
            <a:off x="9413181" y="3766414"/>
            <a:ext cx="1637910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Shared world coordinates</a:t>
            </a:r>
          </a:p>
        </p:txBody>
      </p:sp>
      <p:sp>
        <p:nvSpPr>
          <p:cNvPr id="35" name="Text_19_Monocular input stream"/>
          <p:cNvSpPr txBox="1"/>
          <p:nvPr/>
        </p:nvSpPr>
        <p:spPr>
          <a:xfrm>
            <a:off x="205740" y="4103690"/>
            <a:ext cx="1882596" cy="23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2" b="1">
                <a:solidFill>
                  <a:srgbClr val="172D3D"/>
                </a:solidFill>
                <a:latin typeface="Arial"/>
              </a:rPr>
              <a:t>Monocular input stream</a:t>
            </a:r>
          </a:p>
        </p:txBody>
      </p:sp>
      <p:sp>
        <p:nvSpPr>
          <p:cNvPr id="36" name="Text_20_Sampled frames; time increases left to right"/>
          <p:cNvSpPr txBox="1"/>
          <p:nvPr/>
        </p:nvSpPr>
        <p:spPr>
          <a:xfrm>
            <a:off x="9418338" y="4123030"/>
            <a:ext cx="2720322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Sampled frames; time increases left to right</a:t>
            </a:r>
          </a:p>
        </p:txBody>
      </p:sp>
      <p:sp>
        <p:nvSpPr>
          <p:cNvPr id="37" name="Panel_9"/>
          <p:cNvSpPr/>
          <p:nvPr/>
        </p:nvSpPr>
        <p:spPr>
          <a:xfrm>
            <a:off x="205740" y="4457700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_4_assets/egohumans/rgb/f015.jpg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02" y="4485132"/>
            <a:ext cx="1907285" cy="1073706"/>
          </a:xfrm>
          <a:prstGeom prst="rect">
            <a:avLst/>
          </a:prstGeom>
          <a:effectLst/>
        </p:spPr>
      </p:pic>
      <p:sp>
        <p:nvSpPr>
          <p:cNvPr id="39" name="Panel_10"/>
          <p:cNvSpPr/>
          <p:nvPr/>
        </p:nvSpPr>
        <p:spPr>
          <a:xfrm>
            <a:off x="205740" y="4457700"/>
            <a:ext cx="1908810" cy="20574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_21_0.75 s · f015"/>
          <p:cNvSpPr txBox="1"/>
          <p:nvPr/>
        </p:nvSpPr>
        <p:spPr>
          <a:xfrm>
            <a:off x="737681" y="5608215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0.75 s · f015</a:t>
            </a:r>
          </a:p>
        </p:txBody>
      </p:sp>
      <p:sp>
        <p:nvSpPr>
          <p:cNvPr id="41" name="Panel_11"/>
          <p:cNvSpPr/>
          <p:nvPr/>
        </p:nvSpPr>
        <p:spPr>
          <a:xfrm>
            <a:off x="2210562" y="4457700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_5_assets/egohumans/rgb/f032.jpg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1324" y="4485132"/>
            <a:ext cx="1907285" cy="1073706"/>
          </a:xfrm>
          <a:prstGeom prst="rect">
            <a:avLst/>
          </a:prstGeom>
          <a:effectLst/>
        </p:spPr>
      </p:pic>
      <p:sp>
        <p:nvSpPr>
          <p:cNvPr id="43" name="Panel_12"/>
          <p:cNvSpPr/>
          <p:nvPr/>
        </p:nvSpPr>
        <p:spPr>
          <a:xfrm>
            <a:off x="2210562" y="4457700"/>
            <a:ext cx="1908810" cy="20574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_22_1.60 s · f032"/>
          <p:cNvSpPr txBox="1"/>
          <p:nvPr/>
        </p:nvSpPr>
        <p:spPr>
          <a:xfrm>
            <a:off x="2742503" y="5608215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1.60 s · f032</a:t>
            </a:r>
          </a:p>
        </p:txBody>
      </p:sp>
      <p:sp>
        <p:nvSpPr>
          <p:cNvPr id="45" name="Panel_13"/>
          <p:cNvSpPr/>
          <p:nvPr/>
        </p:nvSpPr>
        <p:spPr>
          <a:xfrm>
            <a:off x="4215384" y="4457700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_6_assets/egohumans/rgb/f042.jpg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6146" y="4485132"/>
            <a:ext cx="1907285" cy="1073706"/>
          </a:xfrm>
          <a:prstGeom prst="rect">
            <a:avLst/>
          </a:prstGeom>
          <a:effectLst/>
        </p:spPr>
      </p:pic>
      <p:sp>
        <p:nvSpPr>
          <p:cNvPr id="47" name="Panel_14"/>
          <p:cNvSpPr/>
          <p:nvPr/>
        </p:nvSpPr>
        <p:spPr>
          <a:xfrm>
            <a:off x="4215384" y="4457700"/>
            <a:ext cx="1908810" cy="20574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_23_2.10 s · f042"/>
          <p:cNvSpPr txBox="1"/>
          <p:nvPr/>
        </p:nvSpPr>
        <p:spPr>
          <a:xfrm>
            <a:off x="4747325" y="5608215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2.10 s · f042</a:t>
            </a:r>
          </a:p>
        </p:txBody>
      </p:sp>
      <p:sp>
        <p:nvSpPr>
          <p:cNvPr id="49" name="Panel_15"/>
          <p:cNvSpPr/>
          <p:nvPr/>
        </p:nvSpPr>
        <p:spPr>
          <a:xfrm>
            <a:off x="6220206" y="4457700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_7_assets/egohumans/rgb/f050.jpg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0968" y="4485132"/>
            <a:ext cx="1907285" cy="1073706"/>
          </a:xfrm>
          <a:prstGeom prst="rect">
            <a:avLst/>
          </a:prstGeom>
          <a:effectLst/>
        </p:spPr>
      </p:pic>
      <p:sp>
        <p:nvSpPr>
          <p:cNvPr id="51" name="Panel_16"/>
          <p:cNvSpPr/>
          <p:nvPr/>
        </p:nvSpPr>
        <p:spPr>
          <a:xfrm>
            <a:off x="6220206" y="4457700"/>
            <a:ext cx="1908810" cy="20574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_24_2.50 s · f050"/>
          <p:cNvSpPr txBox="1"/>
          <p:nvPr/>
        </p:nvSpPr>
        <p:spPr>
          <a:xfrm>
            <a:off x="6752147" y="5608215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2.50 s · f050</a:t>
            </a:r>
          </a:p>
        </p:txBody>
      </p:sp>
      <p:sp>
        <p:nvSpPr>
          <p:cNvPr id="53" name="Panel_17"/>
          <p:cNvSpPr/>
          <p:nvPr/>
        </p:nvSpPr>
        <p:spPr>
          <a:xfrm>
            <a:off x="8225028" y="4457700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_8_assets/egohumans/rgb/f061.jpg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5790" y="4485132"/>
            <a:ext cx="1907285" cy="1073706"/>
          </a:xfrm>
          <a:prstGeom prst="rect">
            <a:avLst/>
          </a:prstGeom>
          <a:effectLst/>
        </p:spPr>
      </p:pic>
      <p:sp>
        <p:nvSpPr>
          <p:cNvPr id="55" name="Panel_18"/>
          <p:cNvSpPr/>
          <p:nvPr/>
        </p:nvSpPr>
        <p:spPr>
          <a:xfrm>
            <a:off x="8225028" y="4457700"/>
            <a:ext cx="1908810" cy="20574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_25_3.05 s · f061"/>
          <p:cNvSpPr txBox="1"/>
          <p:nvPr/>
        </p:nvSpPr>
        <p:spPr>
          <a:xfrm>
            <a:off x="8756969" y="5608215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3.05 s · f061</a:t>
            </a:r>
          </a:p>
        </p:txBody>
      </p:sp>
      <p:sp>
        <p:nvSpPr>
          <p:cNvPr id="57" name="Panel_19"/>
          <p:cNvSpPr/>
          <p:nvPr/>
        </p:nvSpPr>
        <p:spPr>
          <a:xfrm>
            <a:off x="10229850" y="4457700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_9_assets/egohumans/rgb/f074.jpg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0612" y="4485132"/>
            <a:ext cx="1907285" cy="1073706"/>
          </a:xfrm>
          <a:prstGeom prst="rect">
            <a:avLst/>
          </a:prstGeom>
          <a:effectLst/>
        </p:spPr>
      </p:pic>
      <p:sp>
        <p:nvSpPr>
          <p:cNvPr id="59" name="Panel_20"/>
          <p:cNvSpPr/>
          <p:nvPr/>
        </p:nvSpPr>
        <p:spPr>
          <a:xfrm>
            <a:off x="10229850" y="4457700"/>
            <a:ext cx="1908810" cy="20574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_26_3.70 s · f074"/>
          <p:cNvSpPr txBox="1"/>
          <p:nvPr/>
        </p:nvSpPr>
        <p:spPr>
          <a:xfrm>
            <a:off x="10761791" y="5608215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3.70 s · f074</a:t>
            </a:r>
          </a:p>
        </p:txBody>
      </p:sp>
      <p:cxnSp>
        <p:nvCxnSpPr>
          <p:cNvPr id="61" name="Line_or_arrow_5"/>
          <p:cNvCxnSpPr/>
          <p:nvPr/>
        </p:nvCxnSpPr>
        <p:spPr>
          <a:xfrm>
            <a:off x="6172200" y="4389120"/>
            <a:ext cx="0" cy="1392174"/>
          </a:xfrm>
          <a:prstGeom prst="line">
            <a:avLst/>
          </a:prstGeom>
          <a:ln w="10287">
            <a:solidFill>
              <a:srgbClr val="DF952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anel_21"/>
          <p:cNvSpPr/>
          <p:nvPr/>
        </p:nvSpPr>
        <p:spPr>
          <a:xfrm>
            <a:off x="5692140" y="4327398"/>
            <a:ext cx="960120" cy="1783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_27_Shot cut · 177°"/>
          <p:cNvSpPr txBox="1"/>
          <p:nvPr/>
        </p:nvSpPr>
        <p:spPr>
          <a:xfrm>
            <a:off x="5653899" y="4328770"/>
            <a:ext cx="1036603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F9525"/>
                </a:solidFill>
                <a:latin typeface="Arial"/>
              </a:rPr>
              <a:t>Shot cut · 177°</a:t>
            </a:r>
          </a:p>
        </p:txBody>
      </p:sp>
      <p:cxnSp>
        <p:nvCxnSpPr>
          <p:cNvPr id="64" name="Line_or_arrow_6"/>
          <p:cNvCxnSpPr/>
          <p:nvPr/>
        </p:nvCxnSpPr>
        <p:spPr>
          <a:xfrm>
            <a:off x="205740" y="5808726"/>
            <a:ext cx="5740146" cy="0"/>
          </a:xfrm>
          <a:prstGeom prst="line">
            <a:avLst/>
          </a:prstGeom>
          <a:ln w="13716">
            <a:solidFill>
              <a:srgbClr val="3371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Line_or_arrow_7"/>
          <p:cNvCxnSpPr/>
          <p:nvPr/>
        </p:nvCxnSpPr>
        <p:spPr>
          <a:xfrm>
            <a:off x="6398514" y="5808726"/>
            <a:ext cx="5740146" cy="0"/>
          </a:xfrm>
          <a:prstGeom prst="line">
            <a:avLst/>
          </a:prstGeom>
          <a:ln w="13716">
            <a:solidFill>
              <a:srgbClr val="DF952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_28_Shot 1"/>
          <p:cNvSpPr txBox="1"/>
          <p:nvPr/>
        </p:nvSpPr>
        <p:spPr>
          <a:xfrm>
            <a:off x="2814794" y="5851246"/>
            <a:ext cx="501464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3371CA"/>
                </a:solidFill>
                <a:latin typeface="Arial"/>
              </a:rPr>
              <a:t>Shot 1</a:t>
            </a:r>
          </a:p>
        </p:txBody>
      </p:sp>
      <p:sp>
        <p:nvSpPr>
          <p:cNvPr id="67" name="Text_29_Shot 2"/>
          <p:cNvSpPr txBox="1"/>
          <p:nvPr/>
        </p:nvSpPr>
        <p:spPr>
          <a:xfrm>
            <a:off x="9035000" y="5851246"/>
            <a:ext cx="501464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F9525"/>
                </a:solidFill>
                <a:latin typeface="Arial"/>
              </a:rPr>
              <a:t>Shot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Shot3R 可编辑 teaser：真实结果</dc:title>
  <dc:subject>Editable text, vector annotations, and independently replaceable raster assets</dc:subject>
  <dc:creator>Shot3R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