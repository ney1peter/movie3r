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source RGB: cam03 251/261/271; cam06 281/291/301; cam04 311/321/331. Center: four real times 251/261/311/331 from the prior 0-to-177-degree BRIDGE3R inference. Historical alpha 0.20/0.32/0.48, final 1.0. Camera symbols schematic. See README and render_settings.json.</a:t>
            </a:r>
          </a:p>
          <a:p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/>
          <a:p>
            <a:r>
              <a:t/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notesSlide" Target="../notesSlides/notesSlide1.xml"/><Relationship Id="rIdRefined0" Type="http://schemas.openxmlformats.org/officeDocument/2006/relationships/image" Target="../media/refined_pointcloud_background.png"/><Relationship Id="rIdRefined1" Type="http://schemas.openxmlformats.org/officeDocument/2006/relationships/image" Target="../media/refined_person_id0_t251.png"/><Relationship Id="rIdRefined2" Type="http://schemas.openxmlformats.org/officeDocument/2006/relationships/image" Target="../media/refined_person_id1_t251.png"/><Relationship Id="rIdRefined3" Type="http://schemas.openxmlformats.org/officeDocument/2006/relationships/image" Target="../media/refined_person_id2_t251.png"/><Relationship Id="rIdRefined4" Type="http://schemas.openxmlformats.org/officeDocument/2006/relationships/image" Target="../media/refined_person_id0_t261.png"/><Relationship Id="rIdRefined5" Type="http://schemas.openxmlformats.org/officeDocument/2006/relationships/image" Target="../media/refined_person_id1_t261.png"/><Relationship Id="rIdRefined6" Type="http://schemas.openxmlformats.org/officeDocument/2006/relationships/image" Target="../media/refined_person_id2_t261.png"/><Relationship Id="rIdRefined7" Type="http://schemas.openxmlformats.org/officeDocument/2006/relationships/image" Target="../media/refined_person_id0_t311.png"/><Relationship Id="rIdRefined8" Type="http://schemas.openxmlformats.org/officeDocument/2006/relationships/image" Target="../media/refined_person_id1_t311.png"/><Relationship Id="rIdRefined9" Type="http://schemas.openxmlformats.org/officeDocument/2006/relationships/image" Target="../media/refined_person_id2_t311.png"/><Relationship Id="rIdRefined10" Type="http://schemas.openxmlformats.org/officeDocument/2006/relationships/image" Target="../media/refined_person_id0_t331.png"/><Relationship Id="rIdRefined11" Type="http://schemas.openxmlformats.org/officeDocument/2006/relationships/image" Target="../media/refined_person_id1_t331.png"/><Relationship Id="rIdRefined12" Type="http://schemas.openxmlformats.org/officeDocument/2006/relationships/image" Target="../media/refined_person_id2_t3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01 Header — editable title and logo"/>
          <p:cNvGrpSpPr/>
          <p:nvPr/>
        </p:nvGrpSpPr>
        <p:grpSpPr>
          <a:xfrm>
            <a:off x="2834640" y="36576"/>
            <a:ext cx="11887200" cy="493776"/>
            <a:chOff x="2834640" y="36576"/>
            <a:chExt cx="11887200" cy="493776"/>
          </a:xfrm>
        </p:grpSpPr>
        <p:sp>
          <p:nvSpPr>
            <p:cNvPr id="3" name="logo-SH"/>
            <p:cNvSpPr txBox="1"/>
            <p:nvPr/>
          </p:nvSpPr>
          <p:spPr>
            <a:xfrm>
              <a:off x="2834640" y="36576"/>
              <a:ext cx="704088" cy="4937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4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87" b="1">
                  <a:solidFill>
                    <a:srgbClr val="103C8C"/>
                  </a:solidFill>
                  <a:latin typeface="Arial"/>
                </a:rPr>
                <a:t>SH</a:t>
              </a:r>
            </a:p>
          </p:txBody>
        </p:sp>
        <p:sp>
          <p:nvSpPr>
            <p:cNvPr id="4" name="logo-aperture"/>
            <p:cNvSpPr/>
            <p:nvPr/>
          </p:nvSpPr>
          <p:spPr>
            <a:xfrm>
              <a:off x="3547872" y="109728"/>
              <a:ext cx="365760" cy="365760"/>
            </a:xfrm>
            <a:prstGeom prst="ellipse">
              <a:avLst/>
            </a:prstGeom>
            <a:solidFill>
              <a:srgbClr val="10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ogo-aperture-center"/>
            <p:cNvSpPr/>
            <p:nvPr/>
          </p:nvSpPr>
          <p:spPr>
            <a:xfrm>
              <a:off x="3666744" y="219456"/>
              <a:ext cx="128016" cy="146304"/>
            </a:xfrm>
            <a:custGeom>
              <a:avLst/>
              <a:gdLst/>
              <a:ahLst/>
              <a:cxnLst/>
              <a:rect l="l" t="t" r="r" b="b"/>
              <a:pathLst>
                <a:path w="14" h="16">
                  <a:moveTo>
                    <a:pt x="14" y="12"/>
                  </a:moveTo>
                  <a:lnTo>
                    <a:pt x="7" y="16"/>
                  </a:lnTo>
                  <a:lnTo>
                    <a:pt x="0" y="12"/>
                  </a:lnTo>
                  <a:lnTo>
                    <a:pt x="0" y="4"/>
                  </a:lnTo>
                  <a:lnTo>
                    <a:pt x="7" y="0"/>
                  </a:lnTo>
                  <a:lnTo>
                    <a:pt x="14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logo-aperture-blade-1"/>
            <p:cNvCxnSpPr/>
            <p:nvPr/>
          </p:nvCxnSpPr>
          <p:spPr>
            <a:xfrm>
              <a:off x="3791728" y="327812"/>
              <a:ext cx="25892" cy="115256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logo-aperture-blade-2"/>
            <p:cNvCxnSpPr/>
            <p:nvPr/>
          </p:nvCxnSpPr>
          <p:spPr>
            <a:xfrm flipH="1">
              <a:off x="3643884" y="363017"/>
              <a:ext cx="86868" cy="80051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ogo-aperture-blade-3"/>
            <p:cNvCxnSpPr/>
            <p:nvPr/>
          </p:nvCxnSpPr>
          <p:spPr>
            <a:xfrm flipH="1" flipV="1">
              <a:off x="3557016" y="292608"/>
              <a:ext cx="112760" cy="35204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ogo-aperture-blade-4"/>
            <p:cNvCxnSpPr/>
            <p:nvPr/>
          </p:nvCxnSpPr>
          <p:spPr>
            <a:xfrm flipH="1" flipV="1">
              <a:off x="3643884" y="142148"/>
              <a:ext cx="25892" cy="115256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logo-aperture-blade-5"/>
            <p:cNvCxnSpPr/>
            <p:nvPr/>
          </p:nvCxnSpPr>
          <p:spPr>
            <a:xfrm flipV="1">
              <a:off x="3730752" y="142148"/>
              <a:ext cx="86868" cy="80051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ogo-aperture-blade-6"/>
            <p:cNvCxnSpPr/>
            <p:nvPr/>
          </p:nvCxnSpPr>
          <p:spPr>
            <a:xfrm>
              <a:off x="3791728" y="257404"/>
              <a:ext cx="112760" cy="35204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logo-T3R"/>
            <p:cNvSpPr txBox="1"/>
            <p:nvPr/>
          </p:nvSpPr>
          <p:spPr>
            <a:xfrm>
              <a:off x="3913632" y="36576"/>
              <a:ext cx="923544" cy="4937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4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87" b="1">
                  <a:solidFill>
                    <a:srgbClr val="103C8C"/>
                  </a:solidFill>
                  <a:latin typeface="Arial"/>
                </a:rPr>
                <a:t>T3R</a:t>
              </a:r>
            </a:p>
          </p:txBody>
        </p:sp>
        <p:cxnSp>
          <p:nvCxnSpPr>
            <p:cNvPr id="13" name="title-divider"/>
            <p:cNvCxnSpPr/>
            <p:nvPr/>
          </p:nvCxnSpPr>
          <p:spPr>
            <a:xfrm>
              <a:off x="4974336" y="100584"/>
              <a:ext cx="0" cy="365760"/>
            </a:xfrm>
            <a:prstGeom prst="line">
              <a:avLst/>
            </a:prstGeom>
            <a:ln w="18288" cap="rnd">
              <a:solidFill>
                <a:srgbClr val="103C8C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aper-subtitle"/>
            <p:cNvSpPr txBox="1"/>
            <p:nvPr/>
          </p:nvSpPr>
          <p:spPr>
            <a:xfrm>
              <a:off x="5166360" y="82296"/>
              <a:ext cx="9555480" cy="3931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>
                  <a:solidFill>
                    <a:srgbClr val="1517EC"/>
                  </a:solidFill>
                  <a:latin typeface="Arial Narrow"/>
                </a:rPr>
                <a:t>Streaming Multi-Shot 4D Human-Scene Reconstruction from Monocular Video</a:t>
              </a:r>
            </a:p>
          </p:txBody>
        </p:sp>
      </p:grpSp>
      <p:grpSp>
        <p:nvGrpSpPr>
          <p:cNvPr id="15" name="02 Top shots — original frame 2 from each supplied row"/>
          <p:cNvGrpSpPr/>
          <p:nvPr/>
        </p:nvGrpSpPr>
        <p:grpSpPr>
          <a:xfrm>
            <a:off x="320040" y="630936"/>
            <a:ext cx="14538960" cy="2167128"/>
            <a:chOff x="320040" y="630936"/>
            <a:chExt cx="14538960" cy="2167128"/>
          </a:xfrm>
        </p:grpSpPr>
        <p:grpSp>
          <p:nvGrpSpPr>
            <p:cNvPr id="16" name="Top Shot 1"/>
            <p:cNvGrpSpPr/>
            <p:nvPr/>
          </p:nvGrpSpPr>
          <p:grpSpPr>
            <a:xfrm>
              <a:off x="320040" y="630936"/>
              <a:ext cx="4160520" cy="2167128"/>
              <a:chOff x="320040" y="630936"/>
              <a:chExt cx="4160520" cy="2167128"/>
            </a:xfrm>
          </p:grpSpPr>
          <p:pic>
            <p:nvPicPr>
              <p:cNvPr id="17" name="top-shot-1-original-frame-2" descr="shot_1_frame_2.png"/>
              <p:cNvPicPr>
                <a:picLocks noChangeAspect="1"/>
              </p:cNvPicPr>
              <p:nvPr/>
            </p:nvPicPr>
            <p:blipFill>
              <a:blip r:embed="rId2"/>
              <a:srcRect t="3700" b="3700"/>
              <a:stretch>
                <a:fillRect/>
              </a:stretch>
            </p:blipFill>
            <p:spPr>
              <a:xfrm>
                <a:off x="320040" y="630936"/>
                <a:ext cx="416052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18" name="top-shot-1-tag"/>
              <p:cNvSpPr/>
              <p:nvPr/>
            </p:nvSpPr>
            <p:spPr>
              <a:xfrm>
                <a:off x="320040" y="630936"/>
                <a:ext cx="134416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CEE6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top-shot-1-label"/>
              <p:cNvSpPr txBox="1"/>
              <p:nvPr/>
            </p:nvSpPr>
            <p:spPr>
              <a:xfrm>
                <a:off x="411480" y="640080"/>
                <a:ext cx="1179576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1 · 0°</a:t>
                </a:r>
              </a:p>
            </p:txBody>
          </p:sp>
        </p:grpSp>
        <p:grpSp>
          <p:nvGrpSpPr>
            <p:cNvPr id="20" name="Top Shot 2"/>
            <p:cNvGrpSpPr/>
            <p:nvPr/>
          </p:nvGrpSpPr>
          <p:grpSpPr>
            <a:xfrm>
              <a:off x="5577840" y="630936"/>
              <a:ext cx="4023360" cy="2167128"/>
              <a:chOff x="5577840" y="630936"/>
              <a:chExt cx="4023360" cy="2167128"/>
            </a:xfrm>
          </p:grpSpPr>
          <p:pic>
            <p:nvPicPr>
              <p:cNvPr id="21" name="top-shot-2-original-frame-2" descr="shot_2_frame_2.png"/>
              <p:cNvPicPr>
                <a:picLocks noChangeAspect="1"/>
              </p:cNvPicPr>
              <p:nvPr/>
            </p:nvPicPr>
            <p:blipFill>
              <a:blip r:embed="rId3"/>
              <a:srcRect t="2121" b="2121"/>
              <a:stretch>
                <a:fillRect/>
              </a:stretch>
            </p:blipFill>
            <p:spPr>
              <a:xfrm>
                <a:off x="5577840" y="630936"/>
                <a:ext cx="402336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22" name="top-shot-2-tag"/>
              <p:cNvSpPr/>
              <p:nvPr/>
            </p:nvSpPr>
            <p:spPr>
              <a:xfrm>
                <a:off x="5577840" y="630936"/>
                <a:ext cx="134416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FFEBD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top-shot-2-label"/>
              <p:cNvSpPr txBox="1"/>
              <p:nvPr/>
            </p:nvSpPr>
            <p:spPr>
              <a:xfrm>
                <a:off x="5669280" y="640080"/>
                <a:ext cx="1179576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2 · 99°</a:t>
                </a:r>
              </a:p>
            </p:txBody>
          </p:sp>
        </p:grpSp>
        <p:grpSp>
          <p:nvGrpSpPr>
            <p:cNvPr id="24" name="Top Shot 3"/>
            <p:cNvGrpSpPr/>
            <p:nvPr/>
          </p:nvGrpSpPr>
          <p:grpSpPr>
            <a:xfrm>
              <a:off x="10698480" y="630936"/>
              <a:ext cx="4160520" cy="2167128"/>
              <a:chOff x="10698480" y="630936"/>
              <a:chExt cx="4160520" cy="2167128"/>
            </a:xfrm>
          </p:grpSpPr>
          <p:pic>
            <p:nvPicPr>
              <p:cNvPr id="25" name="top-shot-3-original-frame-2" descr="shot_3_frame_2.png"/>
              <p:cNvPicPr>
                <a:picLocks noChangeAspect="1"/>
              </p:cNvPicPr>
              <p:nvPr/>
            </p:nvPicPr>
            <p:blipFill>
              <a:blip r:embed="rId4"/>
              <a:srcRect t="3700" b="3700"/>
              <a:stretch>
                <a:fillRect/>
              </a:stretch>
            </p:blipFill>
            <p:spPr>
              <a:xfrm>
                <a:off x="10698480" y="630936"/>
                <a:ext cx="416052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26" name="top-shot-3-tag"/>
              <p:cNvSpPr/>
              <p:nvPr/>
            </p:nvSpPr>
            <p:spPr>
              <a:xfrm>
                <a:off x="10698480" y="630936"/>
                <a:ext cx="152704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FFDEE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top-shot-3-label"/>
              <p:cNvSpPr txBox="1"/>
              <p:nvPr/>
            </p:nvSpPr>
            <p:spPr>
              <a:xfrm>
                <a:off x="10789920" y="640080"/>
                <a:ext cx="1380744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ED151B"/>
                    </a:solidFill>
                    <a:latin typeface="Arial Narrow"/>
                  </a:rPr>
                  <a:t>Shot 3 · 177°</a:t>
                </a:r>
              </a:p>
            </p:txBody>
          </p:sp>
        </p:grpSp>
        <p:grpSp>
          <p:nvGrpSpPr>
            <p:cNvPr id="28" name="Top cut 1"/>
            <p:cNvGrpSpPr/>
            <p:nvPr/>
          </p:nvGrpSpPr>
          <p:grpSpPr>
            <a:xfrm>
              <a:off x="4663440" y="1298448"/>
              <a:ext cx="877824" cy="731520"/>
              <a:chOff x="4663440" y="1298448"/>
              <a:chExt cx="877824" cy="731520"/>
            </a:xfrm>
          </p:grpSpPr>
          <p:sp>
            <p:nvSpPr>
              <p:cNvPr id="29" name="top-cut-1-curved-arrow"/>
              <p:cNvSpPr/>
              <p:nvPr/>
            </p:nvSpPr>
            <p:spPr>
              <a:xfrm>
                <a:off x="4663440" y="1298448"/>
                <a:ext cx="877824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">
                    <a:moveTo>
                      <a:pt x="0" y="18"/>
                    </a:moveTo>
                    <a:lnTo>
                      <a:pt x="3" y="16"/>
                    </a:lnTo>
                    <a:lnTo>
                      <a:pt x="6" y="13"/>
                    </a:lnTo>
                    <a:lnTo>
                      <a:pt x="9" y="11"/>
                    </a:lnTo>
                    <a:lnTo>
                      <a:pt x="12" y="9"/>
                    </a:lnTo>
                    <a:lnTo>
                      <a:pt x="16" y="7"/>
                    </a:lnTo>
                    <a:lnTo>
                      <a:pt x="19" y="6"/>
                    </a:lnTo>
                    <a:lnTo>
                      <a:pt x="22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2"/>
                    </a:lnTo>
                    <a:lnTo>
                      <a:pt x="34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7" y="2"/>
                    </a:lnTo>
                    <a:lnTo>
                      <a:pt x="60" y="3"/>
                    </a:lnTo>
                    <a:lnTo>
                      <a:pt x="63" y="4"/>
                    </a:lnTo>
                    <a:lnTo>
                      <a:pt x="66" y="5"/>
                    </a:lnTo>
                    <a:lnTo>
                      <a:pt x="70" y="7"/>
                    </a:lnTo>
                    <a:lnTo>
                      <a:pt x="73" y="8"/>
                    </a:lnTo>
                    <a:lnTo>
                      <a:pt x="76" y="10"/>
                    </a:lnTo>
                    <a:lnTo>
                      <a:pt x="80" y="0"/>
                    </a:lnTo>
                    <a:lnTo>
                      <a:pt x="96" y="23"/>
                    </a:lnTo>
                    <a:lnTo>
                      <a:pt x="66" y="19"/>
                    </a:lnTo>
                    <a:lnTo>
                      <a:pt x="73" y="14"/>
                    </a:lnTo>
                    <a:lnTo>
                      <a:pt x="73" y="14"/>
                    </a:lnTo>
                    <a:lnTo>
                      <a:pt x="70" y="13"/>
                    </a:lnTo>
                    <a:lnTo>
                      <a:pt x="66" y="11"/>
                    </a:lnTo>
                    <a:lnTo>
                      <a:pt x="63" y="10"/>
                    </a:lnTo>
                    <a:lnTo>
                      <a:pt x="60" y="9"/>
                    </a:lnTo>
                    <a:lnTo>
                      <a:pt x="57" y="8"/>
                    </a:lnTo>
                    <a:lnTo>
                      <a:pt x="53" y="7"/>
                    </a:lnTo>
                    <a:lnTo>
                      <a:pt x="50" y="7"/>
                    </a:lnTo>
                    <a:lnTo>
                      <a:pt x="47" y="6"/>
                    </a:lnTo>
                    <a:lnTo>
                      <a:pt x="44" y="6"/>
                    </a:lnTo>
                    <a:lnTo>
                      <a:pt x="41" y="6"/>
                    </a:lnTo>
                    <a:lnTo>
                      <a:pt x="38" y="6"/>
                    </a:lnTo>
                    <a:lnTo>
                      <a:pt x="34" y="7"/>
                    </a:lnTo>
                    <a:lnTo>
                      <a:pt x="31" y="8"/>
                    </a:lnTo>
                    <a:lnTo>
                      <a:pt x="28" y="8"/>
                    </a:lnTo>
                    <a:lnTo>
                      <a:pt x="25" y="9"/>
                    </a:lnTo>
                    <a:lnTo>
                      <a:pt x="22" y="11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2" y="15"/>
                    </a:lnTo>
                    <a:lnTo>
                      <a:pt x="9" y="17"/>
                    </a:lnTo>
                    <a:lnTo>
                      <a:pt x="6" y="19"/>
                    </a:lnTo>
                    <a:lnTo>
                      <a:pt x="3" y="2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op-cut-1-CUT-arrow"/>
              <p:cNvSpPr/>
              <p:nvPr/>
            </p:nvSpPr>
            <p:spPr>
              <a:xfrm>
                <a:off x="4709160" y="1627632"/>
                <a:ext cx="822960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90" h="44">
                    <a:moveTo>
                      <a:pt x="0" y="0"/>
                    </a:moveTo>
                    <a:lnTo>
                      <a:pt x="70" y="0"/>
                    </a:lnTo>
                    <a:lnTo>
                      <a:pt x="90" y="22"/>
                    </a:lnTo>
                    <a:lnTo>
                      <a:pt x="70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op-cut-1-CUT-text"/>
              <p:cNvSpPr txBox="1"/>
              <p:nvPr/>
            </p:nvSpPr>
            <p:spPr>
              <a:xfrm>
                <a:off x="4727448" y="1655064"/>
                <a:ext cx="603504" cy="34747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32" name="Top cut 2"/>
            <p:cNvGrpSpPr/>
            <p:nvPr/>
          </p:nvGrpSpPr>
          <p:grpSpPr>
            <a:xfrm>
              <a:off x="9710928" y="1298448"/>
              <a:ext cx="877824" cy="731520"/>
              <a:chOff x="9710928" y="1298448"/>
              <a:chExt cx="877824" cy="731520"/>
            </a:xfrm>
          </p:grpSpPr>
          <p:sp>
            <p:nvSpPr>
              <p:cNvPr id="33" name="top-cut-2-curved-arrow"/>
              <p:cNvSpPr/>
              <p:nvPr/>
            </p:nvSpPr>
            <p:spPr>
              <a:xfrm>
                <a:off x="9710928" y="1298448"/>
                <a:ext cx="877824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">
                    <a:moveTo>
                      <a:pt x="0" y="18"/>
                    </a:moveTo>
                    <a:lnTo>
                      <a:pt x="3" y="16"/>
                    </a:lnTo>
                    <a:lnTo>
                      <a:pt x="6" y="13"/>
                    </a:lnTo>
                    <a:lnTo>
                      <a:pt x="9" y="11"/>
                    </a:lnTo>
                    <a:lnTo>
                      <a:pt x="12" y="9"/>
                    </a:lnTo>
                    <a:lnTo>
                      <a:pt x="16" y="7"/>
                    </a:lnTo>
                    <a:lnTo>
                      <a:pt x="19" y="6"/>
                    </a:lnTo>
                    <a:lnTo>
                      <a:pt x="22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2"/>
                    </a:lnTo>
                    <a:lnTo>
                      <a:pt x="34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7" y="2"/>
                    </a:lnTo>
                    <a:lnTo>
                      <a:pt x="60" y="3"/>
                    </a:lnTo>
                    <a:lnTo>
                      <a:pt x="63" y="4"/>
                    </a:lnTo>
                    <a:lnTo>
                      <a:pt x="66" y="5"/>
                    </a:lnTo>
                    <a:lnTo>
                      <a:pt x="70" y="7"/>
                    </a:lnTo>
                    <a:lnTo>
                      <a:pt x="73" y="8"/>
                    </a:lnTo>
                    <a:lnTo>
                      <a:pt x="76" y="10"/>
                    </a:lnTo>
                    <a:lnTo>
                      <a:pt x="80" y="0"/>
                    </a:lnTo>
                    <a:lnTo>
                      <a:pt x="96" y="23"/>
                    </a:lnTo>
                    <a:lnTo>
                      <a:pt x="66" y="19"/>
                    </a:lnTo>
                    <a:lnTo>
                      <a:pt x="73" y="14"/>
                    </a:lnTo>
                    <a:lnTo>
                      <a:pt x="73" y="14"/>
                    </a:lnTo>
                    <a:lnTo>
                      <a:pt x="70" y="13"/>
                    </a:lnTo>
                    <a:lnTo>
                      <a:pt x="66" y="11"/>
                    </a:lnTo>
                    <a:lnTo>
                      <a:pt x="63" y="10"/>
                    </a:lnTo>
                    <a:lnTo>
                      <a:pt x="60" y="9"/>
                    </a:lnTo>
                    <a:lnTo>
                      <a:pt x="57" y="8"/>
                    </a:lnTo>
                    <a:lnTo>
                      <a:pt x="53" y="7"/>
                    </a:lnTo>
                    <a:lnTo>
                      <a:pt x="50" y="7"/>
                    </a:lnTo>
                    <a:lnTo>
                      <a:pt x="47" y="6"/>
                    </a:lnTo>
                    <a:lnTo>
                      <a:pt x="44" y="6"/>
                    </a:lnTo>
                    <a:lnTo>
                      <a:pt x="41" y="6"/>
                    </a:lnTo>
                    <a:lnTo>
                      <a:pt x="38" y="6"/>
                    </a:lnTo>
                    <a:lnTo>
                      <a:pt x="34" y="7"/>
                    </a:lnTo>
                    <a:lnTo>
                      <a:pt x="31" y="8"/>
                    </a:lnTo>
                    <a:lnTo>
                      <a:pt x="28" y="8"/>
                    </a:lnTo>
                    <a:lnTo>
                      <a:pt x="25" y="9"/>
                    </a:lnTo>
                    <a:lnTo>
                      <a:pt x="22" y="11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2" y="15"/>
                    </a:lnTo>
                    <a:lnTo>
                      <a:pt x="9" y="17"/>
                    </a:lnTo>
                    <a:lnTo>
                      <a:pt x="6" y="19"/>
                    </a:lnTo>
                    <a:lnTo>
                      <a:pt x="3" y="2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op-cut-2-CUT-arrow"/>
              <p:cNvSpPr/>
              <p:nvPr/>
            </p:nvSpPr>
            <p:spPr>
              <a:xfrm>
                <a:off x="9756648" y="1627632"/>
                <a:ext cx="822960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90" h="44">
                    <a:moveTo>
                      <a:pt x="0" y="0"/>
                    </a:moveTo>
                    <a:lnTo>
                      <a:pt x="70" y="0"/>
                    </a:lnTo>
                    <a:lnTo>
                      <a:pt x="90" y="22"/>
                    </a:lnTo>
                    <a:lnTo>
                      <a:pt x="70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top-cut-2-CUT-text"/>
              <p:cNvSpPr txBox="1"/>
              <p:nvPr/>
            </p:nvSpPr>
            <p:spPr>
              <a:xfrm>
                <a:off x="9774936" y="1655064"/>
                <a:ext cx="603504" cy="34747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</p:grpSp>
      <p:grpSp>
        <p:nvGrpSpPr>
          <p:cNvPr id="36" name="03 Reconstruction — separate raster layers, not 3D meshes"/>
          <p:cNvGrpSpPr/>
          <p:nvPr/>
        </p:nvGrpSpPr>
        <p:grpSpPr>
          <a:xfrm>
            <a:off x="1325880" y="2816352"/>
            <a:ext cx="11942064" cy="3941064"/>
            <a:chOff x="1325880" y="2816352"/>
            <a:chExt cx="11942064" cy="3941064"/>
          </a:xfrm>
        </p:grpSpPr>
        <p:pic>
          <p:nvPicPr>
            <p:cNvPr id="121" name="pointcloud_background" descr="pointcloud_background.png"/>
            <p:cNvPicPr>
              <a:picLocks noChangeAspect="1"/>
            </p:cNvPicPr>
            <p:nvPr/>
          </p:nvPicPr>
          <p:blipFill>
            <a:blip r:embed="rIdRefined0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2" name="person_id0_t251" descr="person_id0_t251.png"/>
            <p:cNvPicPr>
              <a:picLocks noChangeAspect="1"/>
            </p:cNvPicPr>
            <p:nvPr/>
          </p:nvPicPr>
          <p:blipFill>
            <a:blip r:embed="rIdRefined1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3" name="person_id1_t251" descr="person_id1_t251.png"/>
            <p:cNvPicPr>
              <a:picLocks noChangeAspect="1"/>
            </p:cNvPicPr>
            <p:nvPr/>
          </p:nvPicPr>
          <p:blipFill>
            <a:blip r:embed="rIdRefined2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4" name="person_id2_t251" descr="person_id2_t251.png"/>
            <p:cNvPicPr>
              <a:picLocks noChangeAspect="1"/>
            </p:cNvPicPr>
            <p:nvPr/>
          </p:nvPicPr>
          <p:blipFill>
            <a:blip r:embed="rIdRefined3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5" name="person_id0_t261" descr="person_id0_t261.png"/>
            <p:cNvPicPr>
              <a:picLocks noChangeAspect="1"/>
            </p:cNvPicPr>
            <p:nvPr/>
          </p:nvPicPr>
          <p:blipFill>
            <a:blip r:embed="rIdRefined4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6" name="person_id1_t261" descr="person_id1_t261.png"/>
            <p:cNvPicPr>
              <a:picLocks noChangeAspect="1"/>
            </p:cNvPicPr>
            <p:nvPr/>
          </p:nvPicPr>
          <p:blipFill>
            <a:blip r:embed="rIdRefined5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7" name="person_id2_t261" descr="person_id2_t261.png"/>
            <p:cNvPicPr>
              <a:picLocks noChangeAspect="1"/>
            </p:cNvPicPr>
            <p:nvPr/>
          </p:nvPicPr>
          <p:blipFill>
            <a:blip r:embed="rIdRefined6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8" name="person_id0_t311" descr="person_id0_t311.png"/>
            <p:cNvPicPr>
              <a:picLocks noChangeAspect="1"/>
            </p:cNvPicPr>
            <p:nvPr/>
          </p:nvPicPr>
          <p:blipFill>
            <a:blip r:embed="rIdRefined7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29" name="person_id1_t311" descr="person_id1_t311.png"/>
            <p:cNvPicPr>
              <a:picLocks noChangeAspect="1"/>
            </p:cNvPicPr>
            <p:nvPr/>
          </p:nvPicPr>
          <p:blipFill>
            <a:blip r:embed="rIdRefined8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30" name="person_id2_t311" descr="person_id2_t311.png"/>
            <p:cNvPicPr>
              <a:picLocks noChangeAspect="1"/>
            </p:cNvPicPr>
            <p:nvPr/>
          </p:nvPicPr>
          <p:blipFill>
            <a:blip r:embed="rIdRefined9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31" name="person_id0_t331" descr="person_id0_t331.png"/>
            <p:cNvPicPr>
              <a:picLocks noChangeAspect="1"/>
            </p:cNvPicPr>
            <p:nvPr/>
          </p:nvPicPr>
          <p:blipFill>
            <a:blip r:embed="rIdRefined10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32" name="person_id1_t331" descr="person_id1_t331.png"/>
            <p:cNvPicPr>
              <a:picLocks noChangeAspect="1"/>
            </p:cNvPicPr>
            <p:nvPr/>
          </p:nvPicPr>
          <p:blipFill>
            <a:blip r:embed="rIdRefined11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133" name="person_id2_t331" descr="person_id2_t331.png"/>
            <p:cNvPicPr>
              <a:picLocks noChangeAspect="1"/>
            </p:cNvPicPr>
            <p:nvPr/>
          </p:nvPicPr>
          <p:blipFill>
            <a:blip r:embed="rIdRefined12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</p:grpSp>
      <p:grpSp>
        <p:nvGrpSpPr>
          <p:cNvPr id="42" name="04 World-frame labels and editable vector cameras"/>
          <p:cNvGrpSpPr/>
          <p:nvPr/>
        </p:nvGrpSpPr>
        <p:grpSpPr>
          <a:xfrm>
            <a:off x="219456" y="3941064"/>
            <a:ext cx="14895576" cy="2706624"/>
            <a:chOff x="219456" y="3941064"/>
            <a:chExt cx="14895576" cy="2706624"/>
          </a:xfrm>
        </p:grpSpPr>
        <p:sp>
          <p:nvSpPr>
            <p:cNvPr id="43" name="world-frame-title"/>
            <p:cNvSpPr txBox="1"/>
            <p:nvPr/>
          </p:nvSpPr>
          <p:spPr>
            <a:xfrm>
              <a:off x="219456" y="3941064"/>
              <a:ext cx="1947672" cy="6309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World-frame</a:t>
              </a:r>
            </a:p>
            <a:p>
              <a:pPr algn="l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reconstruction</a:t>
              </a:r>
            </a:p>
          </p:txBody>
        </p:sp>
        <p:sp>
          <p:nvSpPr>
            <p:cNvPr id="44" name="world-frame-summary"/>
            <p:cNvSpPr txBox="1"/>
            <p:nvPr/>
          </p:nvSpPr>
          <p:spPr>
            <a:xfrm>
              <a:off x="13075920" y="3968496"/>
              <a:ext cx="2039112" cy="6309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3 people · 4 times</a:t>
              </a:r>
            </a:p>
            <a:p>
              <a:pPr algn="ctr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1 world frame.</a:t>
              </a:r>
            </a:p>
          </p:txBody>
        </p:sp>
        <p:grpSp>
          <p:nvGrpSpPr>
            <p:cNvPr id="45" name="Camera — 0 degrees"/>
            <p:cNvGrpSpPr/>
            <p:nvPr/>
          </p:nvGrpSpPr>
          <p:grpSpPr>
            <a:xfrm>
              <a:off x="1554480" y="4507992"/>
              <a:ext cx="1316736" cy="713232"/>
              <a:chOff x="1554480" y="4507992"/>
              <a:chExt cx="1316736" cy="713232"/>
            </a:xfrm>
          </p:grpSpPr>
          <p:sp>
            <p:nvSpPr>
              <p:cNvPr id="46" name="cam0-front-plane"/>
              <p:cNvSpPr/>
              <p:nvPr/>
            </p:nvSpPr>
            <p:spPr>
              <a:xfrm>
                <a:off x="2487168" y="4507992"/>
                <a:ext cx="384048" cy="630936"/>
              </a:xfrm>
              <a:custGeom>
                <a:avLst/>
                <a:gdLst/>
                <a:ahLst/>
                <a:cxnLst/>
                <a:rect l="l" t="t" r="r" b="b"/>
                <a:pathLst>
                  <a:path w="42" h="69">
                    <a:moveTo>
                      <a:pt x="0" y="16"/>
                    </a:moveTo>
                    <a:lnTo>
                      <a:pt x="37" y="0"/>
                    </a:lnTo>
                    <a:lnTo>
                      <a:pt x="42" y="55"/>
                    </a:lnTo>
                    <a:lnTo>
                      <a:pt x="6" y="69"/>
                    </a:lnTo>
                    <a:close/>
                  </a:path>
                </a:pathLst>
              </a:custGeom>
              <a:solidFill>
                <a:srgbClr val="DDE3FF">
                  <a:alpha val="80000"/>
                </a:srgbClr>
              </a:solidFill>
              <a:ln w="22859" cap="rnd">
                <a:solidFill>
                  <a:srgbClr val="1517E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cam0-body-frustum"/>
              <p:cNvSpPr/>
              <p:nvPr/>
            </p:nvSpPr>
            <p:spPr>
              <a:xfrm>
                <a:off x="2029968" y="4654296"/>
                <a:ext cx="512064" cy="484632"/>
              </a:xfrm>
              <a:custGeom>
                <a:avLst/>
                <a:gdLst/>
                <a:ahLst/>
                <a:cxnLst/>
                <a:rect l="l" t="t" r="r" b="b"/>
                <a:pathLst>
                  <a:path w="56" h="53">
                    <a:moveTo>
                      <a:pt x="0" y="37"/>
                    </a:moveTo>
                    <a:lnTo>
                      <a:pt x="50" y="0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rgbClr val="CFD7FF">
                  <a:alpha val="65000"/>
                </a:srgbClr>
              </a:solidFill>
              <a:ln w="22859" cap="rnd">
                <a:solidFill>
                  <a:srgbClr val="1517E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8" name="cam0-upper-ray"/>
              <p:cNvCxnSpPr/>
              <p:nvPr/>
            </p:nvCxnSpPr>
            <p:spPr>
              <a:xfrm flipV="1">
                <a:off x="2029968" y="4507992"/>
                <a:ext cx="795528" cy="484632"/>
              </a:xfrm>
              <a:prstGeom prst="line">
                <a:avLst/>
              </a:prstGeom>
              <a:ln w="19202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am0-lower-ray"/>
              <p:cNvCxnSpPr/>
              <p:nvPr/>
            </p:nvCxnSpPr>
            <p:spPr>
              <a:xfrm>
                <a:off x="2029968" y="4992624"/>
                <a:ext cx="841248" cy="18288"/>
              </a:xfrm>
              <a:prstGeom prst="line">
                <a:avLst/>
              </a:prstGeom>
              <a:ln w="19202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am0-divider"/>
              <p:cNvCxnSpPr/>
              <p:nvPr/>
            </p:nvCxnSpPr>
            <p:spPr>
              <a:xfrm>
                <a:off x="2487168" y="4654296"/>
                <a:ext cx="54864" cy="484632"/>
              </a:xfrm>
              <a:prstGeom prst="line">
                <a:avLst/>
              </a:prstGeom>
              <a:ln w="21945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cam0-angle"/>
              <p:cNvSpPr txBox="1"/>
              <p:nvPr/>
            </p:nvSpPr>
            <p:spPr>
              <a:xfrm>
                <a:off x="1554480" y="4855464"/>
                <a:ext cx="384048" cy="36576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1517EC"/>
                    </a:solidFill>
                    <a:latin typeface="Arial Narrow"/>
                  </a:rPr>
                  <a:t>0°</a:t>
                </a:r>
              </a:p>
            </p:txBody>
          </p:sp>
        </p:grpSp>
        <p:grpSp>
          <p:nvGrpSpPr>
            <p:cNvPr id="52" name="Camera — 177 degrees"/>
            <p:cNvGrpSpPr/>
            <p:nvPr/>
          </p:nvGrpSpPr>
          <p:grpSpPr>
            <a:xfrm>
              <a:off x="11987784" y="4736592"/>
              <a:ext cx="1682496" cy="768096"/>
              <a:chOff x="11987784" y="4736592"/>
              <a:chExt cx="1682496" cy="768096"/>
            </a:xfrm>
          </p:grpSpPr>
          <p:sp>
            <p:nvSpPr>
              <p:cNvPr id="53" name="cam177-front-plane"/>
              <p:cNvSpPr/>
              <p:nvPr/>
            </p:nvSpPr>
            <p:spPr>
              <a:xfrm>
                <a:off x="11987784" y="4736592"/>
                <a:ext cx="356616" cy="603504"/>
              </a:xfrm>
              <a:custGeom>
                <a:avLst/>
                <a:gdLst/>
                <a:ahLst/>
                <a:cxnLst/>
                <a:rect l="l" t="t" r="r" b="b"/>
                <a:pathLst>
                  <a:path w="39" h="66">
                    <a:moveTo>
                      <a:pt x="5" y="0"/>
                    </a:moveTo>
                    <a:lnTo>
                      <a:pt x="39" y="17"/>
                    </a:lnTo>
                    <a:lnTo>
                      <a:pt x="33" y="66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FFE3E3">
                  <a:alpha val="78000"/>
                </a:srgbClr>
              </a:solidFill>
              <a:ln w="21945" cap="rnd">
                <a:solidFill>
                  <a:srgbClr val="ED151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cam177-body-frustum"/>
              <p:cNvSpPr/>
              <p:nvPr/>
            </p:nvSpPr>
            <p:spPr>
              <a:xfrm>
                <a:off x="12289536" y="4892040"/>
                <a:ext cx="539496" cy="448056"/>
              </a:xfrm>
              <a:custGeom>
                <a:avLst/>
                <a:gdLst/>
                <a:ahLst/>
                <a:cxnLst/>
                <a:rect l="l" t="t" r="r" b="b"/>
                <a:pathLst>
                  <a:path w="59" h="49">
                    <a:moveTo>
                      <a:pt x="6" y="0"/>
                    </a:moveTo>
                    <a:lnTo>
                      <a:pt x="59" y="38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FFE3E3">
                  <a:alpha val="65000"/>
                </a:srgbClr>
              </a:solidFill>
              <a:ln w="21945" cap="rnd">
                <a:solidFill>
                  <a:srgbClr val="ED151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5" name="cam177-upper-ray"/>
              <p:cNvCxnSpPr/>
              <p:nvPr/>
            </p:nvCxnSpPr>
            <p:spPr>
              <a:xfrm>
                <a:off x="12033504" y="4736592"/>
                <a:ext cx="795528" cy="502920"/>
              </a:xfrm>
              <a:prstGeom prst="line">
                <a:avLst/>
              </a:prstGeom>
              <a:ln w="18288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am177-lower-ray"/>
              <p:cNvCxnSpPr/>
              <p:nvPr/>
            </p:nvCxnSpPr>
            <p:spPr>
              <a:xfrm>
                <a:off x="11987784" y="5239512"/>
                <a:ext cx="841248" cy="0"/>
              </a:xfrm>
              <a:prstGeom prst="line">
                <a:avLst/>
              </a:prstGeom>
              <a:ln w="18288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am177-divider"/>
              <p:cNvCxnSpPr/>
              <p:nvPr/>
            </p:nvCxnSpPr>
            <p:spPr>
              <a:xfrm flipH="1">
                <a:off x="12289536" y="4892040"/>
                <a:ext cx="54864" cy="448056"/>
              </a:xfrm>
              <a:prstGeom prst="line">
                <a:avLst/>
              </a:prstGeom>
              <a:ln w="22859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cam177-angle"/>
              <p:cNvSpPr txBox="1"/>
              <p:nvPr/>
            </p:nvSpPr>
            <p:spPr>
              <a:xfrm>
                <a:off x="12975336" y="5129784"/>
                <a:ext cx="694944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ED151B"/>
                    </a:solidFill>
                    <a:latin typeface="Arial Narrow"/>
                  </a:rPr>
                  <a:t>177°</a:t>
                </a:r>
              </a:p>
            </p:txBody>
          </p:sp>
        </p:grpSp>
        <p:grpSp>
          <p:nvGrpSpPr>
            <p:cNvPr id="59" name="Camera — 99 degrees"/>
            <p:cNvGrpSpPr/>
            <p:nvPr/>
          </p:nvGrpSpPr>
          <p:grpSpPr>
            <a:xfrm>
              <a:off x="9180576" y="5614416"/>
              <a:ext cx="1243584" cy="1033272"/>
              <a:chOff x="7260336" y="5614416"/>
              <a:chExt cx="1243584" cy="1033272"/>
            </a:xfrm>
          </p:grpSpPr>
          <p:sp>
            <p:nvSpPr>
              <p:cNvPr id="60" name="cam99-left-plane"/>
              <p:cNvSpPr/>
              <p:nvPr/>
            </p:nvSpPr>
            <p:spPr>
              <a:xfrm>
                <a:off x="7260336" y="5614416"/>
                <a:ext cx="347472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70">
                    <a:moveTo>
                      <a:pt x="38" y="0"/>
                    </a:moveTo>
                    <a:lnTo>
                      <a:pt x="0" y="48"/>
                    </a:lnTo>
                    <a:lnTo>
                      <a:pt x="13" y="70"/>
                    </a:ln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FFCEA7">
                  <a:alpha val="77000"/>
                </a:srgbClr>
              </a:solidFill>
              <a:ln w="19202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cam99-right-plane"/>
              <p:cNvSpPr/>
              <p:nvPr/>
            </p:nvSpPr>
            <p:spPr>
              <a:xfrm>
                <a:off x="7607808" y="5614416"/>
                <a:ext cx="356616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0">
                    <a:moveTo>
                      <a:pt x="0" y="0"/>
                    </a:moveTo>
                    <a:lnTo>
                      <a:pt x="39" y="48"/>
                    </a:lnTo>
                    <a:lnTo>
                      <a:pt x="25" y="7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FFDBB6">
                  <a:alpha val="72000"/>
                </a:srgbClr>
              </a:solidFill>
              <a:ln w="19202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cam99-front-plane"/>
              <p:cNvSpPr/>
              <p:nvPr/>
            </p:nvSpPr>
            <p:spPr>
              <a:xfrm>
                <a:off x="7260336" y="6053328"/>
                <a:ext cx="704088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77" h="22">
                    <a:moveTo>
                      <a:pt x="0" y="0"/>
                    </a:moveTo>
                    <a:lnTo>
                      <a:pt x="77" y="0"/>
                    </a:lnTo>
                    <a:lnTo>
                      <a:pt x="63" y="22"/>
                    </a:lnTo>
                    <a:lnTo>
                      <a:pt x="13" y="22"/>
                    </a:lnTo>
                    <a:close/>
                  </a:path>
                </a:pathLst>
              </a:custGeom>
              <a:solidFill>
                <a:srgbClr val="FFE5CF">
                  <a:alpha val="45000"/>
                </a:srgbClr>
              </a:solidFill>
              <a:ln w="16459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cam99-body"/>
              <p:cNvSpPr/>
              <p:nvPr/>
            </p:nvSpPr>
            <p:spPr>
              <a:xfrm>
                <a:off x="7434072" y="6345936"/>
                <a:ext cx="338328" cy="283464"/>
              </a:xfrm>
              <a:prstGeom prst="roundRect">
                <a:avLst>
                  <a:gd name="adj" fmla="val 9677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am99-neck"/>
              <p:cNvSpPr/>
              <p:nvPr/>
            </p:nvSpPr>
            <p:spPr>
              <a:xfrm>
                <a:off x="7379208" y="6254496"/>
                <a:ext cx="457200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">
                    <a:moveTo>
                      <a:pt x="0" y="0"/>
                    </a:moveTo>
                    <a:lnTo>
                      <a:pt x="50" y="0"/>
                    </a:lnTo>
                    <a:lnTo>
                      <a:pt x="43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cam99-angle"/>
              <p:cNvSpPr txBox="1"/>
              <p:nvPr/>
            </p:nvSpPr>
            <p:spPr>
              <a:xfrm>
                <a:off x="7900416" y="626364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FF5A12"/>
                    </a:solidFill>
                    <a:latin typeface="Arial Narrow"/>
                  </a:rPr>
                  <a:t>99°</a:t>
                </a:r>
              </a:p>
            </p:txBody>
          </p:sp>
        </p:grpSp>
        <p:grpSp>
          <p:nvGrpSpPr>
            <p:cNvPr id="66" name="World coordinate axes"/>
            <p:cNvGrpSpPr/>
            <p:nvPr/>
          </p:nvGrpSpPr>
          <p:grpSpPr>
            <a:xfrm>
              <a:off x="13908024" y="5440680"/>
              <a:ext cx="859536" cy="1042416"/>
              <a:chOff x="13908024" y="5440680"/>
              <a:chExt cx="859536" cy="1042416"/>
            </a:xfrm>
          </p:grpSpPr>
          <p:cxnSp>
            <p:nvCxnSpPr>
              <p:cNvPr id="67" name="axis-z"/>
              <p:cNvCxnSpPr/>
              <p:nvPr/>
            </p:nvCxnSpPr>
            <p:spPr>
              <a:xfrm flipV="1">
                <a:off x="13908024" y="5577840"/>
                <a:ext cx="0" cy="603504"/>
              </a:xfrm>
              <a:prstGeom prst="line">
                <a:avLst/>
              </a:prstGeom>
              <a:ln w="27432" cap="rnd">
                <a:solidFill>
                  <a:srgbClr val="1517EC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axis-y"/>
              <p:cNvCxnSpPr/>
              <p:nvPr/>
            </p:nvCxnSpPr>
            <p:spPr>
              <a:xfrm flipV="1">
                <a:off x="13908024" y="5925312"/>
                <a:ext cx="384048" cy="256032"/>
              </a:xfrm>
              <a:prstGeom prst="line">
                <a:avLst/>
              </a:prstGeom>
              <a:ln w="27432" cap="rnd">
                <a:solidFill>
                  <a:srgbClr val="009E43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axis-x"/>
              <p:cNvCxnSpPr/>
              <p:nvPr/>
            </p:nvCxnSpPr>
            <p:spPr>
              <a:xfrm>
                <a:off x="13908024" y="6181344"/>
                <a:ext cx="576072" cy="155448"/>
              </a:xfrm>
              <a:prstGeom prst="line">
                <a:avLst/>
              </a:prstGeom>
              <a:ln w="27432" cap="rnd">
                <a:solidFill>
                  <a:srgbClr val="F21A22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xis-z-label"/>
              <p:cNvSpPr txBox="1"/>
              <p:nvPr/>
            </p:nvSpPr>
            <p:spPr>
              <a:xfrm>
                <a:off x="14054328" y="5440680"/>
                <a:ext cx="237744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1517EC"/>
                    </a:solidFill>
                    <a:latin typeface="Arial Narrow"/>
                  </a:rPr>
                  <a:t>Z</a:t>
                </a:r>
              </a:p>
            </p:txBody>
          </p:sp>
          <p:sp>
            <p:nvSpPr>
              <p:cNvPr id="71" name="axis-y-label"/>
              <p:cNvSpPr txBox="1"/>
              <p:nvPr/>
            </p:nvSpPr>
            <p:spPr>
              <a:xfrm>
                <a:off x="14328648" y="5742432"/>
                <a:ext cx="237744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009E43"/>
                    </a:solidFill>
                    <a:latin typeface="Arial Narrow"/>
                  </a:rPr>
                  <a:t>Y</a:t>
                </a:r>
              </a:p>
            </p:txBody>
          </p:sp>
          <p:sp>
            <p:nvSpPr>
              <p:cNvPr id="72" name="axis-x-label"/>
              <p:cNvSpPr txBox="1"/>
              <p:nvPr/>
            </p:nvSpPr>
            <p:spPr>
              <a:xfrm>
                <a:off x="14520672" y="6199632"/>
                <a:ext cx="24688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F21A22"/>
                    </a:solidFill>
                    <a:latin typeface="Arial Narrow"/>
                  </a:rPr>
                  <a:t>X</a:t>
                </a:r>
              </a:p>
            </p:txBody>
          </p:sp>
        </p:grpSp>
      </p:grpSp>
      <p:grpSp>
        <p:nvGrpSpPr>
          <p:cNvPr id="73" name="05 Online multi-shot stream — nine original frames"/>
          <p:cNvGrpSpPr/>
          <p:nvPr/>
        </p:nvGrpSpPr>
        <p:grpSpPr>
          <a:xfrm>
            <a:off x="274320" y="6784848"/>
            <a:ext cx="14538960" cy="1005840"/>
            <a:chOff x="274320" y="6784848"/>
            <a:chExt cx="14538960" cy="1005840"/>
          </a:xfrm>
        </p:grpSpPr>
        <p:sp>
          <p:nvSpPr>
            <p:cNvPr id="74" name="online-stream-title"/>
            <p:cNvSpPr txBox="1"/>
            <p:nvPr/>
          </p:nvSpPr>
          <p:spPr>
            <a:xfrm>
              <a:off x="274320" y="6885432"/>
              <a:ext cx="1316736" cy="8595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Online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multi-shot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stream</a:t>
              </a:r>
            </a:p>
          </p:txBody>
        </p:sp>
        <p:grpSp>
          <p:nvGrpSpPr>
            <p:cNvPr id="75" name="Timeline Shot 1"/>
            <p:cNvGrpSpPr/>
            <p:nvPr/>
          </p:nvGrpSpPr>
          <p:grpSpPr>
            <a:xfrm>
              <a:off x="1609344" y="6784848"/>
              <a:ext cx="3182112" cy="1005840"/>
              <a:chOff x="1609344" y="6784848"/>
              <a:chExt cx="3182112" cy="1005840"/>
            </a:xfrm>
          </p:grpSpPr>
          <p:sp>
            <p:nvSpPr>
              <p:cNvPr id="76" name="timeline-shot-1-container"/>
              <p:cNvSpPr/>
              <p:nvPr/>
            </p:nvSpPr>
            <p:spPr>
              <a:xfrm>
                <a:off x="1609344" y="6784848"/>
                <a:ext cx="3182112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CEE6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timeline-shot-1-label"/>
              <p:cNvSpPr txBox="1"/>
              <p:nvPr/>
            </p:nvSpPr>
            <p:spPr>
              <a:xfrm>
                <a:off x="1719072" y="6821424"/>
                <a:ext cx="2962656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1 · 0°</a:t>
                </a:r>
              </a:p>
            </p:txBody>
          </p:sp>
          <p:pic>
            <p:nvPicPr>
              <p:cNvPr id="78" name="timeline-shot-1-original-frame-1" descr="shot_1_frame_1.png"/>
              <p:cNvPicPr>
                <a:picLocks noChangeAspect="1"/>
              </p:cNvPicPr>
              <p:nvPr/>
            </p:nvPicPr>
            <p:blipFill>
              <a:blip r:embed="rId10"/>
              <a:srcRect l="5000" r="5000"/>
              <a:stretch>
                <a:fillRect/>
              </a:stretch>
            </p:blipFill>
            <p:spPr>
              <a:xfrm>
                <a:off x="1901952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79" name="timeline-shot-1-original-frame-2" descr="shot_1_frame_2.png"/>
              <p:cNvPicPr>
                <a:picLocks noChangeAspect="1"/>
              </p:cNvPicPr>
              <p:nvPr/>
            </p:nvPicPr>
            <p:blipFill>
              <a:blip r:embed="rId2"/>
              <a:srcRect l="5000" r="5000"/>
              <a:stretch>
                <a:fillRect/>
              </a:stretch>
            </p:blipFill>
            <p:spPr>
              <a:xfrm>
                <a:off x="2798064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80" name="timeline-shot-1-original-frame-3" descr="shot_1_frame_3.png"/>
              <p:cNvPicPr>
                <a:picLocks noChangeAspect="1"/>
              </p:cNvPicPr>
              <p:nvPr/>
            </p:nvPicPr>
            <p:blipFill>
              <a:blip r:embed="rId11"/>
              <a:srcRect l="5000" r="5000"/>
              <a:stretch>
                <a:fillRect/>
              </a:stretch>
            </p:blipFill>
            <p:spPr>
              <a:xfrm>
                <a:off x="36941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81" name="shot-1-before-dot-0"/>
              <p:cNvSpPr/>
              <p:nvPr/>
            </p:nvSpPr>
            <p:spPr>
              <a:xfrm>
                <a:off x="1635862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ot-1-after-dot-0"/>
              <p:cNvSpPr/>
              <p:nvPr/>
            </p:nvSpPr>
            <p:spPr>
              <a:xfrm>
                <a:off x="4580230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hot-1-before-dot-1"/>
              <p:cNvSpPr/>
              <p:nvPr/>
            </p:nvSpPr>
            <p:spPr>
              <a:xfrm>
                <a:off x="1709014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hot-1-after-dot-1"/>
              <p:cNvSpPr/>
              <p:nvPr/>
            </p:nvSpPr>
            <p:spPr>
              <a:xfrm>
                <a:off x="4653382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hot-1-before-dot-2"/>
              <p:cNvSpPr/>
              <p:nvPr/>
            </p:nvSpPr>
            <p:spPr>
              <a:xfrm>
                <a:off x="1782166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shot-1-after-dot-2"/>
              <p:cNvSpPr/>
              <p:nvPr/>
            </p:nvSpPr>
            <p:spPr>
              <a:xfrm>
                <a:off x="4726534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7" name="Timeline Shot 2"/>
            <p:cNvGrpSpPr/>
            <p:nvPr/>
          </p:nvGrpSpPr>
          <p:grpSpPr>
            <a:xfrm>
              <a:off x="5586984" y="6784848"/>
              <a:ext cx="2926080" cy="1005840"/>
              <a:chOff x="5586984" y="6784848"/>
              <a:chExt cx="2926080" cy="1005840"/>
            </a:xfrm>
          </p:grpSpPr>
          <p:sp>
            <p:nvSpPr>
              <p:cNvPr id="88" name="timeline-shot-2-container"/>
              <p:cNvSpPr/>
              <p:nvPr/>
            </p:nvSpPr>
            <p:spPr>
              <a:xfrm>
                <a:off x="5586984" y="6784848"/>
                <a:ext cx="2926080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FFEBD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timeline-shot-2-label"/>
              <p:cNvSpPr txBox="1"/>
              <p:nvPr/>
            </p:nvSpPr>
            <p:spPr>
              <a:xfrm>
                <a:off x="5696712" y="6821424"/>
                <a:ext cx="2706624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FF5A12"/>
                    </a:solidFill>
                    <a:latin typeface="Arial Narrow"/>
                  </a:rPr>
                  <a:t>Shot 2 · 99°</a:t>
                </a:r>
              </a:p>
            </p:txBody>
          </p:sp>
          <p:pic>
            <p:nvPicPr>
              <p:cNvPr id="90" name="timeline-shot-2-original-frame-1" descr="shot_2_frame_1.png"/>
              <p:cNvPicPr>
                <a:picLocks noChangeAspect="1"/>
              </p:cNvPicPr>
              <p:nvPr/>
            </p:nvPicPr>
            <p:blipFill>
              <a:blip r:embed="rId12"/>
              <a:srcRect l="5000" r="5000"/>
              <a:stretch>
                <a:fillRect/>
              </a:stretch>
            </p:blipFill>
            <p:spPr>
              <a:xfrm>
                <a:off x="57515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91" name="timeline-shot-2-original-frame-2" descr="shot_2_frame_2.png"/>
              <p:cNvPicPr>
                <a:picLocks noChangeAspect="1"/>
              </p:cNvPicPr>
              <p:nvPr/>
            </p:nvPicPr>
            <p:blipFill>
              <a:blip r:embed="rId3"/>
              <a:srcRect l="5000" r="5000"/>
              <a:stretch>
                <a:fillRect/>
              </a:stretch>
            </p:blipFill>
            <p:spPr>
              <a:xfrm>
                <a:off x="6647688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92" name="timeline-shot-2-original-frame-3" descr="shot_2_frame_3.png"/>
              <p:cNvPicPr>
                <a:picLocks noChangeAspect="1"/>
              </p:cNvPicPr>
              <p:nvPr/>
            </p:nvPicPr>
            <p:blipFill>
              <a:blip r:embed="rId13"/>
              <a:srcRect l="5000" r="5000"/>
              <a:stretch>
                <a:fillRect/>
              </a:stretch>
            </p:blipFill>
            <p:spPr>
              <a:xfrm>
                <a:off x="7543800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93" name="shot-2-before-dot-0"/>
              <p:cNvSpPr/>
              <p:nvPr/>
            </p:nvSpPr>
            <p:spPr>
              <a:xfrm>
                <a:off x="5613502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shot-2-after-dot-0"/>
              <p:cNvSpPr/>
              <p:nvPr/>
            </p:nvSpPr>
            <p:spPr>
              <a:xfrm>
                <a:off x="8301838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shot-2-before-dot-1"/>
              <p:cNvSpPr/>
              <p:nvPr/>
            </p:nvSpPr>
            <p:spPr>
              <a:xfrm>
                <a:off x="5686654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shot-2-after-dot-1"/>
              <p:cNvSpPr/>
              <p:nvPr/>
            </p:nvSpPr>
            <p:spPr>
              <a:xfrm>
                <a:off x="8374990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shot-2-before-dot-2"/>
              <p:cNvSpPr/>
              <p:nvPr/>
            </p:nvSpPr>
            <p:spPr>
              <a:xfrm>
                <a:off x="5759806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t-2-after-dot-2"/>
              <p:cNvSpPr/>
              <p:nvPr/>
            </p:nvSpPr>
            <p:spPr>
              <a:xfrm>
                <a:off x="8448142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" name="Timeline Shot 3"/>
            <p:cNvGrpSpPr/>
            <p:nvPr/>
          </p:nvGrpSpPr>
          <p:grpSpPr>
            <a:xfrm>
              <a:off x="9290304" y="6784848"/>
              <a:ext cx="3136392" cy="1005840"/>
              <a:chOff x="9290304" y="6784848"/>
              <a:chExt cx="3136392" cy="1005840"/>
            </a:xfrm>
          </p:grpSpPr>
          <p:sp>
            <p:nvSpPr>
              <p:cNvPr id="100" name="timeline-shot-3-container"/>
              <p:cNvSpPr/>
              <p:nvPr/>
            </p:nvSpPr>
            <p:spPr>
              <a:xfrm>
                <a:off x="9290304" y="6784848"/>
                <a:ext cx="3136392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FFDEE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timeline-shot-3-label"/>
              <p:cNvSpPr txBox="1"/>
              <p:nvPr/>
            </p:nvSpPr>
            <p:spPr>
              <a:xfrm>
                <a:off x="9400032" y="6821424"/>
                <a:ext cx="2916936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ED151B"/>
                    </a:solidFill>
                    <a:latin typeface="Arial Narrow"/>
                  </a:rPr>
                  <a:t>Shot 3 · 177°</a:t>
                </a:r>
              </a:p>
            </p:txBody>
          </p:sp>
          <p:pic>
            <p:nvPicPr>
              <p:cNvPr id="102" name="timeline-shot-3-original-frame-1" descr="shot_3_frame_1.png"/>
              <p:cNvPicPr>
                <a:picLocks noChangeAspect="1"/>
              </p:cNvPicPr>
              <p:nvPr/>
            </p:nvPicPr>
            <p:blipFill>
              <a:blip r:embed="rId14"/>
              <a:srcRect l="5000" r="5000"/>
              <a:stretch>
                <a:fillRect/>
              </a:stretch>
            </p:blipFill>
            <p:spPr>
              <a:xfrm>
                <a:off x="9560052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103" name="timeline-shot-3-original-frame-2" descr="shot_3_frame_2.png"/>
              <p:cNvPicPr>
                <a:picLocks noChangeAspect="1"/>
              </p:cNvPicPr>
              <p:nvPr/>
            </p:nvPicPr>
            <p:blipFill>
              <a:blip r:embed="rId4"/>
              <a:srcRect l="5000" r="5000"/>
              <a:stretch>
                <a:fillRect/>
              </a:stretch>
            </p:blipFill>
            <p:spPr>
              <a:xfrm>
                <a:off x="10456164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104" name="timeline-shot-3-original-frame-3" descr="shot_3_frame_3.png"/>
              <p:cNvPicPr>
                <a:picLocks noChangeAspect="1"/>
              </p:cNvPicPr>
              <p:nvPr/>
            </p:nvPicPr>
            <p:blipFill>
              <a:blip r:embed="rId15"/>
              <a:srcRect l="5000" r="5000"/>
              <a:stretch>
                <a:fillRect/>
              </a:stretch>
            </p:blipFill>
            <p:spPr>
              <a:xfrm>
                <a:off x="113522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105" name="shot-3-before-dot-0"/>
              <p:cNvSpPr/>
              <p:nvPr/>
            </p:nvSpPr>
            <p:spPr>
              <a:xfrm>
                <a:off x="9316822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shot-3-after-dot-0"/>
              <p:cNvSpPr/>
              <p:nvPr/>
            </p:nvSpPr>
            <p:spPr>
              <a:xfrm>
                <a:off x="12215470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shot-3-before-dot-1"/>
              <p:cNvSpPr/>
              <p:nvPr/>
            </p:nvSpPr>
            <p:spPr>
              <a:xfrm>
                <a:off x="9389974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hot-3-after-dot-1"/>
              <p:cNvSpPr/>
              <p:nvPr/>
            </p:nvSpPr>
            <p:spPr>
              <a:xfrm>
                <a:off x="12288622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shot-3-before-dot-2"/>
              <p:cNvSpPr/>
              <p:nvPr/>
            </p:nvSpPr>
            <p:spPr>
              <a:xfrm>
                <a:off x="9463126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shot-3-after-dot-2"/>
              <p:cNvSpPr/>
              <p:nvPr/>
            </p:nvSpPr>
            <p:spPr>
              <a:xfrm>
                <a:off x="12361774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1" name="Timeline cut 1"/>
            <p:cNvGrpSpPr/>
            <p:nvPr/>
          </p:nvGrpSpPr>
          <p:grpSpPr>
            <a:xfrm>
              <a:off x="4855464" y="7114032"/>
              <a:ext cx="658368" cy="420624"/>
              <a:chOff x="4855464" y="7114032"/>
              <a:chExt cx="658368" cy="420624"/>
            </a:xfrm>
          </p:grpSpPr>
          <p:sp>
            <p:nvSpPr>
              <p:cNvPr id="112" name="timeline-cut-1-pill"/>
              <p:cNvSpPr/>
              <p:nvPr/>
            </p:nvSpPr>
            <p:spPr>
              <a:xfrm>
                <a:off x="4855464" y="7114032"/>
                <a:ext cx="658368" cy="420624"/>
              </a:xfrm>
              <a:prstGeom prst="roundRect">
                <a:avLst>
                  <a:gd name="adj" fmla="val 17391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timeline-cut-1-label"/>
              <p:cNvSpPr txBox="1"/>
              <p:nvPr/>
            </p:nvSpPr>
            <p:spPr>
              <a:xfrm>
                <a:off x="4882896" y="713232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114" name="Timeline cut 2"/>
            <p:cNvGrpSpPr/>
            <p:nvPr/>
          </p:nvGrpSpPr>
          <p:grpSpPr>
            <a:xfrm>
              <a:off x="8558784" y="7114032"/>
              <a:ext cx="658368" cy="420624"/>
              <a:chOff x="8558784" y="7114032"/>
              <a:chExt cx="658368" cy="420624"/>
            </a:xfrm>
          </p:grpSpPr>
          <p:sp>
            <p:nvSpPr>
              <p:cNvPr id="115" name="timeline-cut-2-pill"/>
              <p:cNvSpPr/>
              <p:nvPr/>
            </p:nvSpPr>
            <p:spPr>
              <a:xfrm>
                <a:off x="8558784" y="7114032"/>
                <a:ext cx="658368" cy="420624"/>
              </a:xfrm>
              <a:prstGeom prst="roundRect">
                <a:avLst>
                  <a:gd name="adj" fmla="val 17391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timeline-cut-2-label"/>
              <p:cNvSpPr txBox="1"/>
              <p:nvPr/>
            </p:nvSpPr>
            <p:spPr>
              <a:xfrm>
                <a:off x="8586216" y="713232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117" name="Output"/>
            <p:cNvGrpSpPr/>
            <p:nvPr/>
          </p:nvGrpSpPr>
          <p:grpSpPr>
            <a:xfrm>
              <a:off x="12426696" y="6894576"/>
              <a:ext cx="2386584" cy="850392"/>
              <a:chOff x="12426696" y="6894576"/>
              <a:chExt cx="2386584" cy="850392"/>
            </a:xfrm>
          </p:grpSpPr>
          <p:sp>
            <p:nvSpPr>
              <p:cNvPr id="118" name="output-arrow"/>
              <p:cNvSpPr/>
              <p:nvPr/>
            </p:nvSpPr>
            <p:spPr>
              <a:xfrm>
                <a:off x="12426696" y="7004304"/>
                <a:ext cx="411480" cy="612648"/>
              </a:xfrm>
              <a:custGeom>
                <a:avLst/>
                <a:gdLst/>
                <a:ahLst/>
                <a:cxnLst/>
                <a:rect l="l" t="t" r="r" b="b"/>
                <a:pathLst>
                  <a:path w="45" h="67">
                    <a:moveTo>
                      <a:pt x="0" y="18"/>
                    </a:moveTo>
                    <a:lnTo>
                      <a:pt x="17" y="18"/>
                    </a:lnTo>
                    <a:lnTo>
                      <a:pt x="17" y="0"/>
                    </a:lnTo>
                    <a:lnTo>
                      <a:pt x="45" y="33"/>
                    </a:lnTo>
                    <a:lnTo>
                      <a:pt x="17" y="67"/>
                    </a:lnTo>
                    <a:lnTo>
                      <a:pt x="17" y="49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FFAEB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output-box"/>
              <p:cNvSpPr/>
              <p:nvPr/>
            </p:nvSpPr>
            <p:spPr>
              <a:xfrm>
                <a:off x="12920472" y="6894576"/>
                <a:ext cx="1892808" cy="850392"/>
              </a:xfrm>
              <a:prstGeom prst="roundRect">
                <a:avLst>
                  <a:gd name="adj" fmla="val 11827"/>
                </a:avLst>
              </a:prstGeom>
              <a:solidFill>
                <a:srgbClr val="083EA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output-label"/>
              <p:cNvSpPr txBox="1"/>
              <p:nvPr/>
            </p:nvSpPr>
            <p:spPr>
              <a:xfrm>
                <a:off x="13011912" y="6976872"/>
                <a:ext cx="1709928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32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Consistent</a:t>
                </a:r>
              </a:p>
              <a:p>
                <a:pPr algn="ctr">
                  <a:lnSpc>
                    <a:spcPts val="2232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4D reconstruction</a:t>
                </a:r>
              </a:p>
            </p:txBody>
          </p:sp>
        </p:grpSp>
      </p:grpSp>
      <p:sp>
        <p:nvSpPr>
          <p:cNvPr id="134" name="render-source-note"/>
          <p:cNvSpPr txBox="1"/>
          <p:nvPr/>
        </p:nvSpPr>
        <p:spPr>
          <a:xfrm>
            <a:off x="219456" y="4581144"/>
            <a:ext cx="1737360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42536A"/>
                </a:solidFill>
                <a:latin typeface="Arial"/>
              </a:rPr>
              <a:t>Actual prediction</a:t>
            </a:r>
          </a:p>
        </p:txBody>
      </p:sp>
      <p:sp>
        <p:nvSpPr>
          <p:cNvPr id="135" name="render-source-views"/>
          <p:cNvSpPr txBox="1"/>
          <p:nvPr/>
        </p:nvSpPr>
        <p:spPr>
          <a:xfrm>
            <a:off x="219456" y="4764024"/>
            <a:ext cx="1737360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42536A"/>
                </a:solidFill>
                <a:latin typeface="Arial"/>
              </a:rPr>
              <a:t>0° → 177° replay</a:t>
            </a:r>
          </a:p>
        </p:txBody>
      </p:sp>
      <p:sp>
        <p:nvSpPr>
          <p:cNvPr id="136" name="motion-note"/>
          <p:cNvSpPr txBox="1"/>
          <p:nvPr/>
        </p:nvSpPr>
        <p:spPr>
          <a:xfrm>
            <a:off x="13258800" y="4681728"/>
            <a:ext cx="1965960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42536A"/>
                </a:solidFill>
                <a:latin typeface="Arial"/>
              </a:rPr>
              <a:t>Faint: earlier poses</a:t>
            </a:r>
          </a:p>
        </p:txBody>
      </p:sp>
      <p:sp>
        <p:nvSpPr>
          <p:cNvPr id="137" name="motion-latest-note"/>
          <p:cNvSpPr txBox="1"/>
          <p:nvPr/>
        </p:nvSpPr>
        <p:spPr>
          <a:xfrm>
            <a:off x="13258800" y="4864608"/>
            <a:ext cx="1965960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42536A"/>
                </a:solidFill>
                <a:latin typeface="Arial"/>
              </a:rPr>
              <a:t>Solid: latest mesh</a:t>
            </a:r>
          </a:p>
        </p:txBody>
      </p:sp>
      <p:sp>
        <p:nvSpPr>
          <p:cNvPr id="138" name="camera-note"/>
          <p:cNvSpPr txBox="1"/>
          <p:nvPr/>
        </p:nvSpPr>
        <p:spPr>
          <a:xfrm>
            <a:off x="4023360" y="8202168"/>
            <a:ext cx="9144000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08">
                <a:solidFill>
                  <a:srgbClr val="42536A"/>
                </a:solidFill>
                <a:latin typeface="Arial"/>
              </a:rPr>
              <a:t>Camera symbols indicate source viewpoints; positions are schematic.</a:t>
            </a:r>
          </a:p>
        </p:txBody>
      </p:sp>
      <p:sp>
        <p:nvSpPr>
          <p:cNvPr id="139" name="identity-0"/>
          <p:cNvSpPr txBox="1"/>
          <p:nvPr/>
        </p:nvSpPr>
        <p:spPr>
          <a:xfrm>
            <a:off x="5431536" y="7900416"/>
            <a:ext cx="1508760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A07AC7"/>
                </a:solidFill>
                <a:latin typeface="Arial"/>
              </a:rPr>
              <a:t>●  Person ID 0</a:t>
            </a:r>
          </a:p>
        </p:txBody>
      </p:sp>
      <p:sp>
        <p:nvSpPr>
          <p:cNvPr id="140" name="identity-1"/>
          <p:cNvSpPr txBox="1"/>
          <p:nvPr/>
        </p:nvSpPr>
        <p:spPr>
          <a:xfrm>
            <a:off x="6949440" y="7900416"/>
            <a:ext cx="1508760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EC6D5B"/>
                </a:solidFill>
                <a:latin typeface="Arial"/>
              </a:rPr>
              <a:t>●  Person ID 1</a:t>
            </a:r>
          </a:p>
        </p:txBody>
      </p:sp>
      <p:sp>
        <p:nvSpPr>
          <p:cNvPr id="141" name="identity-2"/>
          <p:cNvSpPr txBox="1"/>
          <p:nvPr/>
        </p:nvSpPr>
        <p:spPr>
          <a:xfrm>
            <a:off x="8467344" y="7900416"/>
            <a:ext cx="1508760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en-US" sz="1080">
                <a:solidFill>
                  <a:srgbClr val="2CB3C5"/>
                </a:solidFill>
                <a:latin typeface="Arial"/>
              </a:rPr>
              <a:t>●  Person ID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— Editable Teaser</dc:title>
  <dc:subject>Editable PowerPoint annotations with separate raster photo and reconstruction layers</dc:subject>
  <dc:creator/>
  <cp:keywords>SHOT3R, editable, vector annotations, raster reconstruction, 4D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