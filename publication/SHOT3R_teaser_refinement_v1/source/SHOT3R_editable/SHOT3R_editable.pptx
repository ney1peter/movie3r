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5288767" cy="8604504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EDITING NOTES / 编辑说明</a:t>
            </a:r>
          </a:p>
          <a:p/>
          <a:p>
            <a:r>
              <a:t>This slide is genuinely editable but is NOT all-vector.</a:t>
            </a:r>
          </a:p>
          <a:p>
            <a:r>
              <a:t>Editable native PowerPoint objects: all text, header/logo geometry, shot tags, panels, CUT arrows, camera symbols, coordinate axes, dots and timeline containers.</a:t>
            </a:r>
          </a:p>
          <a:p>
            <a:r>
              <a:t>Raster objects: the 9 original photo crops, point-cloud background, block rendering, and the three color-coded human-motion groups. They are separate image objects and can be moved, resized, cropped, or replaced. Human joints and individual overlapped time steps are not editable meshes.</a:t>
            </a:r>
          </a:p>
          <a:p/>
          <a:p>
            <a:r>
              <a:t>照片：来自用户提供的九宫格图片，逐行对应 Shot 1/2/3，保持每行原始帧顺序。上方三张大图各使用对应行的第 2 帧。</a:t>
            </a:r>
          </a:p>
          <a:p>
            <a:r>
              <a:t>中间渲染：从本次对话已有的生成式 teaser 中提取；不是真实 3D 点云文件或新测量结果。最终论文应替换为作者实际重建输出。</a:t>
            </a:r>
          </a:p>
          <a:p>
            <a:r>
              <a:t>三色人体动作各为一组透明 PNG，而非逐帧人物或 SMPL 网格。分层为可见像素的拆分，移动图层不会恢复原来被遮挡的背景。</a:t>
            </a:r>
          </a:p>
          <a:p/>
          <a:p>
            <a:r>
              <a:t>Use Home &gt; Select &gt; Selection Pane to locate named groups. Click into a group or ungroup to edit its children. Right-click a photograph and use Change Picture to replace it.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2" name="01 Header — editable title and logo"/>
          <p:cNvGrpSpPr/>
          <p:nvPr/>
        </p:nvGrpSpPr>
        <p:grpSpPr>
          <a:xfrm>
            <a:off x="2834640" y="36576"/>
            <a:ext cx="11887200" cy="493776"/>
            <a:chOff x="2834640" y="36576"/>
            <a:chExt cx="11887200" cy="493776"/>
          </a:xfrm>
        </p:grpSpPr>
        <p:sp>
          <p:nvSpPr>
            <p:cNvPr id="3" name="logo-SH"/>
            <p:cNvSpPr txBox="1"/>
            <p:nvPr/>
          </p:nvSpPr>
          <p:spPr>
            <a:xfrm>
              <a:off x="2834640" y="36576"/>
              <a:ext cx="704088" cy="493776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ts val="427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3887" b="1">
                  <a:solidFill>
                    <a:srgbClr val="103C8C"/>
                  </a:solidFill>
                  <a:latin typeface="Arial"/>
                </a:rPr>
                <a:t>SH</a:t>
              </a:r>
            </a:p>
          </p:txBody>
        </p:sp>
        <p:sp>
          <p:nvSpPr>
            <p:cNvPr id="4" name="logo-aperture"/>
            <p:cNvSpPr/>
            <p:nvPr/>
          </p:nvSpPr>
          <p:spPr>
            <a:xfrm>
              <a:off x="3547872" y="109728"/>
              <a:ext cx="365760" cy="365760"/>
            </a:xfrm>
            <a:prstGeom prst="ellipse">
              <a:avLst/>
            </a:prstGeom>
            <a:solidFill>
              <a:srgbClr val="103C8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logo-aperture-center"/>
            <p:cNvSpPr/>
            <p:nvPr/>
          </p:nvSpPr>
          <p:spPr>
            <a:xfrm>
              <a:off x="3666744" y="219456"/>
              <a:ext cx="128016" cy="146304"/>
            </a:xfrm>
            <a:custGeom>
              <a:avLst/>
              <a:gdLst/>
              <a:ahLst/>
              <a:cxnLst/>
              <a:rect l="l" t="t" r="r" b="b"/>
              <a:pathLst>
                <a:path w="14" h="16">
                  <a:moveTo>
                    <a:pt x="14" y="12"/>
                  </a:moveTo>
                  <a:lnTo>
                    <a:pt x="7" y="16"/>
                  </a:lnTo>
                  <a:lnTo>
                    <a:pt x="0" y="12"/>
                  </a:lnTo>
                  <a:lnTo>
                    <a:pt x="0" y="4"/>
                  </a:lnTo>
                  <a:lnTo>
                    <a:pt x="7" y="0"/>
                  </a:lnTo>
                  <a:lnTo>
                    <a:pt x="14" y="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6" name="logo-aperture-blade-1"/>
            <p:cNvCxnSpPr/>
            <p:nvPr/>
          </p:nvCxnSpPr>
          <p:spPr>
            <a:xfrm>
              <a:off x="3791728" y="327812"/>
              <a:ext cx="25892" cy="115256"/>
            </a:xfrm>
            <a:prstGeom prst="line">
              <a:avLst/>
            </a:prstGeom>
            <a:ln w="10515" cap="rnd">
              <a:solidFill>
                <a:srgbClr val="FFFFFF"/>
              </a:solidFill>
              <a:round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logo-aperture-blade-2"/>
            <p:cNvCxnSpPr/>
            <p:nvPr/>
          </p:nvCxnSpPr>
          <p:spPr>
            <a:xfrm flipH="1">
              <a:off x="3643884" y="363017"/>
              <a:ext cx="86868" cy="80051"/>
            </a:xfrm>
            <a:prstGeom prst="line">
              <a:avLst/>
            </a:prstGeom>
            <a:ln w="10515" cap="rnd">
              <a:solidFill>
                <a:srgbClr val="FFFFFF"/>
              </a:solidFill>
              <a:round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logo-aperture-blade-3"/>
            <p:cNvCxnSpPr/>
            <p:nvPr/>
          </p:nvCxnSpPr>
          <p:spPr>
            <a:xfrm flipH="1" flipV="1">
              <a:off x="3557016" y="292608"/>
              <a:ext cx="112760" cy="35204"/>
            </a:xfrm>
            <a:prstGeom prst="line">
              <a:avLst/>
            </a:prstGeom>
            <a:ln w="10515" cap="rnd">
              <a:solidFill>
                <a:srgbClr val="FFFFFF"/>
              </a:solidFill>
              <a:round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logo-aperture-blade-4"/>
            <p:cNvCxnSpPr/>
            <p:nvPr/>
          </p:nvCxnSpPr>
          <p:spPr>
            <a:xfrm flipH="1" flipV="1">
              <a:off x="3643884" y="142148"/>
              <a:ext cx="25892" cy="115256"/>
            </a:xfrm>
            <a:prstGeom prst="line">
              <a:avLst/>
            </a:prstGeom>
            <a:ln w="10515" cap="rnd">
              <a:solidFill>
                <a:srgbClr val="FFFFFF"/>
              </a:solidFill>
              <a:round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logo-aperture-blade-5"/>
            <p:cNvCxnSpPr/>
            <p:nvPr/>
          </p:nvCxnSpPr>
          <p:spPr>
            <a:xfrm flipV="1">
              <a:off x="3730752" y="142148"/>
              <a:ext cx="86868" cy="80051"/>
            </a:xfrm>
            <a:prstGeom prst="line">
              <a:avLst/>
            </a:prstGeom>
            <a:ln w="10515" cap="rnd">
              <a:solidFill>
                <a:srgbClr val="FFFFFF"/>
              </a:solidFill>
              <a:round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logo-aperture-blade-6"/>
            <p:cNvCxnSpPr/>
            <p:nvPr/>
          </p:nvCxnSpPr>
          <p:spPr>
            <a:xfrm>
              <a:off x="3791728" y="257404"/>
              <a:ext cx="112760" cy="35204"/>
            </a:xfrm>
            <a:prstGeom prst="line">
              <a:avLst/>
            </a:prstGeom>
            <a:ln w="10515" cap="rnd">
              <a:solidFill>
                <a:srgbClr val="FFFFFF"/>
              </a:solidFill>
              <a:round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logo-T3R"/>
            <p:cNvSpPr txBox="1"/>
            <p:nvPr/>
          </p:nvSpPr>
          <p:spPr>
            <a:xfrm>
              <a:off x="3913632" y="36576"/>
              <a:ext cx="923544" cy="493776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ts val="427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3887" b="1">
                  <a:solidFill>
                    <a:srgbClr val="103C8C"/>
                  </a:solidFill>
                  <a:latin typeface="Arial"/>
                </a:rPr>
                <a:t>T3R</a:t>
              </a:r>
            </a:p>
          </p:txBody>
        </p:sp>
        <p:cxnSp>
          <p:nvCxnSpPr>
            <p:cNvPr id="13" name="title-divider"/>
            <p:cNvCxnSpPr/>
            <p:nvPr/>
          </p:nvCxnSpPr>
          <p:spPr>
            <a:xfrm>
              <a:off x="4974336" y="100584"/>
              <a:ext cx="0" cy="365760"/>
            </a:xfrm>
            <a:prstGeom prst="line">
              <a:avLst/>
            </a:prstGeom>
            <a:ln w="18288" cap="rnd">
              <a:solidFill>
                <a:srgbClr val="103C8C"/>
              </a:solidFill>
              <a:round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paper-subtitle"/>
            <p:cNvSpPr txBox="1"/>
            <p:nvPr/>
          </p:nvSpPr>
          <p:spPr>
            <a:xfrm>
              <a:off x="5166360" y="82296"/>
              <a:ext cx="9555480" cy="393192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ts val="2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943" b="0">
                  <a:solidFill>
                    <a:srgbClr val="1517EC"/>
                  </a:solidFill>
                  <a:latin typeface="Arial Narrow"/>
                </a:rPr>
                <a:t>Streaming Multi-Shot 4D Human-Scene Reconstruction from Monocular Video</a:t>
              </a:r>
            </a:p>
          </p:txBody>
        </p:sp>
      </p:grpSp>
      <p:grpSp>
        <p:nvGrpSpPr>
          <p:cNvPr id="15" name="02 Top shots — original frame 2 from each supplied row"/>
          <p:cNvGrpSpPr/>
          <p:nvPr/>
        </p:nvGrpSpPr>
        <p:grpSpPr>
          <a:xfrm>
            <a:off x="320040" y="630936"/>
            <a:ext cx="14538960" cy="2167128"/>
            <a:chOff x="320040" y="630936"/>
            <a:chExt cx="14538960" cy="2167128"/>
          </a:xfrm>
        </p:grpSpPr>
        <p:grpSp>
          <p:nvGrpSpPr>
            <p:cNvPr id="16" name="Top Shot 1"/>
            <p:cNvGrpSpPr/>
            <p:nvPr/>
          </p:nvGrpSpPr>
          <p:grpSpPr>
            <a:xfrm>
              <a:off x="320040" y="630936"/>
              <a:ext cx="4160520" cy="2167128"/>
              <a:chOff x="320040" y="630936"/>
              <a:chExt cx="4160520" cy="2167128"/>
            </a:xfrm>
          </p:grpSpPr>
          <p:pic>
            <p:nvPicPr>
              <p:cNvPr id="17" name="top-shot-1-original-frame-2" descr="shot_1_frame_2.png"/>
              <p:cNvPicPr>
                <a:picLocks noChangeAspect="1"/>
              </p:cNvPicPr>
              <p:nvPr/>
            </p:nvPicPr>
            <p:blipFill>
              <a:blip r:embed="rId2"/>
              <a:srcRect t="3700" b="3700"/>
              <a:stretch>
                <a:fillRect/>
              </a:stretch>
            </p:blipFill>
            <p:spPr>
              <a:xfrm>
                <a:off x="320040" y="630936"/>
                <a:ext cx="4160520" cy="2167128"/>
              </a:xfrm>
              <a:prstGeom prst="roundRect">
                <a:avLst>
                  <a:gd name="adj" fmla="val 4219"/>
                </a:avLst>
              </a:prstGeom>
              <a:effectLst/>
            </p:spPr>
          </p:pic>
          <p:sp>
            <p:nvSpPr>
              <p:cNvPr id="18" name="top-shot-1-tag"/>
              <p:cNvSpPr/>
              <p:nvPr/>
            </p:nvSpPr>
            <p:spPr>
              <a:xfrm>
                <a:off x="320040" y="630936"/>
                <a:ext cx="1344168" cy="338328"/>
              </a:xfrm>
              <a:prstGeom prst="roundRect">
                <a:avLst>
                  <a:gd name="adj" fmla="val 21621"/>
                </a:avLst>
              </a:prstGeom>
              <a:solidFill>
                <a:srgbClr val="CEE6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" name="top-shot-1-label"/>
              <p:cNvSpPr txBox="1"/>
              <p:nvPr/>
            </p:nvSpPr>
            <p:spPr>
              <a:xfrm>
                <a:off x="411480" y="640080"/>
                <a:ext cx="1179576" cy="310896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noAutofit/>
              </a:bodyPr>
              <a:lstStyle/>
              <a:p>
                <a:pPr algn="ctr">
                  <a:lnSpc>
                    <a:spcPts val="19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800" b="0">
                    <a:solidFill>
                      <a:srgbClr val="1517EC"/>
                    </a:solidFill>
                    <a:latin typeface="Arial Narrow"/>
                  </a:rPr>
                  <a:t>Shot 1 · 0°</a:t>
                </a:r>
              </a:p>
            </p:txBody>
          </p:sp>
        </p:grpSp>
        <p:grpSp>
          <p:nvGrpSpPr>
            <p:cNvPr id="20" name="Top Shot 2"/>
            <p:cNvGrpSpPr/>
            <p:nvPr/>
          </p:nvGrpSpPr>
          <p:grpSpPr>
            <a:xfrm>
              <a:off x="5577840" y="630936"/>
              <a:ext cx="4023360" cy="2167128"/>
              <a:chOff x="5577840" y="630936"/>
              <a:chExt cx="4023360" cy="2167128"/>
            </a:xfrm>
          </p:grpSpPr>
          <p:pic>
            <p:nvPicPr>
              <p:cNvPr id="21" name="top-shot-2-original-frame-2" descr="shot_2_frame_2.png"/>
              <p:cNvPicPr>
                <a:picLocks noChangeAspect="1"/>
              </p:cNvPicPr>
              <p:nvPr/>
            </p:nvPicPr>
            <p:blipFill>
              <a:blip r:embed="rId3"/>
              <a:srcRect t="2121" b="2121"/>
              <a:stretch>
                <a:fillRect/>
              </a:stretch>
            </p:blipFill>
            <p:spPr>
              <a:xfrm>
                <a:off x="5577840" y="630936"/>
                <a:ext cx="4023360" cy="2167128"/>
              </a:xfrm>
              <a:prstGeom prst="roundRect">
                <a:avLst>
                  <a:gd name="adj" fmla="val 4219"/>
                </a:avLst>
              </a:prstGeom>
              <a:effectLst/>
            </p:spPr>
          </p:pic>
          <p:sp>
            <p:nvSpPr>
              <p:cNvPr id="22" name="top-shot-2-tag"/>
              <p:cNvSpPr/>
              <p:nvPr/>
            </p:nvSpPr>
            <p:spPr>
              <a:xfrm>
                <a:off x="5577840" y="630936"/>
                <a:ext cx="1344168" cy="338328"/>
              </a:xfrm>
              <a:prstGeom prst="roundRect">
                <a:avLst>
                  <a:gd name="adj" fmla="val 21621"/>
                </a:avLst>
              </a:prstGeom>
              <a:solidFill>
                <a:srgbClr val="FFEBDD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" name="top-shot-2-label"/>
              <p:cNvSpPr txBox="1"/>
              <p:nvPr/>
            </p:nvSpPr>
            <p:spPr>
              <a:xfrm>
                <a:off x="5669280" y="640080"/>
                <a:ext cx="1179576" cy="310896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noAutofit/>
              </a:bodyPr>
              <a:lstStyle/>
              <a:p>
                <a:pPr algn="ctr">
                  <a:lnSpc>
                    <a:spcPts val="19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800" b="0">
                    <a:solidFill>
                      <a:srgbClr val="1517EC"/>
                    </a:solidFill>
                    <a:latin typeface="Arial Narrow"/>
                  </a:rPr>
                  <a:t>Shot 2 · 99°</a:t>
                </a:r>
              </a:p>
            </p:txBody>
          </p:sp>
        </p:grpSp>
        <p:grpSp>
          <p:nvGrpSpPr>
            <p:cNvPr id="24" name="Top Shot 3"/>
            <p:cNvGrpSpPr/>
            <p:nvPr/>
          </p:nvGrpSpPr>
          <p:grpSpPr>
            <a:xfrm>
              <a:off x="10698480" y="630936"/>
              <a:ext cx="4160520" cy="2167128"/>
              <a:chOff x="10698480" y="630936"/>
              <a:chExt cx="4160520" cy="2167128"/>
            </a:xfrm>
          </p:grpSpPr>
          <p:pic>
            <p:nvPicPr>
              <p:cNvPr id="25" name="top-shot-3-original-frame-2" descr="shot_3_frame_2.png"/>
              <p:cNvPicPr>
                <a:picLocks noChangeAspect="1"/>
              </p:cNvPicPr>
              <p:nvPr/>
            </p:nvPicPr>
            <p:blipFill>
              <a:blip r:embed="rId4"/>
              <a:srcRect t="3700" b="3700"/>
              <a:stretch>
                <a:fillRect/>
              </a:stretch>
            </p:blipFill>
            <p:spPr>
              <a:xfrm>
                <a:off x="10698480" y="630936"/>
                <a:ext cx="4160520" cy="2167128"/>
              </a:xfrm>
              <a:prstGeom prst="roundRect">
                <a:avLst>
                  <a:gd name="adj" fmla="val 4219"/>
                </a:avLst>
              </a:prstGeom>
              <a:effectLst/>
            </p:spPr>
          </p:pic>
          <p:sp>
            <p:nvSpPr>
              <p:cNvPr id="26" name="top-shot-3-tag"/>
              <p:cNvSpPr/>
              <p:nvPr/>
            </p:nvSpPr>
            <p:spPr>
              <a:xfrm>
                <a:off x="10698480" y="630936"/>
                <a:ext cx="1527048" cy="338328"/>
              </a:xfrm>
              <a:prstGeom prst="roundRect">
                <a:avLst>
                  <a:gd name="adj" fmla="val 21621"/>
                </a:avLst>
              </a:prstGeom>
              <a:solidFill>
                <a:srgbClr val="FFDEE5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" name="top-shot-3-label"/>
              <p:cNvSpPr txBox="1"/>
              <p:nvPr/>
            </p:nvSpPr>
            <p:spPr>
              <a:xfrm>
                <a:off x="10789920" y="640080"/>
                <a:ext cx="1380744" cy="310896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noAutofit/>
              </a:bodyPr>
              <a:lstStyle/>
              <a:p>
                <a:pPr algn="ctr">
                  <a:lnSpc>
                    <a:spcPts val="19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800" b="0">
                    <a:solidFill>
                      <a:srgbClr val="ED151B"/>
                    </a:solidFill>
                    <a:latin typeface="Arial Narrow"/>
                  </a:rPr>
                  <a:t>Shot 3 · 177°</a:t>
                </a:r>
              </a:p>
            </p:txBody>
          </p:sp>
        </p:grpSp>
        <p:grpSp>
          <p:nvGrpSpPr>
            <p:cNvPr id="28" name="Top cut 1"/>
            <p:cNvGrpSpPr/>
            <p:nvPr/>
          </p:nvGrpSpPr>
          <p:grpSpPr>
            <a:xfrm>
              <a:off x="4663440" y="1298448"/>
              <a:ext cx="877824" cy="731520"/>
              <a:chOff x="4663440" y="1298448"/>
              <a:chExt cx="877824" cy="731520"/>
            </a:xfrm>
          </p:grpSpPr>
          <p:sp>
            <p:nvSpPr>
              <p:cNvPr id="29" name="top-cut-1-curved-arrow"/>
              <p:cNvSpPr/>
              <p:nvPr/>
            </p:nvSpPr>
            <p:spPr>
              <a:xfrm>
                <a:off x="4663440" y="1298448"/>
                <a:ext cx="877824" cy="219456"/>
              </a:xfrm>
              <a:custGeom>
                <a:avLst/>
                <a:gdLst/>
                <a:ahLst/>
                <a:cxnLst/>
                <a:rect l="l" t="t" r="r" b="b"/>
                <a:pathLst>
                  <a:path w="96" h="24">
                    <a:moveTo>
                      <a:pt x="0" y="18"/>
                    </a:moveTo>
                    <a:lnTo>
                      <a:pt x="3" y="16"/>
                    </a:lnTo>
                    <a:lnTo>
                      <a:pt x="6" y="13"/>
                    </a:lnTo>
                    <a:lnTo>
                      <a:pt x="9" y="11"/>
                    </a:lnTo>
                    <a:lnTo>
                      <a:pt x="12" y="9"/>
                    </a:lnTo>
                    <a:lnTo>
                      <a:pt x="16" y="7"/>
                    </a:lnTo>
                    <a:lnTo>
                      <a:pt x="19" y="6"/>
                    </a:lnTo>
                    <a:lnTo>
                      <a:pt x="22" y="5"/>
                    </a:lnTo>
                    <a:lnTo>
                      <a:pt x="25" y="3"/>
                    </a:lnTo>
                    <a:lnTo>
                      <a:pt x="28" y="2"/>
                    </a:lnTo>
                    <a:lnTo>
                      <a:pt x="31" y="2"/>
                    </a:lnTo>
                    <a:lnTo>
                      <a:pt x="34" y="1"/>
                    </a:lnTo>
                    <a:lnTo>
                      <a:pt x="38" y="0"/>
                    </a:lnTo>
                    <a:lnTo>
                      <a:pt x="41" y="0"/>
                    </a:lnTo>
                    <a:lnTo>
                      <a:pt x="44" y="0"/>
                    </a:lnTo>
                    <a:lnTo>
                      <a:pt x="47" y="0"/>
                    </a:lnTo>
                    <a:lnTo>
                      <a:pt x="50" y="1"/>
                    </a:lnTo>
                    <a:lnTo>
                      <a:pt x="53" y="1"/>
                    </a:lnTo>
                    <a:lnTo>
                      <a:pt x="57" y="2"/>
                    </a:lnTo>
                    <a:lnTo>
                      <a:pt x="60" y="3"/>
                    </a:lnTo>
                    <a:lnTo>
                      <a:pt x="63" y="4"/>
                    </a:lnTo>
                    <a:lnTo>
                      <a:pt x="66" y="5"/>
                    </a:lnTo>
                    <a:lnTo>
                      <a:pt x="70" y="7"/>
                    </a:lnTo>
                    <a:lnTo>
                      <a:pt x="73" y="8"/>
                    </a:lnTo>
                    <a:lnTo>
                      <a:pt x="76" y="10"/>
                    </a:lnTo>
                    <a:lnTo>
                      <a:pt x="80" y="0"/>
                    </a:lnTo>
                    <a:lnTo>
                      <a:pt x="96" y="23"/>
                    </a:lnTo>
                    <a:lnTo>
                      <a:pt x="66" y="19"/>
                    </a:lnTo>
                    <a:lnTo>
                      <a:pt x="73" y="14"/>
                    </a:lnTo>
                    <a:lnTo>
                      <a:pt x="73" y="14"/>
                    </a:lnTo>
                    <a:lnTo>
                      <a:pt x="70" y="13"/>
                    </a:lnTo>
                    <a:lnTo>
                      <a:pt x="66" y="11"/>
                    </a:lnTo>
                    <a:lnTo>
                      <a:pt x="63" y="10"/>
                    </a:lnTo>
                    <a:lnTo>
                      <a:pt x="60" y="9"/>
                    </a:lnTo>
                    <a:lnTo>
                      <a:pt x="57" y="8"/>
                    </a:lnTo>
                    <a:lnTo>
                      <a:pt x="53" y="7"/>
                    </a:lnTo>
                    <a:lnTo>
                      <a:pt x="50" y="7"/>
                    </a:lnTo>
                    <a:lnTo>
                      <a:pt x="47" y="6"/>
                    </a:lnTo>
                    <a:lnTo>
                      <a:pt x="44" y="6"/>
                    </a:lnTo>
                    <a:lnTo>
                      <a:pt x="41" y="6"/>
                    </a:lnTo>
                    <a:lnTo>
                      <a:pt x="38" y="6"/>
                    </a:lnTo>
                    <a:lnTo>
                      <a:pt x="34" y="7"/>
                    </a:lnTo>
                    <a:lnTo>
                      <a:pt x="31" y="8"/>
                    </a:lnTo>
                    <a:lnTo>
                      <a:pt x="28" y="8"/>
                    </a:lnTo>
                    <a:lnTo>
                      <a:pt x="25" y="9"/>
                    </a:lnTo>
                    <a:lnTo>
                      <a:pt x="22" y="11"/>
                    </a:lnTo>
                    <a:lnTo>
                      <a:pt x="19" y="12"/>
                    </a:lnTo>
                    <a:lnTo>
                      <a:pt x="16" y="13"/>
                    </a:lnTo>
                    <a:lnTo>
                      <a:pt x="12" y="15"/>
                    </a:lnTo>
                    <a:lnTo>
                      <a:pt x="9" y="17"/>
                    </a:lnTo>
                    <a:lnTo>
                      <a:pt x="6" y="19"/>
                    </a:lnTo>
                    <a:lnTo>
                      <a:pt x="3" y="22"/>
                    </a:lnTo>
                    <a:lnTo>
                      <a:pt x="0" y="24"/>
                    </a:lnTo>
                    <a:close/>
                  </a:path>
                </a:pathLst>
              </a:custGeom>
              <a:solidFill>
                <a:srgbClr val="FF5A1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" name="top-cut-1-CUT-arrow"/>
              <p:cNvSpPr/>
              <p:nvPr/>
            </p:nvSpPr>
            <p:spPr>
              <a:xfrm>
                <a:off x="4709160" y="1627632"/>
                <a:ext cx="822960" cy="402336"/>
              </a:xfrm>
              <a:custGeom>
                <a:avLst/>
                <a:gdLst/>
                <a:ahLst/>
                <a:cxnLst/>
                <a:rect l="l" t="t" r="r" b="b"/>
                <a:pathLst>
                  <a:path w="90" h="44">
                    <a:moveTo>
                      <a:pt x="0" y="0"/>
                    </a:moveTo>
                    <a:lnTo>
                      <a:pt x="70" y="0"/>
                    </a:lnTo>
                    <a:lnTo>
                      <a:pt x="90" y="22"/>
                    </a:lnTo>
                    <a:lnTo>
                      <a:pt x="70" y="44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rgbClr val="FF5A1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" name="top-cut-1-CUT-text"/>
              <p:cNvSpPr txBox="1"/>
              <p:nvPr/>
            </p:nvSpPr>
            <p:spPr>
              <a:xfrm>
                <a:off x="4727448" y="1655064"/>
                <a:ext cx="603504" cy="347472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noAutofit/>
              </a:bodyPr>
              <a:lstStyle/>
              <a:p>
                <a:pPr algn="ctr">
                  <a:lnSpc>
                    <a:spcPts val="2217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2016" b="0">
                    <a:solidFill>
                      <a:srgbClr val="FFFFFF"/>
                    </a:solidFill>
                    <a:latin typeface="Arial Narrow"/>
                  </a:rPr>
                  <a:t>CUT</a:t>
                </a:r>
              </a:p>
            </p:txBody>
          </p:sp>
        </p:grpSp>
        <p:grpSp>
          <p:nvGrpSpPr>
            <p:cNvPr id="32" name="Top cut 2"/>
            <p:cNvGrpSpPr/>
            <p:nvPr/>
          </p:nvGrpSpPr>
          <p:grpSpPr>
            <a:xfrm>
              <a:off x="9710928" y="1298448"/>
              <a:ext cx="877824" cy="731520"/>
              <a:chOff x="9710928" y="1298448"/>
              <a:chExt cx="877824" cy="731520"/>
            </a:xfrm>
          </p:grpSpPr>
          <p:sp>
            <p:nvSpPr>
              <p:cNvPr id="33" name="top-cut-2-curved-arrow"/>
              <p:cNvSpPr/>
              <p:nvPr/>
            </p:nvSpPr>
            <p:spPr>
              <a:xfrm>
                <a:off x="9710928" y="1298448"/>
                <a:ext cx="877824" cy="219456"/>
              </a:xfrm>
              <a:custGeom>
                <a:avLst/>
                <a:gdLst/>
                <a:ahLst/>
                <a:cxnLst/>
                <a:rect l="l" t="t" r="r" b="b"/>
                <a:pathLst>
                  <a:path w="96" h="24">
                    <a:moveTo>
                      <a:pt x="0" y="18"/>
                    </a:moveTo>
                    <a:lnTo>
                      <a:pt x="3" y="16"/>
                    </a:lnTo>
                    <a:lnTo>
                      <a:pt x="6" y="13"/>
                    </a:lnTo>
                    <a:lnTo>
                      <a:pt x="9" y="11"/>
                    </a:lnTo>
                    <a:lnTo>
                      <a:pt x="12" y="9"/>
                    </a:lnTo>
                    <a:lnTo>
                      <a:pt x="16" y="7"/>
                    </a:lnTo>
                    <a:lnTo>
                      <a:pt x="19" y="6"/>
                    </a:lnTo>
                    <a:lnTo>
                      <a:pt x="22" y="5"/>
                    </a:lnTo>
                    <a:lnTo>
                      <a:pt x="25" y="3"/>
                    </a:lnTo>
                    <a:lnTo>
                      <a:pt x="28" y="2"/>
                    </a:lnTo>
                    <a:lnTo>
                      <a:pt x="31" y="2"/>
                    </a:lnTo>
                    <a:lnTo>
                      <a:pt x="34" y="1"/>
                    </a:lnTo>
                    <a:lnTo>
                      <a:pt x="38" y="0"/>
                    </a:lnTo>
                    <a:lnTo>
                      <a:pt x="41" y="0"/>
                    </a:lnTo>
                    <a:lnTo>
                      <a:pt x="44" y="0"/>
                    </a:lnTo>
                    <a:lnTo>
                      <a:pt x="47" y="0"/>
                    </a:lnTo>
                    <a:lnTo>
                      <a:pt x="50" y="1"/>
                    </a:lnTo>
                    <a:lnTo>
                      <a:pt x="53" y="1"/>
                    </a:lnTo>
                    <a:lnTo>
                      <a:pt x="57" y="2"/>
                    </a:lnTo>
                    <a:lnTo>
                      <a:pt x="60" y="3"/>
                    </a:lnTo>
                    <a:lnTo>
                      <a:pt x="63" y="4"/>
                    </a:lnTo>
                    <a:lnTo>
                      <a:pt x="66" y="5"/>
                    </a:lnTo>
                    <a:lnTo>
                      <a:pt x="70" y="7"/>
                    </a:lnTo>
                    <a:lnTo>
                      <a:pt x="73" y="8"/>
                    </a:lnTo>
                    <a:lnTo>
                      <a:pt x="76" y="10"/>
                    </a:lnTo>
                    <a:lnTo>
                      <a:pt x="80" y="0"/>
                    </a:lnTo>
                    <a:lnTo>
                      <a:pt x="96" y="23"/>
                    </a:lnTo>
                    <a:lnTo>
                      <a:pt x="66" y="19"/>
                    </a:lnTo>
                    <a:lnTo>
                      <a:pt x="73" y="14"/>
                    </a:lnTo>
                    <a:lnTo>
                      <a:pt x="73" y="14"/>
                    </a:lnTo>
                    <a:lnTo>
                      <a:pt x="70" y="13"/>
                    </a:lnTo>
                    <a:lnTo>
                      <a:pt x="66" y="11"/>
                    </a:lnTo>
                    <a:lnTo>
                      <a:pt x="63" y="10"/>
                    </a:lnTo>
                    <a:lnTo>
                      <a:pt x="60" y="9"/>
                    </a:lnTo>
                    <a:lnTo>
                      <a:pt x="57" y="8"/>
                    </a:lnTo>
                    <a:lnTo>
                      <a:pt x="53" y="7"/>
                    </a:lnTo>
                    <a:lnTo>
                      <a:pt x="50" y="7"/>
                    </a:lnTo>
                    <a:lnTo>
                      <a:pt x="47" y="6"/>
                    </a:lnTo>
                    <a:lnTo>
                      <a:pt x="44" y="6"/>
                    </a:lnTo>
                    <a:lnTo>
                      <a:pt x="41" y="6"/>
                    </a:lnTo>
                    <a:lnTo>
                      <a:pt x="38" y="6"/>
                    </a:lnTo>
                    <a:lnTo>
                      <a:pt x="34" y="7"/>
                    </a:lnTo>
                    <a:lnTo>
                      <a:pt x="31" y="8"/>
                    </a:lnTo>
                    <a:lnTo>
                      <a:pt x="28" y="8"/>
                    </a:lnTo>
                    <a:lnTo>
                      <a:pt x="25" y="9"/>
                    </a:lnTo>
                    <a:lnTo>
                      <a:pt x="22" y="11"/>
                    </a:lnTo>
                    <a:lnTo>
                      <a:pt x="19" y="12"/>
                    </a:lnTo>
                    <a:lnTo>
                      <a:pt x="16" y="13"/>
                    </a:lnTo>
                    <a:lnTo>
                      <a:pt x="12" y="15"/>
                    </a:lnTo>
                    <a:lnTo>
                      <a:pt x="9" y="17"/>
                    </a:lnTo>
                    <a:lnTo>
                      <a:pt x="6" y="19"/>
                    </a:lnTo>
                    <a:lnTo>
                      <a:pt x="3" y="22"/>
                    </a:lnTo>
                    <a:lnTo>
                      <a:pt x="0" y="24"/>
                    </a:lnTo>
                    <a:close/>
                  </a:path>
                </a:pathLst>
              </a:custGeom>
              <a:solidFill>
                <a:srgbClr val="FF5A1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" name="top-cut-2-CUT-arrow"/>
              <p:cNvSpPr/>
              <p:nvPr/>
            </p:nvSpPr>
            <p:spPr>
              <a:xfrm>
                <a:off x="9756648" y="1627632"/>
                <a:ext cx="822960" cy="402336"/>
              </a:xfrm>
              <a:custGeom>
                <a:avLst/>
                <a:gdLst/>
                <a:ahLst/>
                <a:cxnLst/>
                <a:rect l="l" t="t" r="r" b="b"/>
                <a:pathLst>
                  <a:path w="90" h="44">
                    <a:moveTo>
                      <a:pt x="0" y="0"/>
                    </a:moveTo>
                    <a:lnTo>
                      <a:pt x="70" y="0"/>
                    </a:lnTo>
                    <a:lnTo>
                      <a:pt x="90" y="22"/>
                    </a:lnTo>
                    <a:lnTo>
                      <a:pt x="70" y="44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rgbClr val="FF5A1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5" name="top-cut-2-CUT-text"/>
              <p:cNvSpPr txBox="1"/>
              <p:nvPr/>
            </p:nvSpPr>
            <p:spPr>
              <a:xfrm>
                <a:off x="9774936" y="1655064"/>
                <a:ext cx="603504" cy="347472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noAutofit/>
              </a:bodyPr>
              <a:lstStyle/>
              <a:p>
                <a:pPr algn="ctr">
                  <a:lnSpc>
                    <a:spcPts val="2217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2016" b="0">
                    <a:solidFill>
                      <a:srgbClr val="FFFFFF"/>
                    </a:solidFill>
                    <a:latin typeface="Arial Narrow"/>
                  </a:rPr>
                  <a:t>CUT</a:t>
                </a:r>
              </a:p>
            </p:txBody>
          </p:sp>
        </p:grpSp>
      </p:grpSp>
      <p:grpSp>
        <p:nvGrpSpPr>
          <p:cNvPr id="36" name="03 Reconstruction — separate raster layers, not 3D meshes"/>
          <p:cNvGrpSpPr/>
          <p:nvPr/>
        </p:nvGrpSpPr>
        <p:grpSpPr>
          <a:xfrm>
            <a:off x="1325880" y="2816352"/>
            <a:ext cx="11942064" cy="3941064"/>
            <a:chOff x="1325880" y="2816352"/>
            <a:chExt cx="11942064" cy="3941064"/>
          </a:xfrm>
        </p:grpSpPr>
        <p:pic>
          <p:nvPicPr>
            <p:cNvPr id="37" name="pointcloud_background" descr="pointcloud_background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325880" y="2816352"/>
              <a:ext cx="11942064" cy="3941064"/>
            </a:xfrm>
            <a:prstGeom prst="rect">
              <a:avLst/>
            </a:prstGeom>
            <a:effectLst/>
          </p:spPr>
        </p:pic>
        <p:pic>
          <p:nvPicPr>
            <p:cNvPr id="38" name="blocks_render" descr="blocks_render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309360" y="4992624"/>
              <a:ext cx="2350008" cy="996696"/>
            </a:xfrm>
            <a:prstGeom prst="rect">
              <a:avLst/>
            </a:prstGeom>
            <a:effectLst/>
          </p:spPr>
        </p:pic>
        <p:pic>
          <p:nvPicPr>
            <p:cNvPr id="39" name="human_lavender_motion" descr="human_lavender_motion.pn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413248" y="3886200"/>
              <a:ext cx="1636776" cy="2267712"/>
            </a:xfrm>
            <a:prstGeom prst="rect">
              <a:avLst/>
            </a:prstGeom>
            <a:effectLst/>
          </p:spPr>
        </p:pic>
        <p:pic>
          <p:nvPicPr>
            <p:cNvPr id="40" name="human_coral_motion" descr="human_coral_motion.png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7095744" y="3739896"/>
              <a:ext cx="1298448" cy="1517904"/>
            </a:xfrm>
            <a:prstGeom prst="rect">
              <a:avLst/>
            </a:prstGeom>
            <a:effectLst/>
          </p:spPr>
        </p:pic>
        <p:pic>
          <p:nvPicPr>
            <p:cNvPr id="41" name="human_cyan_motion" descr="human_cyan_motion.png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8631936" y="4187952"/>
              <a:ext cx="1554480" cy="2194560"/>
            </a:xfrm>
            <a:prstGeom prst="rect">
              <a:avLst/>
            </a:prstGeom>
            <a:effectLst/>
          </p:spPr>
        </p:pic>
      </p:grpSp>
      <p:grpSp>
        <p:nvGrpSpPr>
          <p:cNvPr id="42" name="04 World-frame labels and editable vector cameras"/>
          <p:cNvGrpSpPr/>
          <p:nvPr/>
        </p:nvGrpSpPr>
        <p:grpSpPr>
          <a:xfrm>
            <a:off x="219456" y="3941064"/>
            <a:ext cx="14895576" cy="2706624"/>
            <a:chOff x="219456" y="3941064"/>
            <a:chExt cx="14895576" cy="2706624"/>
          </a:xfrm>
        </p:grpSpPr>
        <p:sp>
          <p:nvSpPr>
            <p:cNvPr id="43" name="world-frame-title"/>
            <p:cNvSpPr txBox="1"/>
            <p:nvPr/>
          </p:nvSpPr>
          <p:spPr>
            <a:xfrm>
              <a:off x="219456" y="3941064"/>
              <a:ext cx="1947672" cy="630936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ts val="230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160" b="0">
                  <a:solidFill>
                    <a:srgbClr val="1517EC"/>
                  </a:solidFill>
                  <a:latin typeface="Arial Narrow"/>
                </a:rPr>
                <a:t>World-frame</a:t>
              </a:r>
            </a:p>
            <a:p>
              <a:pPr algn="l">
                <a:lnSpc>
                  <a:spcPts val="230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160" b="0">
                  <a:solidFill>
                    <a:srgbClr val="1517EC"/>
                  </a:solidFill>
                  <a:latin typeface="Arial Narrow"/>
                </a:rPr>
                <a:t>reconstruction</a:t>
              </a:r>
            </a:p>
          </p:txBody>
        </p:sp>
        <p:sp>
          <p:nvSpPr>
            <p:cNvPr id="44" name="world-frame-summary"/>
            <p:cNvSpPr txBox="1"/>
            <p:nvPr/>
          </p:nvSpPr>
          <p:spPr>
            <a:xfrm>
              <a:off x="13075920" y="3968496"/>
              <a:ext cx="2039112" cy="630936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ts val="230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160" b="0">
                  <a:solidFill>
                    <a:srgbClr val="1517EC"/>
                  </a:solidFill>
                  <a:latin typeface="Arial Narrow"/>
                </a:rPr>
                <a:t>3 shots · 2 cuts ·</a:t>
              </a:r>
            </a:p>
            <a:p>
              <a:pPr algn="ctr">
                <a:lnSpc>
                  <a:spcPts val="230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160" b="0">
                  <a:solidFill>
                    <a:srgbClr val="1517EC"/>
                  </a:solidFill>
                  <a:latin typeface="Arial Narrow"/>
                </a:rPr>
                <a:t>1 world frame.</a:t>
              </a:r>
            </a:p>
          </p:txBody>
        </p:sp>
        <p:grpSp>
          <p:nvGrpSpPr>
            <p:cNvPr id="45" name="Camera — 0 degrees"/>
            <p:cNvGrpSpPr/>
            <p:nvPr/>
          </p:nvGrpSpPr>
          <p:grpSpPr>
            <a:xfrm>
              <a:off x="1554480" y="4507992"/>
              <a:ext cx="1316736" cy="713232"/>
              <a:chOff x="1554480" y="4507992"/>
              <a:chExt cx="1316736" cy="713232"/>
            </a:xfrm>
          </p:grpSpPr>
          <p:sp>
            <p:nvSpPr>
              <p:cNvPr id="46" name="cam0-front-plane"/>
              <p:cNvSpPr/>
              <p:nvPr/>
            </p:nvSpPr>
            <p:spPr>
              <a:xfrm>
                <a:off x="2487168" y="4507992"/>
                <a:ext cx="384048" cy="630936"/>
              </a:xfrm>
              <a:custGeom>
                <a:avLst/>
                <a:gdLst/>
                <a:ahLst/>
                <a:cxnLst/>
                <a:rect l="l" t="t" r="r" b="b"/>
                <a:pathLst>
                  <a:path w="42" h="69">
                    <a:moveTo>
                      <a:pt x="0" y="16"/>
                    </a:moveTo>
                    <a:lnTo>
                      <a:pt x="37" y="0"/>
                    </a:lnTo>
                    <a:lnTo>
                      <a:pt x="42" y="55"/>
                    </a:lnTo>
                    <a:lnTo>
                      <a:pt x="6" y="69"/>
                    </a:lnTo>
                    <a:close/>
                  </a:path>
                </a:pathLst>
              </a:custGeom>
              <a:solidFill>
                <a:srgbClr val="DDE3FF">
                  <a:alpha val="80000"/>
                </a:srgbClr>
              </a:solidFill>
              <a:ln w="22859" cap="rnd">
                <a:solidFill>
                  <a:srgbClr val="1517EC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7" name="cam0-body-frustum"/>
              <p:cNvSpPr/>
              <p:nvPr/>
            </p:nvSpPr>
            <p:spPr>
              <a:xfrm>
                <a:off x="2029968" y="4654296"/>
                <a:ext cx="512064" cy="484632"/>
              </a:xfrm>
              <a:custGeom>
                <a:avLst/>
                <a:gdLst/>
                <a:ahLst/>
                <a:cxnLst/>
                <a:rect l="l" t="t" r="r" b="b"/>
                <a:pathLst>
                  <a:path w="56" h="53">
                    <a:moveTo>
                      <a:pt x="0" y="37"/>
                    </a:moveTo>
                    <a:lnTo>
                      <a:pt x="50" y="0"/>
                    </a:lnTo>
                    <a:lnTo>
                      <a:pt x="56" y="53"/>
                    </a:lnTo>
                    <a:close/>
                  </a:path>
                </a:pathLst>
              </a:custGeom>
              <a:solidFill>
                <a:srgbClr val="CFD7FF">
                  <a:alpha val="65000"/>
                </a:srgbClr>
              </a:solidFill>
              <a:ln w="22859" cap="rnd">
                <a:solidFill>
                  <a:srgbClr val="1517EC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cxnSp>
            <p:nvCxnSpPr>
              <p:cNvPr id="48" name="cam0-upper-ray"/>
              <p:cNvCxnSpPr/>
              <p:nvPr/>
            </p:nvCxnSpPr>
            <p:spPr>
              <a:xfrm flipV="1">
                <a:off x="2029968" y="4507992"/>
                <a:ext cx="795528" cy="484632"/>
              </a:xfrm>
              <a:prstGeom prst="line">
                <a:avLst/>
              </a:prstGeom>
              <a:ln w="19202" cap="rnd">
                <a:solidFill>
                  <a:srgbClr val="1517EC"/>
                </a:solidFill>
                <a:round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cam0-lower-ray"/>
              <p:cNvCxnSpPr/>
              <p:nvPr/>
            </p:nvCxnSpPr>
            <p:spPr>
              <a:xfrm>
                <a:off x="2029968" y="4992624"/>
                <a:ext cx="841248" cy="18288"/>
              </a:xfrm>
              <a:prstGeom prst="line">
                <a:avLst/>
              </a:prstGeom>
              <a:ln w="19202" cap="rnd">
                <a:solidFill>
                  <a:srgbClr val="1517EC"/>
                </a:solidFill>
                <a:round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cam0-divider"/>
              <p:cNvCxnSpPr/>
              <p:nvPr/>
            </p:nvCxnSpPr>
            <p:spPr>
              <a:xfrm>
                <a:off x="2487168" y="4654296"/>
                <a:ext cx="54864" cy="484632"/>
              </a:xfrm>
              <a:prstGeom prst="line">
                <a:avLst/>
              </a:prstGeom>
              <a:ln w="21945" cap="rnd">
                <a:solidFill>
                  <a:srgbClr val="1517EC"/>
                </a:solidFill>
                <a:round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1" name="cam0-angle"/>
              <p:cNvSpPr txBox="1"/>
              <p:nvPr/>
            </p:nvSpPr>
            <p:spPr>
              <a:xfrm>
                <a:off x="1554480" y="4855464"/>
                <a:ext cx="384048" cy="365760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noAutofit/>
              </a:bodyPr>
              <a:lstStyle/>
              <a:p>
                <a:pPr algn="l">
                  <a:lnSpc>
                    <a:spcPts val="2296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2088" b="0">
                    <a:solidFill>
                      <a:srgbClr val="1517EC"/>
                    </a:solidFill>
                    <a:latin typeface="Arial Narrow"/>
                  </a:rPr>
                  <a:t>0°</a:t>
                </a:r>
              </a:p>
            </p:txBody>
          </p:sp>
        </p:grpSp>
        <p:grpSp>
          <p:nvGrpSpPr>
            <p:cNvPr id="52" name="Camera — 177 degrees"/>
            <p:cNvGrpSpPr/>
            <p:nvPr/>
          </p:nvGrpSpPr>
          <p:grpSpPr>
            <a:xfrm>
              <a:off x="11987784" y="4736592"/>
              <a:ext cx="1682496" cy="768096"/>
              <a:chOff x="11987784" y="4736592"/>
              <a:chExt cx="1682496" cy="768096"/>
            </a:xfrm>
          </p:grpSpPr>
          <p:sp>
            <p:nvSpPr>
              <p:cNvPr id="53" name="cam177-front-plane"/>
              <p:cNvSpPr/>
              <p:nvPr/>
            </p:nvSpPr>
            <p:spPr>
              <a:xfrm>
                <a:off x="11987784" y="4736592"/>
                <a:ext cx="356616" cy="603504"/>
              </a:xfrm>
              <a:custGeom>
                <a:avLst/>
                <a:gdLst/>
                <a:ahLst/>
                <a:cxnLst/>
                <a:rect l="l" t="t" r="r" b="b"/>
                <a:pathLst>
                  <a:path w="39" h="66">
                    <a:moveTo>
                      <a:pt x="5" y="0"/>
                    </a:moveTo>
                    <a:lnTo>
                      <a:pt x="39" y="17"/>
                    </a:lnTo>
                    <a:lnTo>
                      <a:pt x="33" y="66"/>
                    </a:lnTo>
                    <a:lnTo>
                      <a:pt x="0" y="55"/>
                    </a:lnTo>
                    <a:close/>
                  </a:path>
                </a:pathLst>
              </a:custGeom>
              <a:solidFill>
                <a:srgbClr val="FFE3E3">
                  <a:alpha val="78000"/>
                </a:srgbClr>
              </a:solidFill>
              <a:ln w="21945" cap="rnd">
                <a:solidFill>
                  <a:srgbClr val="ED151B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4" name="cam177-body-frustum"/>
              <p:cNvSpPr/>
              <p:nvPr/>
            </p:nvSpPr>
            <p:spPr>
              <a:xfrm>
                <a:off x="12289536" y="4892040"/>
                <a:ext cx="539496" cy="448056"/>
              </a:xfrm>
              <a:custGeom>
                <a:avLst/>
                <a:gdLst/>
                <a:ahLst/>
                <a:cxnLst/>
                <a:rect l="l" t="t" r="r" b="b"/>
                <a:pathLst>
                  <a:path w="59" h="49">
                    <a:moveTo>
                      <a:pt x="6" y="0"/>
                    </a:moveTo>
                    <a:lnTo>
                      <a:pt x="59" y="38"/>
                    </a:lnTo>
                    <a:lnTo>
                      <a:pt x="0" y="49"/>
                    </a:lnTo>
                    <a:close/>
                  </a:path>
                </a:pathLst>
              </a:custGeom>
              <a:solidFill>
                <a:srgbClr val="FFE3E3">
                  <a:alpha val="65000"/>
                </a:srgbClr>
              </a:solidFill>
              <a:ln w="21945" cap="rnd">
                <a:solidFill>
                  <a:srgbClr val="ED151B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cxnSp>
            <p:nvCxnSpPr>
              <p:cNvPr id="55" name="cam177-upper-ray"/>
              <p:cNvCxnSpPr/>
              <p:nvPr/>
            </p:nvCxnSpPr>
            <p:spPr>
              <a:xfrm>
                <a:off x="12033504" y="4736592"/>
                <a:ext cx="795528" cy="502920"/>
              </a:xfrm>
              <a:prstGeom prst="line">
                <a:avLst/>
              </a:prstGeom>
              <a:ln w="18288" cap="rnd">
                <a:solidFill>
                  <a:srgbClr val="ED151B"/>
                </a:solidFill>
                <a:round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cam177-lower-ray"/>
              <p:cNvCxnSpPr/>
              <p:nvPr/>
            </p:nvCxnSpPr>
            <p:spPr>
              <a:xfrm>
                <a:off x="11987784" y="5239512"/>
                <a:ext cx="841248" cy="0"/>
              </a:xfrm>
              <a:prstGeom prst="line">
                <a:avLst/>
              </a:prstGeom>
              <a:ln w="18288" cap="rnd">
                <a:solidFill>
                  <a:srgbClr val="ED151B"/>
                </a:solidFill>
                <a:round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cam177-divider"/>
              <p:cNvCxnSpPr/>
              <p:nvPr/>
            </p:nvCxnSpPr>
            <p:spPr>
              <a:xfrm flipH="1">
                <a:off x="12289536" y="4892040"/>
                <a:ext cx="54864" cy="448056"/>
              </a:xfrm>
              <a:prstGeom prst="line">
                <a:avLst/>
              </a:prstGeom>
              <a:ln w="22859" cap="rnd">
                <a:solidFill>
                  <a:srgbClr val="ED151B"/>
                </a:solidFill>
                <a:round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8" name="cam177-angle"/>
              <p:cNvSpPr txBox="1"/>
              <p:nvPr/>
            </p:nvSpPr>
            <p:spPr>
              <a:xfrm>
                <a:off x="12975336" y="5129784"/>
                <a:ext cx="694944" cy="374904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noAutofit/>
              </a:bodyPr>
              <a:lstStyle/>
              <a:p>
                <a:pPr algn="l">
                  <a:lnSpc>
                    <a:spcPts val="2296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2088" b="0">
                    <a:solidFill>
                      <a:srgbClr val="ED151B"/>
                    </a:solidFill>
                    <a:latin typeface="Arial Narrow"/>
                  </a:rPr>
                  <a:t>177°</a:t>
                </a:r>
              </a:p>
            </p:txBody>
          </p:sp>
        </p:grpSp>
        <p:grpSp>
          <p:nvGrpSpPr>
            <p:cNvPr id="59" name="Camera — 99 degrees"/>
            <p:cNvGrpSpPr/>
            <p:nvPr/>
          </p:nvGrpSpPr>
          <p:grpSpPr>
            <a:xfrm>
              <a:off x="7260336" y="5614416"/>
              <a:ext cx="1243584" cy="1033272"/>
              <a:chOff x="7260336" y="5614416"/>
              <a:chExt cx="1243584" cy="1033272"/>
            </a:xfrm>
          </p:grpSpPr>
          <p:sp>
            <p:nvSpPr>
              <p:cNvPr id="60" name="cam99-left-plane"/>
              <p:cNvSpPr/>
              <p:nvPr/>
            </p:nvSpPr>
            <p:spPr>
              <a:xfrm>
                <a:off x="7260336" y="5614416"/>
                <a:ext cx="347472" cy="640080"/>
              </a:xfrm>
              <a:custGeom>
                <a:avLst/>
                <a:gdLst/>
                <a:ahLst/>
                <a:cxnLst/>
                <a:rect l="l" t="t" r="r" b="b"/>
                <a:pathLst>
                  <a:path w="38" h="70">
                    <a:moveTo>
                      <a:pt x="38" y="0"/>
                    </a:moveTo>
                    <a:lnTo>
                      <a:pt x="0" y="48"/>
                    </a:lnTo>
                    <a:lnTo>
                      <a:pt x="13" y="70"/>
                    </a:lnTo>
                    <a:lnTo>
                      <a:pt x="38" y="70"/>
                    </a:lnTo>
                    <a:close/>
                  </a:path>
                </a:pathLst>
              </a:custGeom>
              <a:solidFill>
                <a:srgbClr val="FFCEA7">
                  <a:alpha val="77000"/>
                </a:srgbClr>
              </a:solidFill>
              <a:ln w="19202" cap="rnd">
                <a:solidFill>
                  <a:srgbClr val="FF5A12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1" name="cam99-right-plane"/>
              <p:cNvSpPr/>
              <p:nvPr/>
            </p:nvSpPr>
            <p:spPr>
              <a:xfrm>
                <a:off x="7607808" y="5614416"/>
                <a:ext cx="356616" cy="640080"/>
              </a:xfrm>
              <a:custGeom>
                <a:avLst/>
                <a:gdLst/>
                <a:ahLst/>
                <a:cxnLst/>
                <a:rect l="l" t="t" r="r" b="b"/>
                <a:pathLst>
                  <a:path w="39" h="70">
                    <a:moveTo>
                      <a:pt x="0" y="0"/>
                    </a:moveTo>
                    <a:lnTo>
                      <a:pt x="39" y="48"/>
                    </a:lnTo>
                    <a:lnTo>
                      <a:pt x="25" y="70"/>
                    </a:lnTo>
                    <a:lnTo>
                      <a:pt x="0" y="70"/>
                    </a:lnTo>
                    <a:close/>
                  </a:path>
                </a:pathLst>
              </a:custGeom>
              <a:solidFill>
                <a:srgbClr val="FFDBB6">
                  <a:alpha val="72000"/>
                </a:srgbClr>
              </a:solidFill>
              <a:ln w="19202" cap="rnd">
                <a:solidFill>
                  <a:srgbClr val="FF5A12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2" name="cam99-front-plane"/>
              <p:cNvSpPr/>
              <p:nvPr/>
            </p:nvSpPr>
            <p:spPr>
              <a:xfrm>
                <a:off x="7260336" y="6053328"/>
                <a:ext cx="704088" cy="201168"/>
              </a:xfrm>
              <a:custGeom>
                <a:avLst/>
                <a:gdLst/>
                <a:ahLst/>
                <a:cxnLst/>
                <a:rect l="l" t="t" r="r" b="b"/>
                <a:pathLst>
                  <a:path w="77" h="22">
                    <a:moveTo>
                      <a:pt x="0" y="0"/>
                    </a:moveTo>
                    <a:lnTo>
                      <a:pt x="77" y="0"/>
                    </a:lnTo>
                    <a:lnTo>
                      <a:pt x="63" y="22"/>
                    </a:lnTo>
                    <a:lnTo>
                      <a:pt x="13" y="22"/>
                    </a:lnTo>
                    <a:close/>
                  </a:path>
                </a:pathLst>
              </a:custGeom>
              <a:solidFill>
                <a:srgbClr val="FFE5CF">
                  <a:alpha val="45000"/>
                </a:srgbClr>
              </a:solidFill>
              <a:ln w="16459" cap="rnd">
                <a:solidFill>
                  <a:srgbClr val="FF5A12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3" name="cam99-body"/>
              <p:cNvSpPr/>
              <p:nvPr/>
            </p:nvSpPr>
            <p:spPr>
              <a:xfrm>
                <a:off x="7434072" y="6345936"/>
                <a:ext cx="338328" cy="283464"/>
              </a:xfrm>
              <a:prstGeom prst="roundRect">
                <a:avLst>
                  <a:gd name="adj" fmla="val 9677"/>
                </a:avLst>
              </a:prstGeom>
              <a:solidFill>
                <a:srgbClr val="FF5A1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4" name="cam99-neck"/>
              <p:cNvSpPr/>
              <p:nvPr/>
            </p:nvSpPr>
            <p:spPr>
              <a:xfrm>
                <a:off x="7379208" y="6254496"/>
                <a:ext cx="457200" cy="118872"/>
              </a:xfrm>
              <a:custGeom>
                <a:avLst/>
                <a:gdLst/>
                <a:ahLst/>
                <a:cxnLst/>
                <a:rect l="l" t="t" r="r" b="b"/>
                <a:pathLst>
                  <a:path w="50" h="13">
                    <a:moveTo>
                      <a:pt x="0" y="0"/>
                    </a:moveTo>
                    <a:lnTo>
                      <a:pt x="50" y="0"/>
                    </a:lnTo>
                    <a:lnTo>
                      <a:pt x="43" y="13"/>
                    </a:lnTo>
                    <a:lnTo>
                      <a:pt x="6" y="13"/>
                    </a:lnTo>
                    <a:close/>
                  </a:path>
                </a:pathLst>
              </a:custGeom>
              <a:solidFill>
                <a:srgbClr val="FF5A1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5" name="cam99-angle"/>
              <p:cNvSpPr txBox="1"/>
              <p:nvPr/>
            </p:nvSpPr>
            <p:spPr>
              <a:xfrm>
                <a:off x="7900416" y="6263640"/>
                <a:ext cx="603504" cy="384048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noAutofit/>
              </a:bodyPr>
              <a:lstStyle/>
              <a:p>
                <a:pPr algn="l">
                  <a:lnSpc>
                    <a:spcPts val="2296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2088" b="0">
                    <a:solidFill>
                      <a:srgbClr val="FF5A12"/>
                    </a:solidFill>
                    <a:latin typeface="Arial Narrow"/>
                  </a:rPr>
                  <a:t>99°</a:t>
                </a:r>
              </a:p>
            </p:txBody>
          </p:sp>
        </p:grpSp>
        <p:grpSp>
          <p:nvGrpSpPr>
            <p:cNvPr id="66" name="World coordinate axes"/>
            <p:cNvGrpSpPr/>
            <p:nvPr/>
          </p:nvGrpSpPr>
          <p:grpSpPr>
            <a:xfrm>
              <a:off x="13908024" y="5440680"/>
              <a:ext cx="859536" cy="1042416"/>
              <a:chOff x="13908024" y="5440680"/>
              <a:chExt cx="859536" cy="1042416"/>
            </a:xfrm>
          </p:grpSpPr>
          <p:cxnSp>
            <p:nvCxnSpPr>
              <p:cNvPr id="67" name="axis-z"/>
              <p:cNvCxnSpPr/>
              <p:nvPr/>
            </p:nvCxnSpPr>
            <p:spPr>
              <a:xfrm flipV="1">
                <a:off x="13908024" y="5577840"/>
                <a:ext cx="0" cy="603504"/>
              </a:xfrm>
              <a:prstGeom prst="line">
                <a:avLst/>
              </a:prstGeom>
              <a:ln w="27432" cap="rnd">
                <a:solidFill>
                  <a:srgbClr val="1517EC"/>
                </a:solidFill>
                <a:round/>
                <a:tailEnd type="triangle" w="med" len="med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axis-y"/>
              <p:cNvCxnSpPr/>
              <p:nvPr/>
            </p:nvCxnSpPr>
            <p:spPr>
              <a:xfrm flipV="1">
                <a:off x="13908024" y="5925312"/>
                <a:ext cx="384048" cy="256032"/>
              </a:xfrm>
              <a:prstGeom prst="line">
                <a:avLst/>
              </a:prstGeom>
              <a:ln w="27432" cap="rnd">
                <a:solidFill>
                  <a:srgbClr val="009E43"/>
                </a:solidFill>
                <a:round/>
                <a:tailEnd type="triangle" w="med" len="med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" name="axis-x"/>
              <p:cNvCxnSpPr/>
              <p:nvPr/>
            </p:nvCxnSpPr>
            <p:spPr>
              <a:xfrm>
                <a:off x="13908024" y="6181344"/>
                <a:ext cx="576072" cy="155448"/>
              </a:xfrm>
              <a:prstGeom prst="line">
                <a:avLst/>
              </a:prstGeom>
              <a:ln w="27432" cap="rnd">
                <a:solidFill>
                  <a:srgbClr val="F21A22"/>
                </a:solidFill>
                <a:round/>
                <a:tailEnd type="triangle" w="med" len="med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0" name="axis-z-label"/>
              <p:cNvSpPr txBox="1"/>
              <p:nvPr/>
            </p:nvSpPr>
            <p:spPr>
              <a:xfrm>
                <a:off x="14054328" y="5440680"/>
                <a:ext cx="237744" cy="283464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noAutofit/>
              </a:bodyPr>
              <a:lstStyle/>
              <a:p>
                <a:pPr algn="l">
                  <a:lnSpc>
                    <a:spcPts val="2138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943" b="0">
                    <a:solidFill>
                      <a:srgbClr val="1517EC"/>
                    </a:solidFill>
                    <a:latin typeface="Arial Narrow"/>
                  </a:rPr>
                  <a:t>Z</a:t>
                </a:r>
              </a:p>
            </p:txBody>
          </p:sp>
          <p:sp>
            <p:nvSpPr>
              <p:cNvPr id="71" name="axis-y-label"/>
              <p:cNvSpPr txBox="1"/>
              <p:nvPr/>
            </p:nvSpPr>
            <p:spPr>
              <a:xfrm>
                <a:off x="14328648" y="5742432"/>
                <a:ext cx="237744" cy="283464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noAutofit/>
              </a:bodyPr>
              <a:lstStyle/>
              <a:p>
                <a:pPr algn="l">
                  <a:lnSpc>
                    <a:spcPts val="2138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943" b="0">
                    <a:solidFill>
                      <a:srgbClr val="009E43"/>
                    </a:solidFill>
                    <a:latin typeface="Arial Narrow"/>
                  </a:rPr>
                  <a:t>Y</a:t>
                </a:r>
              </a:p>
            </p:txBody>
          </p:sp>
          <p:sp>
            <p:nvSpPr>
              <p:cNvPr id="72" name="axis-x-label"/>
              <p:cNvSpPr txBox="1"/>
              <p:nvPr/>
            </p:nvSpPr>
            <p:spPr>
              <a:xfrm>
                <a:off x="14520672" y="6199632"/>
                <a:ext cx="246888" cy="283464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noAutofit/>
              </a:bodyPr>
              <a:lstStyle/>
              <a:p>
                <a:pPr algn="l">
                  <a:lnSpc>
                    <a:spcPts val="2138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943" b="0">
                    <a:solidFill>
                      <a:srgbClr val="F21A22"/>
                    </a:solidFill>
                    <a:latin typeface="Arial Narrow"/>
                  </a:rPr>
                  <a:t>X</a:t>
                </a:r>
              </a:p>
            </p:txBody>
          </p:sp>
        </p:grpSp>
      </p:grpSp>
      <p:grpSp>
        <p:nvGrpSpPr>
          <p:cNvPr id="73" name="05 Online multi-shot stream — nine original frames"/>
          <p:cNvGrpSpPr/>
          <p:nvPr/>
        </p:nvGrpSpPr>
        <p:grpSpPr>
          <a:xfrm>
            <a:off x="274320" y="6784848"/>
            <a:ext cx="14538960" cy="1005840"/>
            <a:chOff x="274320" y="6784848"/>
            <a:chExt cx="14538960" cy="1005840"/>
          </a:xfrm>
        </p:grpSpPr>
        <p:sp>
          <p:nvSpPr>
            <p:cNvPr id="74" name="online-stream-title"/>
            <p:cNvSpPr txBox="1"/>
            <p:nvPr/>
          </p:nvSpPr>
          <p:spPr>
            <a:xfrm>
              <a:off x="274320" y="6885432"/>
              <a:ext cx="1316736" cy="859536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ts val="208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160" b="0">
                  <a:solidFill>
                    <a:srgbClr val="1517EC"/>
                  </a:solidFill>
                  <a:latin typeface="Arial Narrow"/>
                </a:rPr>
                <a:t>Online</a:t>
              </a:r>
            </a:p>
            <a:p>
              <a:pPr algn="l">
                <a:lnSpc>
                  <a:spcPts val="208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160" b="0">
                  <a:solidFill>
                    <a:srgbClr val="1517EC"/>
                  </a:solidFill>
                  <a:latin typeface="Arial Narrow"/>
                </a:rPr>
                <a:t>multi-shot</a:t>
              </a:r>
            </a:p>
            <a:p>
              <a:pPr algn="l">
                <a:lnSpc>
                  <a:spcPts val="208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160" b="0">
                  <a:solidFill>
                    <a:srgbClr val="1517EC"/>
                  </a:solidFill>
                  <a:latin typeface="Arial Narrow"/>
                </a:rPr>
                <a:t>stream</a:t>
              </a:r>
            </a:p>
          </p:txBody>
        </p:sp>
        <p:grpSp>
          <p:nvGrpSpPr>
            <p:cNvPr id="75" name="Timeline Shot 1"/>
            <p:cNvGrpSpPr/>
            <p:nvPr/>
          </p:nvGrpSpPr>
          <p:grpSpPr>
            <a:xfrm>
              <a:off x="1609344" y="6784848"/>
              <a:ext cx="3182112" cy="1005840"/>
              <a:chOff x="1609344" y="6784848"/>
              <a:chExt cx="3182112" cy="1005840"/>
            </a:xfrm>
          </p:grpSpPr>
          <p:sp>
            <p:nvSpPr>
              <p:cNvPr id="76" name="timeline-shot-1-container"/>
              <p:cNvSpPr/>
              <p:nvPr/>
            </p:nvSpPr>
            <p:spPr>
              <a:xfrm>
                <a:off x="1609344" y="6784848"/>
                <a:ext cx="3182112" cy="1005840"/>
              </a:xfrm>
              <a:prstGeom prst="roundRect">
                <a:avLst>
                  <a:gd name="adj" fmla="val 10000"/>
                </a:avLst>
              </a:prstGeom>
              <a:solidFill>
                <a:srgbClr val="CEE6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7" name="timeline-shot-1-label"/>
              <p:cNvSpPr txBox="1"/>
              <p:nvPr/>
            </p:nvSpPr>
            <p:spPr>
              <a:xfrm>
                <a:off x="1719072" y="6821424"/>
                <a:ext cx="2962656" cy="301752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noAutofit/>
              </a:bodyPr>
              <a:lstStyle/>
              <a:p>
                <a:pPr algn="ctr">
                  <a:lnSpc>
                    <a:spcPts val="19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800" b="0">
                    <a:solidFill>
                      <a:srgbClr val="1517EC"/>
                    </a:solidFill>
                    <a:latin typeface="Arial Narrow"/>
                  </a:rPr>
                  <a:t>Shot 1 · 0°</a:t>
                </a:r>
              </a:p>
            </p:txBody>
          </p:sp>
          <p:pic>
            <p:nvPicPr>
              <p:cNvPr id="78" name="timeline-shot-1-original-frame-1" descr="shot_1_frame_1.png"/>
              <p:cNvPicPr>
                <a:picLocks noChangeAspect="1"/>
              </p:cNvPicPr>
              <p:nvPr/>
            </p:nvPicPr>
            <p:blipFill>
              <a:blip r:embed="rId10"/>
              <a:srcRect l="5000" r="5000"/>
              <a:stretch>
                <a:fillRect/>
              </a:stretch>
            </p:blipFill>
            <p:spPr>
              <a:xfrm>
                <a:off x="1901952" y="7178040"/>
                <a:ext cx="804672" cy="502920"/>
              </a:xfrm>
              <a:prstGeom prst="roundRect">
                <a:avLst>
                  <a:gd name="adj" fmla="val 9090"/>
                </a:avLst>
              </a:prstGeom>
              <a:effectLst/>
            </p:spPr>
          </p:pic>
          <p:pic>
            <p:nvPicPr>
              <p:cNvPr id="79" name="timeline-shot-1-original-frame-2" descr="shot_1_frame_2.png"/>
              <p:cNvPicPr>
                <a:picLocks noChangeAspect="1"/>
              </p:cNvPicPr>
              <p:nvPr/>
            </p:nvPicPr>
            <p:blipFill>
              <a:blip r:embed="rId2"/>
              <a:srcRect l="5000" r="5000"/>
              <a:stretch>
                <a:fillRect/>
              </a:stretch>
            </p:blipFill>
            <p:spPr>
              <a:xfrm>
                <a:off x="2798064" y="7178040"/>
                <a:ext cx="804672" cy="502920"/>
              </a:xfrm>
              <a:prstGeom prst="roundRect">
                <a:avLst>
                  <a:gd name="adj" fmla="val 9090"/>
                </a:avLst>
              </a:prstGeom>
              <a:effectLst/>
            </p:spPr>
          </p:pic>
          <p:pic>
            <p:nvPicPr>
              <p:cNvPr id="80" name="timeline-shot-1-original-frame-3" descr="shot_1_frame_3.png"/>
              <p:cNvPicPr>
                <a:picLocks noChangeAspect="1"/>
              </p:cNvPicPr>
              <p:nvPr/>
            </p:nvPicPr>
            <p:blipFill>
              <a:blip r:embed="rId11"/>
              <a:srcRect l="5000" r="5000"/>
              <a:stretch>
                <a:fillRect/>
              </a:stretch>
            </p:blipFill>
            <p:spPr>
              <a:xfrm>
                <a:off x="3694176" y="7178040"/>
                <a:ext cx="804672" cy="502920"/>
              </a:xfrm>
              <a:prstGeom prst="roundRect">
                <a:avLst>
                  <a:gd name="adj" fmla="val 9090"/>
                </a:avLst>
              </a:prstGeom>
              <a:effectLst/>
            </p:spPr>
          </p:pic>
          <p:sp>
            <p:nvSpPr>
              <p:cNvPr id="81" name="shot-1-before-dot-0"/>
              <p:cNvSpPr/>
              <p:nvPr/>
            </p:nvSpPr>
            <p:spPr>
              <a:xfrm>
                <a:off x="1635862" y="7424014"/>
                <a:ext cx="38405" cy="38405"/>
              </a:xfrm>
              <a:prstGeom prst="ellipse">
                <a:avLst/>
              </a:prstGeom>
              <a:solidFill>
                <a:srgbClr val="1517E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2" name="shot-1-after-dot-0"/>
              <p:cNvSpPr/>
              <p:nvPr/>
            </p:nvSpPr>
            <p:spPr>
              <a:xfrm>
                <a:off x="4580230" y="7424014"/>
                <a:ext cx="38405" cy="38405"/>
              </a:xfrm>
              <a:prstGeom prst="ellipse">
                <a:avLst/>
              </a:prstGeom>
              <a:solidFill>
                <a:srgbClr val="1517E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3" name="shot-1-before-dot-1"/>
              <p:cNvSpPr/>
              <p:nvPr/>
            </p:nvSpPr>
            <p:spPr>
              <a:xfrm>
                <a:off x="1709014" y="7424014"/>
                <a:ext cx="38405" cy="38405"/>
              </a:xfrm>
              <a:prstGeom prst="ellipse">
                <a:avLst/>
              </a:prstGeom>
              <a:solidFill>
                <a:srgbClr val="1517E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4" name="shot-1-after-dot-1"/>
              <p:cNvSpPr/>
              <p:nvPr/>
            </p:nvSpPr>
            <p:spPr>
              <a:xfrm>
                <a:off x="4653382" y="7424014"/>
                <a:ext cx="38405" cy="38405"/>
              </a:xfrm>
              <a:prstGeom prst="ellipse">
                <a:avLst/>
              </a:prstGeom>
              <a:solidFill>
                <a:srgbClr val="1517E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5" name="shot-1-before-dot-2"/>
              <p:cNvSpPr/>
              <p:nvPr/>
            </p:nvSpPr>
            <p:spPr>
              <a:xfrm>
                <a:off x="1782166" y="7424014"/>
                <a:ext cx="38405" cy="38405"/>
              </a:xfrm>
              <a:prstGeom prst="ellipse">
                <a:avLst/>
              </a:prstGeom>
              <a:solidFill>
                <a:srgbClr val="1517E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6" name="shot-1-after-dot-2"/>
              <p:cNvSpPr/>
              <p:nvPr/>
            </p:nvSpPr>
            <p:spPr>
              <a:xfrm>
                <a:off x="4726534" y="7424014"/>
                <a:ext cx="38405" cy="38405"/>
              </a:xfrm>
              <a:prstGeom prst="ellipse">
                <a:avLst/>
              </a:prstGeom>
              <a:solidFill>
                <a:srgbClr val="1517E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87" name="Timeline Shot 2"/>
            <p:cNvGrpSpPr/>
            <p:nvPr/>
          </p:nvGrpSpPr>
          <p:grpSpPr>
            <a:xfrm>
              <a:off x="5586984" y="6784848"/>
              <a:ext cx="2926080" cy="1005840"/>
              <a:chOff x="5586984" y="6784848"/>
              <a:chExt cx="2926080" cy="1005840"/>
            </a:xfrm>
          </p:grpSpPr>
          <p:sp>
            <p:nvSpPr>
              <p:cNvPr id="88" name="timeline-shot-2-container"/>
              <p:cNvSpPr/>
              <p:nvPr/>
            </p:nvSpPr>
            <p:spPr>
              <a:xfrm>
                <a:off x="5586984" y="6784848"/>
                <a:ext cx="2926080" cy="1005840"/>
              </a:xfrm>
              <a:prstGeom prst="roundRect">
                <a:avLst>
                  <a:gd name="adj" fmla="val 10000"/>
                </a:avLst>
              </a:prstGeom>
              <a:solidFill>
                <a:srgbClr val="FFEBDD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9" name="timeline-shot-2-label"/>
              <p:cNvSpPr txBox="1"/>
              <p:nvPr/>
            </p:nvSpPr>
            <p:spPr>
              <a:xfrm>
                <a:off x="5696712" y="6821424"/>
                <a:ext cx="2706624" cy="301752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noAutofit/>
              </a:bodyPr>
              <a:lstStyle/>
              <a:p>
                <a:pPr algn="ctr">
                  <a:lnSpc>
                    <a:spcPts val="19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800" b="0">
                    <a:solidFill>
                      <a:srgbClr val="FF5A12"/>
                    </a:solidFill>
                    <a:latin typeface="Arial Narrow"/>
                  </a:rPr>
                  <a:t>Shot 2 · 99°</a:t>
                </a:r>
              </a:p>
            </p:txBody>
          </p:sp>
          <p:pic>
            <p:nvPicPr>
              <p:cNvPr id="90" name="timeline-shot-2-original-frame-1" descr="shot_2_frame_1.png"/>
              <p:cNvPicPr>
                <a:picLocks noChangeAspect="1"/>
              </p:cNvPicPr>
              <p:nvPr/>
            </p:nvPicPr>
            <p:blipFill>
              <a:blip r:embed="rId12"/>
              <a:srcRect l="5000" r="5000"/>
              <a:stretch>
                <a:fillRect/>
              </a:stretch>
            </p:blipFill>
            <p:spPr>
              <a:xfrm>
                <a:off x="5751576" y="7178040"/>
                <a:ext cx="804672" cy="502920"/>
              </a:xfrm>
              <a:prstGeom prst="roundRect">
                <a:avLst>
                  <a:gd name="adj" fmla="val 9090"/>
                </a:avLst>
              </a:prstGeom>
              <a:effectLst/>
            </p:spPr>
          </p:pic>
          <p:pic>
            <p:nvPicPr>
              <p:cNvPr id="91" name="timeline-shot-2-original-frame-2" descr="shot_2_frame_2.png"/>
              <p:cNvPicPr>
                <a:picLocks noChangeAspect="1"/>
              </p:cNvPicPr>
              <p:nvPr/>
            </p:nvPicPr>
            <p:blipFill>
              <a:blip r:embed="rId3"/>
              <a:srcRect l="5000" r="5000"/>
              <a:stretch>
                <a:fillRect/>
              </a:stretch>
            </p:blipFill>
            <p:spPr>
              <a:xfrm>
                <a:off x="6647688" y="7178040"/>
                <a:ext cx="804672" cy="502920"/>
              </a:xfrm>
              <a:prstGeom prst="roundRect">
                <a:avLst>
                  <a:gd name="adj" fmla="val 9090"/>
                </a:avLst>
              </a:prstGeom>
              <a:effectLst/>
            </p:spPr>
          </p:pic>
          <p:pic>
            <p:nvPicPr>
              <p:cNvPr id="92" name="timeline-shot-2-original-frame-3" descr="shot_2_frame_3.png"/>
              <p:cNvPicPr>
                <a:picLocks noChangeAspect="1"/>
              </p:cNvPicPr>
              <p:nvPr/>
            </p:nvPicPr>
            <p:blipFill>
              <a:blip r:embed="rId13"/>
              <a:srcRect l="5000" r="5000"/>
              <a:stretch>
                <a:fillRect/>
              </a:stretch>
            </p:blipFill>
            <p:spPr>
              <a:xfrm>
                <a:off x="7543800" y="7178040"/>
                <a:ext cx="804672" cy="502920"/>
              </a:xfrm>
              <a:prstGeom prst="roundRect">
                <a:avLst>
                  <a:gd name="adj" fmla="val 9090"/>
                </a:avLst>
              </a:prstGeom>
              <a:effectLst/>
            </p:spPr>
          </p:pic>
          <p:sp>
            <p:nvSpPr>
              <p:cNvPr id="93" name="shot-2-before-dot-0"/>
              <p:cNvSpPr/>
              <p:nvPr/>
            </p:nvSpPr>
            <p:spPr>
              <a:xfrm>
                <a:off x="5613502" y="7424014"/>
                <a:ext cx="38405" cy="38405"/>
              </a:xfrm>
              <a:prstGeom prst="ellipse">
                <a:avLst/>
              </a:prstGeom>
              <a:solidFill>
                <a:srgbClr val="FF5A1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4" name="shot-2-after-dot-0"/>
              <p:cNvSpPr/>
              <p:nvPr/>
            </p:nvSpPr>
            <p:spPr>
              <a:xfrm>
                <a:off x="8301838" y="7424014"/>
                <a:ext cx="38405" cy="38405"/>
              </a:xfrm>
              <a:prstGeom prst="ellipse">
                <a:avLst/>
              </a:prstGeom>
              <a:solidFill>
                <a:srgbClr val="FF5A1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5" name="shot-2-before-dot-1"/>
              <p:cNvSpPr/>
              <p:nvPr/>
            </p:nvSpPr>
            <p:spPr>
              <a:xfrm>
                <a:off x="5686654" y="7424014"/>
                <a:ext cx="38405" cy="38405"/>
              </a:xfrm>
              <a:prstGeom prst="ellipse">
                <a:avLst/>
              </a:prstGeom>
              <a:solidFill>
                <a:srgbClr val="FF5A1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6" name="shot-2-after-dot-1"/>
              <p:cNvSpPr/>
              <p:nvPr/>
            </p:nvSpPr>
            <p:spPr>
              <a:xfrm>
                <a:off x="8374990" y="7424014"/>
                <a:ext cx="38405" cy="38405"/>
              </a:xfrm>
              <a:prstGeom prst="ellipse">
                <a:avLst/>
              </a:prstGeom>
              <a:solidFill>
                <a:srgbClr val="FF5A1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7" name="shot-2-before-dot-2"/>
              <p:cNvSpPr/>
              <p:nvPr/>
            </p:nvSpPr>
            <p:spPr>
              <a:xfrm>
                <a:off x="5759806" y="7424014"/>
                <a:ext cx="38405" cy="38405"/>
              </a:xfrm>
              <a:prstGeom prst="ellipse">
                <a:avLst/>
              </a:prstGeom>
              <a:solidFill>
                <a:srgbClr val="FF5A1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8" name="shot-2-after-dot-2"/>
              <p:cNvSpPr/>
              <p:nvPr/>
            </p:nvSpPr>
            <p:spPr>
              <a:xfrm>
                <a:off x="8448142" y="7424014"/>
                <a:ext cx="38405" cy="38405"/>
              </a:xfrm>
              <a:prstGeom prst="ellipse">
                <a:avLst/>
              </a:prstGeom>
              <a:solidFill>
                <a:srgbClr val="FF5A1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99" name="Timeline Shot 3"/>
            <p:cNvGrpSpPr/>
            <p:nvPr/>
          </p:nvGrpSpPr>
          <p:grpSpPr>
            <a:xfrm>
              <a:off x="9290304" y="6784848"/>
              <a:ext cx="3136392" cy="1005840"/>
              <a:chOff x="9290304" y="6784848"/>
              <a:chExt cx="3136392" cy="1005840"/>
            </a:xfrm>
          </p:grpSpPr>
          <p:sp>
            <p:nvSpPr>
              <p:cNvPr id="100" name="timeline-shot-3-container"/>
              <p:cNvSpPr/>
              <p:nvPr/>
            </p:nvSpPr>
            <p:spPr>
              <a:xfrm>
                <a:off x="9290304" y="6784848"/>
                <a:ext cx="3136392" cy="1005840"/>
              </a:xfrm>
              <a:prstGeom prst="roundRect">
                <a:avLst>
                  <a:gd name="adj" fmla="val 10000"/>
                </a:avLst>
              </a:prstGeom>
              <a:solidFill>
                <a:srgbClr val="FFDEE5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1" name="timeline-shot-3-label"/>
              <p:cNvSpPr txBox="1"/>
              <p:nvPr/>
            </p:nvSpPr>
            <p:spPr>
              <a:xfrm>
                <a:off x="9400032" y="6821424"/>
                <a:ext cx="2916936" cy="301752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noAutofit/>
              </a:bodyPr>
              <a:lstStyle/>
              <a:p>
                <a:pPr algn="ctr">
                  <a:lnSpc>
                    <a:spcPts val="19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800" b="0">
                    <a:solidFill>
                      <a:srgbClr val="ED151B"/>
                    </a:solidFill>
                    <a:latin typeface="Arial Narrow"/>
                  </a:rPr>
                  <a:t>Shot 3 · 177°</a:t>
                </a:r>
              </a:p>
            </p:txBody>
          </p:sp>
          <p:pic>
            <p:nvPicPr>
              <p:cNvPr id="102" name="timeline-shot-3-original-frame-1" descr="shot_3_frame_1.png"/>
              <p:cNvPicPr>
                <a:picLocks noChangeAspect="1"/>
              </p:cNvPicPr>
              <p:nvPr/>
            </p:nvPicPr>
            <p:blipFill>
              <a:blip r:embed="rId14"/>
              <a:srcRect l="5000" r="5000"/>
              <a:stretch>
                <a:fillRect/>
              </a:stretch>
            </p:blipFill>
            <p:spPr>
              <a:xfrm>
                <a:off x="9560052" y="7178040"/>
                <a:ext cx="804672" cy="502920"/>
              </a:xfrm>
              <a:prstGeom prst="roundRect">
                <a:avLst>
                  <a:gd name="adj" fmla="val 9090"/>
                </a:avLst>
              </a:prstGeom>
              <a:effectLst/>
            </p:spPr>
          </p:pic>
          <p:pic>
            <p:nvPicPr>
              <p:cNvPr id="103" name="timeline-shot-3-original-frame-2" descr="shot_3_frame_2.png"/>
              <p:cNvPicPr>
                <a:picLocks noChangeAspect="1"/>
              </p:cNvPicPr>
              <p:nvPr/>
            </p:nvPicPr>
            <p:blipFill>
              <a:blip r:embed="rId4"/>
              <a:srcRect l="5000" r="5000"/>
              <a:stretch>
                <a:fillRect/>
              </a:stretch>
            </p:blipFill>
            <p:spPr>
              <a:xfrm>
                <a:off x="10456164" y="7178040"/>
                <a:ext cx="804672" cy="502920"/>
              </a:xfrm>
              <a:prstGeom prst="roundRect">
                <a:avLst>
                  <a:gd name="adj" fmla="val 9090"/>
                </a:avLst>
              </a:prstGeom>
              <a:effectLst/>
            </p:spPr>
          </p:pic>
          <p:pic>
            <p:nvPicPr>
              <p:cNvPr id="104" name="timeline-shot-3-original-frame-3" descr="shot_3_frame_3.png"/>
              <p:cNvPicPr>
                <a:picLocks noChangeAspect="1"/>
              </p:cNvPicPr>
              <p:nvPr/>
            </p:nvPicPr>
            <p:blipFill>
              <a:blip r:embed="rId15"/>
              <a:srcRect l="5000" r="5000"/>
              <a:stretch>
                <a:fillRect/>
              </a:stretch>
            </p:blipFill>
            <p:spPr>
              <a:xfrm>
                <a:off x="11352276" y="7178040"/>
                <a:ext cx="804672" cy="502920"/>
              </a:xfrm>
              <a:prstGeom prst="roundRect">
                <a:avLst>
                  <a:gd name="adj" fmla="val 9090"/>
                </a:avLst>
              </a:prstGeom>
              <a:effectLst/>
            </p:spPr>
          </p:pic>
          <p:sp>
            <p:nvSpPr>
              <p:cNvPr id="105" name="shot-3-before-dot-0"/>
              <p:cNvSpPr/>
              <p:nvPr/>
            </p:nvSpPr>
            <p:spPr>
              <a:xfrm>
                <a:off x="9316822" y="7424014"/>
                <a:ext cx="38405" cy="38405"/>
              </a:xfrm>
              <a:prstGeom prst="ellipse">
                <a:avLst/>
              </a:prstGeom>
              <a:solidFill>
                <a:srgbClr val="ED151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6" name="shot-3-after-dot-0"/>
              <p:cNvSpPr/>
              <p:nvPr/>
            </p:nvSpPr>
            <p:spPr>
              <a:xfrm>
                <a:off x="12215470" y="7424014"/>
                <a:ext cx="38405" cy="38405"/>
              </a:xfrm>
              <a:prstGeom prst="ellipse">
                <a:avLst/>
              </a:prstGeom>
              <a:solidFill>
                <a:srgbClr val="ED151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7" name="shot-3-before-dot-1"/>
              <p:cNvSpPr/>
              <p:nvPr/>
            </p:nvSpPr>
            <p:spPr>
              <a:xfrm>
                <a:off x="9389974" y="7424014"/>
                <a:ext cx="38405" cy="38405"/>
              </a:xfrm>
              <a:prstGeom prst="ellipse">
                <a:avLst/>
              </a:prstGeom>
              <a:solidFill>
                <a:srgbClr val="ED151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8" name="shot-3-after-dot-1"/>
              <p:cNvSpPr/>
              <p:nvPr/>
            </p:nvSpPr>
            <p:spPr>
              <a:xfrm>
                <a:off x="12288622" y="7424014"/>
                <a:ext cx="38405" cy="38405"/>
              </a:xfrm>
              <a:prstGeom prst="ellipse">
                <a:avLst/>
              </a:prstGeom>
              <a:solidFill>
                <a:srgbClr val="ED151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9" name="shot-3-before-dot-2"/>
              <p:cNvSpPr/>
              <p:nvPr/>
            </p:nvSpPr>
            <p:spPr>
              <a:xfrm>
                <a:off x="9463126" y="7424014"/>
                <a:ext cx="38405" cy="38405"/>
              </a:xfrm>
              <a:prstGeom prst="ellipse">
                <a:avLst/>
              </a:prstGeom>
              <a:solidFill>
                <a:srgbClr val="ED151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0" name="shot-3-after-dot-2"/>
              <p:cNvSpPr/>
              <p:nvPr/>
            </p:nvSpPr>
            <p:spPr>
              <a:xfrm>
                <a:off x="12361774" y="7424014"/>
                <a:ext cx="38405" cy="38405"/>
              </a:xfrm>
              <a:prstGeom prst="ellipse">
                <a:avLst/>
              </a:prstGeom>
              <a:solidFill>
                <a:srgbClr val="ED151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11" name="Timeline cut 1"/>
            <p:cNvGrpSpPr/>
            <p:nvPr/>
          </p:nvGrpSpPr>
          <p:grpSpPr>
            <a:xfrm>
              <a:off x="4855464" y="7114032"/>
              <a:ext cx="658368" cy="420624"/>
              <a:chOff x="4855464" y="7114032"/>
              <a:chExt cx="658368" cy="420624"/>
            </a:xfrm>
          </p:grpSpPr>
          <p:sp>
            <p:nvSpPr>
              <p:cNvPr id="112" name="timeline-cut-1-pill"/>
              <p:cNvSpPr/>
              <p:nvPr/>
            </p:nvSpPr>
            <p:spPr>
              <a:xfrm>
                <a:off x="4855464" y="7114032"/>
                <a:ext cx="658368" cy="420624"/>
              </a:xfrm>
              <a:prstGeom prst="roundRect">
                <a:avLst>
                  <a:gd name="adj" fmla="val 17391"/>
                </a:avLst>
              </a:prstGeom>
              <a:solidFill>
                <a:srgbClr val="FF5A1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3" name="timeline-cut-1-label"/>
              <p:cNvSpPr txBox="1"/>
              <p:nvPr/>
            </p:nvSpPr>
            <p:spPr>
              <a:xfrm>
                <a:off x="4882896" y="7132320"/>
                <a:ext cx="603504" cy="384048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noAutofit/>
              </a:bodyPr>
              <a:lstStyle/>
              <a:p>
                <a:pPr algn="ctr">
                  <a:lnSpc>
                    <a:spcPts val="2217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2016" b="0">
                    <a:solidFill>
                      <a:srgbClr val="FFFFFF"/>
                    </a:solidFill>
                    <a:latin typeface="Arial Narrow"/>
                  </a:rPr>
                  <a:t>CUT</a:t>
                </a:r>
              </a:p>
            </p:txBody>
          </p:sp>
        </p:grpSp>
        <p:grpSp>
          <p:nvGrpSpPr>
            <p:cNvPr id="114" name="Timeline cut 2"/>
            <p:cNvGrpSpPr/>
            <p:nvPr/>
          </p:nvGrpSpPr>
          <p:grpSpPr>
            <a:xfrm>
              <a:off x="8558784" y="7114032"/>
              <a:ext cx="658368" cy="420624"/>
              <a:chOff x="8558784" y="7114032"/>
              <a:chExt cx="658368" cy="420624"/>
            </a:xfrm>
          </p:grpSpPr>
          <p:sp>
            <p:nvSpPr>
              <p:cNvPr id="115" name="timeline-cut-2-pill"/>
              <p:cNvSpPr/>
              <p:nvPr/>
            </p:nvSpPr>
            <p:spPr>
              <a:xfrm>
                <a:off x="8558784" y="7114032"/>
                <a:ext cx="658368" cy="420624"/>
              </a:xfrm>
              <a:prstGeom prst="roundRect">
                <a:avLst>
                  <a:gd name="adj" fmla="val 17391"/>
                </a:avLst>
              </a:prstGeom>
              <a:solidFill>
                <a:srgbClr val="FF5A1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6" name="timeline-cut-2-label"/>
              <p:cNvSpPr txBox="1"/>
              <p:nvPr/>
            </p:nvSpPr>
            <p:spPr>
              <a:xfrm>
                <a:off x="8586216" y="7132320"/>
                <a:ext cx="603504" cy="384048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noAutofit/>
              </a:bodyPr>
              <a:lstStyle/>
              <a:p>
                <a:pPr algn="ctr">
                  <a:lnSpc>
                    <a:spcPts val="2217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2016" b="0">
                    <a:solidFill>
                      <a:srgbClr val="FFFFFF"/>
                    </a:solidFill>
                    <a:latin typeface="Arial Narrow"/>
                  </a:rPr>
                  <a:t>CUT</a:t>
                </a:r>
              </a:p>
            </p:txBody>
          </p:sp>
        </p:grpSp>
        <p:grpSp>
          <p:nvGrpSpPr>
            <p:cNvPr id="117" name="Output"/>
            <p:cNvGrpSpPr/>
            <p:nvPr/>
          </p:nvGrpSpPr>
          <p:grpSpPr>
            <a:xfrm>
              <a:off x="12426696" y="6894576"/>
              <a:ext cx="2386584" cy="850392"/>
              <a:chOff x="12426696" y="6894576"/>
              <a:chExt cx="2386584" cy="850392"/>
            </a:xfrm>
          </p:grpSpPr>
          <p:sp>
            <p:nvSpPr>
              <p:cNvPr id="118" name="output-arrow"/>
              <p:cNvSpPr/>
              <p:nvPr/>
            </p:nvSpPr>
            <p:spPr>
              <a:xfrm>
                <a:off x="12426696" y="7004304"/>
                <a:ext cx="411480" cy="612648"/>
              </a:xfrm>
              <a:custGeom>
                <a:avLst/>
                <a:gdLst/>
                <a:ahLst/>
                <a:cxnLst/>
                <a:rect l="l" t="t" r="r" b="b"/>
                <a:pathLst>
                  <a:path w="45" h="67">
                    <a:moveTo>
                      <a:pt x="0" y="18"/>
                    </a:moveTo>
                    <a:lnTo>
                      <a:pt x="17" y="18"/>
                    </a:lnTo>
                    <a:lnTo>
                      <a:pt x="17" y="0"/>
                    </a:lnTo>
                    <a:lnTo>
                      <a:pt x="45" y="33"/>
                    </a:lnTo>
                    <a:lnTo>
                      <a:pt x="17" y="67"/>
                    </a:lnTo>
                    <a:lnTo>
                      <a:pt x="17" y="49"/>
                    </a:lnTo>
                    <a:lnTo>
                      <a:pt x="0" y="49"/>
                    </a:lnTo>
                    <a:close/>
                  </a:path>
                </a:pathLst>
              </a:custGeom>
              <a:solidFill>
                <a:srgbClr val="FFAEB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9" name="output-box"/>
              <p:cNvSpPr/>
              <p:nvPr/>
            </p:nvSpPr>
            <p:spPr>
              <a:xfrm>
                <a:off x="12920472" y="6894576"/>
                <a:ext cx="1892808" cy="850392"/>
              </a:xfrm>
              <a:prstGeom prst="roundRect">
                <a:avLst>
                  <a:gd name="adj" fmla="val 11827"/>
                </a:avLst>
              </a:prstGeom>
              <a:solidFill>
                <a:srgbClr val="083EAD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0" name="output-label"/>
              <p:cNvSpPr txBox="1"/>
              <p:nvPr/>
            </p:nvSpPr>
            <p:spPr>
              <a:xfrm>
                <a:off x="13011912" y="6976872"/>
                <a:ext cx="1709928" cy="685800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noAutofit/>
              </a:bodyPr>
              <a:lstStyle/>
              <a:p>
                <a:pPr algn="ctr">
                  <a:lnSpc>
                    <a:spcPts val="2232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2016" b="0">
                    <a:solidFill>
                      <a:srgbClr val="FFFFFF"/>
                    </a:solidFill>
                    <a:latin typeface="Arial Narrow"/>
                  </a:rPr>
                  <a:t>Consistent</a:t>
                </a:r>
              </a:p>
              <a:p>
                <a:pPr algn="ctr">
                  <a:lnSpc>
                    <a:spcPts val="2232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2016" b="0">
                    <a:solidFill>
                      <a:srgbClr val="FFFFFF"/>
                    </a:solidFill>
                    <a:latin typeface="Arial Narrow"/>
                  </a:rPr>
                  <a:t>4D reconstruction</a:t>
                </a:r>
              </a:p>
            </p:txBody>
          </p: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SHOT3R — Editable Teaser</dc:title>
  <dc:subject>Editable PowerPoint annotations with separate raster photo and reconstruction layers</dc:subject>
  <dc:creator/>
  <cp:keywords>SHOT3R, editable, vector annotations, raster reconstruction, 4D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