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988000" cy="25348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Shot-alignment module — compact architecture figure</a:t>
            </a:r>
          </a:p>
          <a:p/>
          <a:p>
            <a:r>
              <a:t>SOURCE</a:t>
            </a:r>
          </a:p>
          <a:p>
            <a:r>
              <a:t>Shot3R_shot_alignment_module_simple_prompt_20260909.md (the supplied simplified prompt), with terminology details from Shot3R_shot_alignment_module_editable_ppt_prompt_20260909.md. The reference PPT is not used as a layout template.</a:t>
            </a:r>
          </a:p>
          <a:p/>
          <a:p>
            <a:r>
              <a:t>VISIBLE INFORMATION FLOW</a:t>
            </a:r>
          </a:p>
          <a:p>
            <a:r>
              <a:t>Current tokens + historical memory -&gt; three typed alignment tokens -&gt; frozen recurrent decoder together with native tokens -&gt; gated latent refinement -&gt; temporary camera and human predictions.</a:t>
            </a:r>
          </a:p>
          <a:p/>
          <a:p>
            <a:r>
              <a:t>SHORT LABELS</a:t>
            </a:r>
          </a:p>
          <a:p>
            <a:r>
              <a:t>Current: current image, camera and human tokens summarized as current evidence.</a:t>
            </a:r>
          </a:p>
          <a:p>
            <a:r>
              <a:t>History: historical recurrent state, camera memory and previous alignment context.</a:t>
            </a:r>
          </a:p>
          <a:p>
            <a:r>
              <a:t>Semantic: semantic token.</a:t>
            </a:r>
          </a:p>
          <a:p>
            <a:r>
              <a:t>Camera: camera-alignment token; it encodes latent camera change, not an explicit SE(3) residual.</a:t>
            </a:r>
          </a:p>
          <a:p>
            <a:r>
              <a:t>Temporal: temporal-context token.</a:t>
            </a:r>
          </a:p>
          <a:p>
            <a:r>
              <a:t>Native tokens: backbone camera, image and human tokens. They interact with the typed alignment tokens inside the frozen recurrent decoder.</a:t>
            </a:r>
          </a:p>
          <a:p/>
          <a:p>
            <a:r>
              <a:t>GATING AND OUTPUTS</a:t>
            </a:r>
          </a:p>
          <a:p>
            <a:r>
              <a:t>The camera and human branches share the gate strength, but have different latent residuals. One camera token and multiple human tokens are drawn schematically. Prediction heads and residual equations are intentionally not expanded in this simplified figure.</a:t>
            </a:r>
          </a:p>
          <a:p>
            <a:r>
              <a:t>The temporary camera prediction is used for inter-shot alignment. The human branch supplies auxiliary training supervision. These are temporary alignment-path predictions, not the state propagated within the new shot and not a replacement for the reconstruction path's final outputs.</a:t>
            </a:r>
          </a:p>
          <a:p/>
          <a:p>
            <a:r>
              <a:t>VISUAL KEY</a:t>
            </a:r>
          </a:p>
          <a:p>
            <a:r>
              <a:t>Small warm-orange dots: trainable token construction / latent refinement.</a:t>
            </a:r>
          </a:p>
          <a:p>
            <a:r>
              <a:t>Snowflake: frozen recurrent decoder.</a:t>
            </a:r>
          </a:p>
          <a:p>
            <a:r>
              <a:t>Dashed warm lines: a shared gate, not shared residual vectors.</a:t>
            </a:r>
          </a:p>
          <a:p/>
          <a:p>
            <a:r>
              <a:t>EDITING</a:t>
            </a:r>
          </a:p>
          <a:p>
            <a:r>
              <a:t>All text, boxes, token tiles, connectors, the snowflake, camera icon and human pictograms are native PowerPoint elements. Related elements are grouped; use Ungroup to edit each constituent shape. No raster images are used.</a:t>
            </a:r>
          </a:p>
          <a:p>
            <a:r>
              <a:t>The slide is 8.3 cm wide. Fonts use Arial. Full label meanings are kept here rather than added to the figure.</a:t>
            </a:r>
          </a:p>
          <a:p/>
          <a:p>
            <a:r>
              <a:t>SUGGESTED CAPTION</a:t>
            </a:r>
          </a:p>
          <a:p>
            <a:r>
              <a:t>Shot-alignment module. Three typed tokens relate current observations to historical memory and guide gated latent refinement. The temporary camera prediction estimates inter-shot alignment, while the human branch provides auxiliary training supervision.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01 | Current tokens"/>
          <p:cNvGrpSpPr/>
          <p:nvPr/>
        </p:nvGrpSpPr>
        <p:grpSpPr>
          <a:xfrm>
            <a:off x="149400" y="59760"/>
            <a:ext cx="1182750" cy="209160"/>
            <a:chOff x="149400" y="59760"/>
            <a:chExt cx="1182750" cy="209160"/>
          </a:xfrm>
        </p:grpSpPr>
        <p:sp>
          <p:nvSpPr>
            <p:cNvPr id="3" name="Current input box"/>
            <p:cNvSpPr/>
            <p:nvPr/>
          </p:nvSpPr>
          <p:spPr>
            <a:xfrm>
              <a:off x="149400" y="59760"/>
              <a:ext cx="1182750" cy="209160"/>
            </a:xfrm>
            <a:prstGeom prst="roundRect">
              <a:avLst>
                <a:gd name="adj" fmla="val 15476"/>
              </a:avLst>
            </a:prstGeom>
            <a:solidFill>
              <a:srgbClr val="F7F9FC"/>
            </a:solidFill>
            <a:ln w="6474">
              <a:solidFill>
                <a:srgbClr val="C7D2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urrent token 1"/>
            <p:cNvSpPr/>
            <p:nvPr/>
          </p:nvSpPr>
          <p:spPr>
            <a:xfrm>
              <a:off x="253980" y="126990"/>
              <a:ext cx="57270" cy="72210"/>
            </a:xfrm>
            <a:prstGeom prst="roundRect">
              <a:avLst>
                <a:gd name="adj" fmla="val 13043"/>
              </a:avLst>
            </a:prstGeom>
            <a:solidFill>
              <a:srgbClr val="D8E2EB"/>
            </a:solidFill>
            <a:ln w="4980">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Current token 2"/>
            <p:cNvSpPr/>
            <p:nvPr/>
          </p:nvSpPr>
          <p:spPr>
            <a:xfrm>
              <a:off x="333660" y="126990"/>
              <a:ext cx="57270" cy="72210"/>
            </a:xfrm>
            <a:prstGeom prst="roundRect">
              <a:avLst>
                <a:gd name="adj" fmla="val 13043"/>
              </a:avLst>
            </a:prstGeom>
            <a:solidFill>
              <a:srgbClr val="D8E2EB"/>
            </a:solidFill>
            <a:ln w="4980">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urrent token 3"/>
            <p:cNvSpPr/>
            <p:nvPr/>
          </p:nvSpPr>
          <p:spPr>
            <a:xfrm>
              <a:off x="413340" y="126990"/>
              <a:ext cx="57270" cy="72210"/>
            </a:xfrm>
            <a:prstGeom prst="roundRect">
              <a:avLst>
                <a:gd name="adj" fmla="val 13043"/>
              </a:avLst>
            </a:prstGeom>
            <a:solidFill>
              <a:srgbClr val="D8E2EB"/>
            </a:solidFill>
            <a:ln w="4980">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Current label"/>
            <p:cNvSpPr txBox="1"/>
            <p:nvPr/>
          </p:nvSpPr>
          <p:spPr>
            <a:xfrm>
              <a:off x="527880" y="94620"/>
              <a:ext cx="684750" cy="13695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941" b="0" lang="en-US" kern="0">
                  <a:solidFill>
                    <a:srgbClr val="26364D"/>
                  </a:solidFill>
                  <a:latin typeface="Arial"/>
                  <a:ea typeface="Arial"/>
                  <a:cs typeface="Arial"/>
                </a:rPr>
                <a:t>Current</a:t>
              </a:r>
            </a:p>
          </p:txBody>
        </p:sp>
      </p:grpSp>
      <p:grpSp>
        <p:nvGrpSpPr>
          <p:cNvPr id="8" name="02 | Historical memory"/>
          <p:cNvGrpSpPr/>
          <p:nvPr/>
        </p:nvGrpSpPr>
        <p:grpSpPr>
          <a:xfrm>
            <a:off x="1655850" y="59760"/>
            <a:ext cx="1182750" cy="209160"/>
            <a:chOff x="1655850" y="59760"/>
            <a:chExt cx="1182750" cy="209160"/>
          </a:xfrm>
        </p:grpSpPr>
        <p:sp>
          <p:nvSpPr>
            <p:cNvPr id="9" name="History input box"/>
            <p:cNvSpPr/>
            <p:nvPr/>
          </p:nvSpPr>
          <p:spPr>
            <a:xfrm>
              <a:off x="1655850" y="59760"/>
              <a:ext cx="1182750" cy="209160"/>
            </a:xfrm>
            <a:prstGeom prst="roundRect">
              <a:avLst>
                <a:gd name="adj" fmla="val 15476"/>
              </a:avLst>
            </a:prstGeom>
            <a:solidFill>
              <a:srgbClr val="F7F9FC"/>
            </a:solidFill>
            <a:ln w="6474">
              <a:solidFill>
                <a:srgbClr val="C7D2D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Historical memory strip 1"/>
            <p:cNvSpPr/>
            <p:nvPr/>
          </p:nvSpPr>
          <p:spPr>
            <a:xfrm>
              <a:off x="1762920" y="109560"/>
              <a:ext cx="179280" cy="22410"/>
            </a:xfrm>
            <a:prstGeom prst="roundRect">
              <a:avLst>
                <a:gd name="adj" fmla="val 16666"/>
              </a:avLst>
            </a:prstGeom>
            <a:solidFill>
              <a:srgbClr val="D8E2EB"/>
            </a:solidFill>
            <a:ln w="4232">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Historical memory strip 2"/>
            <p:cNvSpPr/>
            <p:nvPr/>
          </p:nvSpPr>
          <p:spPr>
            <a:xfrm>
              <a:off x="1762920" y="146910"/>
              <a:ext cx="179280" cy="22410"/>
            </a:xfrm>
            <a:prstGeom prst="roundRect">
              <a:avLst>
                <a:gd name="adj" fmla="val 16666"/>
              </a:avLst>
            </a:prstGeom>
            <a:solidFill>
              <a:srgbClr val="D8E2EB"/>
            </a:solidFill>
            <a:ln w="4232">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Historical memory strip 3"/>
            <p:cNvSpPr/>
            <p:nvPr/>
          </p:nvSpPr>
          <p:spPr>
            <a:xfrm>
              <a:off x="1762920" y="184260"/>
              <a:ext cx="179280" cy="22410"/>
            </a:xfrm>
            <a:prstGeom prst="roundRect">
              <a:avLst>
                <a:gd name="adj" fmla="val 16666"/>
              </a:avLst>
            </a:prstGeom>
            <a:solidFill>
              <a:srgbClr val="D8E2EB"/>
            </a:solidFill>
            <a:ln w="4232">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History label"/>
            <p:cNvSpPr txBox="1"/>
            <p:nvPr/>
          </p:nvSpPr>
          <p:spPr>
            <a:xfrm>
              <a:off x="2014410" y="94620"/>
              <a:ext cx="722100" cy="13695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941" b="0" lang="en-US" kern="0">
                  <a:solidFill>
                    <a:srgbClr val="26364D"/>
                  </a:solidFill>
                  <a:latin typeface="Arial"/>
                  <a:ea typeface="Arial"/>
                  <a:cs typeface="Arial"/>
                </a:rPr>
                <a:t>History</a:t>
              </a:r>
            </a:p>
          </p:txBody>
        </p:sp>
      </p:grpSp>
      <p:grpSp>
        <p:nvGrpSpPr>
          <p:cNvPr id="14" name="03 | Typed alignment tokens (trainable)"/>
          <p:cNvGrpSpPr/>
          <p:nvPr/>
        </p:nvGrpSpPr>
        <p:grpSpPr>
          <a:xfrm>
            <a:off x="149400" y="408360"/>
            <a:ext cx="2689200" cy="532860"/>
            <a:chOff x="149400" y="408360"/>
            <a:chExt cx="2689200" cy="532860"/>
          </a:xfrm>
        </p:grpSpPr>
        <p:sp>
          <p:nvSpPr>
            <p:cNvPr id="15" name="Typed-token container"/>
            <p:cNvSpPr/>
            <p:nvPr/>
          </p:nvSpPr>
          <p:spPr>
            <a:xfrm>
              <a:off x="149400" y="408360"/>
              <a:ext cx="2689200" cy="532860"/>
            </a:xfrm>
            <a:prstGeom prst="roundRect">
              <a:avLst>
                <a:gd name="adj" fmla="val 7009"/>
              </a:avLst>
            </a:prstGeom>
            <a:solidFill>
              <a:srgbClr val="F6F2FC"/>
            </a:solidFill>
            <a:ln w="6474">
              <a:solidFill>
                <a:srgbClr val="B8A5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yped alignment tokens"/>
            <p:cNvSpPr txBox="1"/>
            <p:nvPr/>
          </p:nvSpPr>
          <p:spPr>
            <a:xfrm>
              <a:off x="418320" y="450690"/>
              <a:ext cx="2151360" cy="14442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999" b="1" lang="en-US" kern="0">
                  <a:solidFill>
                    <a:srgbClr val="26364D"/>
                  </a:solidFill>
                  <a:latin typeface="Arial"/>
                  <a:ea typeface="Arial"/>
                  <a:cs typeface="Arial"/>
                </a:rPr>
                <a:t>Typed alignment tokens</a:t>
              </a:r>
            </a:p>
          </p:txBody>
        </p:sp>
        <p:sp>
          <p:nvSpPr>
            <p:cNvPr id="17" name="Trainable token construction marker"/>
            <p:cNvSpPr/>
            <p:nvPr/>
          </p:nvSpPr>
          <p:spPr>
            <a:xfrm>
              <a:off x="2689200" y="507960"/>
              <a:ext cx="32370" cy="32370"/>
            </a:xfrm>
            <a:prstGeom prst="ellipse">
              <a:avLst/>
            </a:prstGeom>
            <a:solidFill>
              <a:srgbClr val="D58D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Semantic typed token"/>
            <p:cNvSpPr/>
            <p:nvPr/>
          </p:nvSpPr>
          <p:spPr>
            <a:xfrm>
              <a:off x="632460" y="620010"/>
              <a:ext cx="139440" cy="139440"/>
            </a:xfrm>
            <a:prstGeom prst="roundRect">
              <a:avLst>
                <a:gd name="adj" fmla="val 10714"/>
              </a:avLst>
            </a:prstGeom>
            <a:solidFill>
              <a:srgbClr val="BDA5E4"/>
            </a:solidFill>
            <a:ln w="6723">
              <a:solidFill>
                <a:srgbClr val="8C73B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Semantic token label"/>
            <p:cNvSpPr txBox="1"/>
            <p:nvPr/>
          </p:nvSpPr>
          <p:spPr>
            <a:xfrm>
              <a:off x="348600" y="789330"/>
              <a:ext cx="707160" cy="11703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862" b="0" lang="en-US" kern="0">
                  <a:solidFill>
                    <a:srgbClr val="26364D"/>
                  </a:solidFill>
                  <a:latin typeface="Arial"/>
                  <a:ea typeface="Arial"/>
                  <a:cs typeface="Arial"/>
                </a:rPr>
                <a:t>Semantic</a:t>
              </a:r>
            </a:p>
          </p:txBody>
        </p:sp>
        <p:sp>
          <p:nvSpPr>
            <p:cNvPr id="20" name="Camera typed token"/>
            <p:cNvSpPr/>
            <p:nvPr/>
          </p:nvSpPr>
          <p:spPr>
            <a:xfrm>
              <a:off x="1424280" y="620010"/>
              <a:ext cx="139440" cy="139440"/>
            </a:xfrm>
            <a:prstGeom prst="roundRect">
              <a:avLst>
                <a:gd name="adj" fmla="val 10714"/>
              </a:avLst>
            </a:prstGeom>
            <a:solidFill>
              <a:srgbClr val="EDC39D"/>
            </a:solidFill>
            <a:ln w="6723">
              <a:solidFill>
                <a:srgbClr val="BC8D6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amera token label"/>
            <p:cNvSpPr txBox="1"/>
            <p:nvPr/>
          </p:nvSpPr>
          <p:spPr>
            <a:xfrm>
              <a:off x="1140420" y="789330"/>
              <a:ext cx="707160" cy="11703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862" b="0" lang="en-US" kern="0">
                  <a:solidFill>
                    <a:srgbClr val="26364D"/>
                  </a:solidFill>
                  <a:latin typeface="Arial"/>
                  <a:ea typeface="Arial"/>
                  <a:cs typeface="Arial"/>
                </a:rPr>
                <a:t>Camera</a:t>
              </a:r>
            </a:p>
          </p:txBody>
        </p:sp>
        <p:sp>
          <p:nvSpPr>
            <p:cNvPr id="22" name="Temporal typed token"/>
            <p:cNvSpPr/>
            <p:nvPr/>
          </p:nvSpPr>
          <p:spPr>
            <a:xfrm>
              <a:off x="2216100" y="620010"/>
              <a:ext cx="139440" cy="139440"/>
            </a:xfrm>
            <a:prstGeom prst="roundRect">
              <a:avLst>
                <a:gd name="adj" fmla="val 10714"/>
              </a:avLst>
            </a:prstGeom>
            <a:solidFill>
              <a:srgbClr val="A7D0C1"/>
            </a:solidFill>
            <a:ln w="6723">
              <a:solidFill>
                <a:srgbClr val="70A18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mporal token label"/>
            <p:cNvSpPr txBox="1"/>
            <p:nvPr/>
          </p:nvSpPr>
          <p:spPr>
            <a:xfrm>
              <a:off x="1932240" y="789330"/>
              <a:ext cx="707160" cy="11703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862" b="0" lang="en-US" kern="0">
                  <a:solidFill>
                    <a:srgbClr val="26364D"/>
                  </a:solidFill>
                  <a:latin typeface="Arial"/>
                  <a:ea typeface="Arial"/>
                  <a:cs typeface="Arial"/>
                </a:rPr>
                <a:t>Temporal</a:t>
              </a:r>
            </a:p>
          </p:txBody>
        </p:sp>
      </p:grpSp>
      <p:grpSp>
        <p:nvGrpSpPr>
          <p:cNvPr id="24" name="04 | Recurrent decoder (frozen)"/>
          <p:cNvGrpSpPr/>
          <p:nvPr/>
        </p:nvGrpSpPr>
        <p:grpSpPr>
          <a:xfrm>
            <a:off x="149400" y="1140420"/>
            <a:ext cx="2689200" cy="204180"/>
            <a:chOff x="149400" y="1140420"/>
            <a:chExt cx="2689200" cy="204180"/>
          </a:xfrm>
        </p:grpSpPr>
        <p:sp>
          <p:nvSpPr>
            <p:cNvPr id="25" name="Frozen recurrent decoder"/>
            <p:cNvSpPr/>
            <p:nvPr/>
          </p:nvSpPr>
          <p:spPr>
            <a:xfrm>
              <a:off x="149400" y="1140420"/>
              <a:ext cx="2689200" cy="204180"/>
            </a:xfrm>
            <a:prstGeom prst="roundRect">
              <a:avLst>
                <a:gd name="adj" fmla="val 15853"/>
              </a:avLst>
            </a:prstGeom>
            <a:solidFill>
              <a:srgbClr val="EFF5FA"/>
            </a:solidFill>
            <a:ln w="6474">
              <a:solidFill>
                <a:srgbClr val="A6BBD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urrent decoder"/>
            <p:cNvSpPr txBox="1"/>
            <p:nvPr/>
          </p:nvSpPr>
          <p:spPr>
            <a:xfrm>
              <a:off x="771900" y="1170300"/>
              <a:ext cx="1730550" cy="14442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980" b="1" lang="en-US" kern="0">
                  <a:solidFill>
                    <a:srgbClr val="26364D"/>
                  </a:solidFill>
                  <a:latin typeface="Arial"/>
                  <a:ea typeface="Arial"/>
                  <a:cs typeface="Arial"/>
                </a:rPr>
                <a:t>Recurrent decoder</a:t>
              </a:r>
            </a:p>
          </p:txBody>
        </p:sp>
        <p:cxnSp>
          <p:nvCxnSpPr>
            <p:cNvPr id="27" name="Frozen snowflake ray 1"/>
            <p:cNvCxnSpPr/>
            <p:nvPr/>
          </p:nvCxnSpPr>
          <p:spPr>
            <a:xfrm>
              <a:off x="662340" y="1242510"/>
              <a:ext cx="54780" cy="0"/>
            </a:xfrm>
            <a:prstGeom prst="line">
              <a:avLst/>
            </a:prstGeom>
            <a:ln w="8964"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28" name="Frozen snowflake barb 1--1"/>
            <p:cNvCxnSpPr/>
            <p:nvPr/>
          </p:nvCxnSpPr>
          <p:spPr>
            <a:xfrm flipV="1">
              <a:off x="697399" y="1225259"/>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29" name="Frozen snowflake barb 1-1"/>
            <p:cNvCxnSpPr/>
            <p:nvPr/>
          </p:nvCxnSpPr>
          <p:spPr>
            <a:xfrm>
              <a:off x="697399" y="1242510"/>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0" name="Frozen snowflake ray 2"/>
            <p:cNvCxnSpPr/>
            <p:nvPr/>
          </p:nvCxnSpPr>
          <p:spPr>
            <a:xfrm>
              <a:off x="662340" y="1242510"/>
              <a:ext cx="27390" cy="47441"/>
            </a:xfrm>
            <a:prstGeom prst="line">
              <a:avLst/>
            </a:prstGeom>
            <a:ln w="8964"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1" name="Frozen snowflake barb 2--1"/>
            <p:cNvCxnSpPr/>
            <p:nvPr/>
          </p:nvCxnSpPr>
          <p:spPr>
            <a:xfrm>
              <a:off x="679870" y="1272872"/>
              <a:ext cx="19920" cy="0"/>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2" name="Frozen snowflake barb 2-1"/>
            <p:cNvCxnSpPr/>
            <p:nvPr/>
          </p:nvCxnSpPr>
          <p:spPr>
            <a:xfrm flipH="1">
              <a:off x="669910" y="1272872"/>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3" name="Frozen snowflake ray 3"/>
            <p:cNvCxnSpPr/>
            <p:nvPr/>
          </p:nvCxnSpPr>
          <p:spPr>
            <a:xfrm flipH="1">
              <a:off x="634950" y="1242510"/>
              <a:ext cx="27390" cy="47441"/>
            </a:xfrm>
            <a:prstGeom prst="line">
              <a:avLst/>
            </a:prstGeom>
            <a:ln w="8964"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4" name="Frozen snowflake barb 3--1"/>
            <p:cNvCxnSpPr/>
            <p:nvPr/>
          </p:nvCxnSpPr>
          <p:spPr>
            <a:xfrm>
              <a:off x="644810" y="1272872"/>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5" name="Frozen snowflake barb 3-1"/>
            <p:cNvCxnSpPr/>
            <p:nvPr/>
          </p:nvCxnSpPr>
          <p:spPr>
            <a:xfrm flipH="1">
              <a:off x="624890" y="1272872"/>
              <a:ext cx="19920" cy="0"/>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6" name="Frozen snowflake ray 4"/>
            <p:cNvCxnSpPr/>
            <p:nvPr/>
          </p:nvCxnSpPr>
          <p:spPr>
            <a:xfrm flipH="1">
              <a:off x="607560" y="1242510"/>
              <a:ext cx="54780" cy="0"/>
            </a:xfrm>
            <a:prstGeom prst="line">
              <a:avLst/>
            </a:prstGeom>
            <a:ln w="8964"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7" name="Frozen snowflake barb 4--1"/>
            <p:cNvCxnSpPr/>
            <p:nvPr/>
          </p:nvCxnSpPr>
          <p:spPr>
            <a:xfrm flipH="1">
              <a:off x="617321" y="1242510"/>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8" name="Frozen snowflake barb 4-1"/>
            <p:cNvCxnSpPr/>
            <p:nvPr/>
          </p:nvCxnSpPr>
          <p:spPr>
            <a:xfrm flipH="1" flipV="1">
              <a:off x="617321" y="1225259"/>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39" name="Frozen snowflake ray 5"/>
            <p:cNvCxnSpPr/>
            <p:nvPr/>
          </p:nvCxnSpPr>
          <p:spPr>
            <a:xfrm flipH="1" flipV="1">
              <a:off x="634950" y="1195069"/>
              <a:ext cx="27390" cy="47441"/>
            </a:xfrm>
            <a:prstGeom prst="line">
              <a:avLst/>
            </a:prstGeom>
            <a:ln w="8964"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40" name="Frozen snowflake barb 5--1"/>
            <p:cNvCxnSpPr/>
            <p:nvPr/>
          </p:nvCxnSpPr>
          <p:spPr>
            <a:xfrm flipH="1">
              <a:off x="624890" y="1212148"/>
              <a:ext cx="19920" cy="0"/>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41" name="Frozen snowflake barb 5-1"/>
            <p:cNvCxnSpPr/>
            <p:nvPr/>
          </p:nvCxnSpPr>
          <p:spPr>
            <a:xfrm flipV="1">
              <a:off x="644810" y="1194897"/>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42" name="Frozen snowflake ray 6"/>
            <p:cNvCxnSpPr/>
            <p:nvPr/>
          </p:nvCxnSpPr>
          <p:spPr>
            <a:xfrm flipV="1">
              <a:off x="662340" y="1195069"/>
              <a:ext cx="27390" cy="47441"/>
            </a:xfrm>
            <a:prstGeom prst="line">
              <a:avLst/>
            </a:prstGeom>
            <a:ln w="8964"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43" name="Frozen snowflake barb 6--1"/>
            <p:cNvCxnSpPr/>
            <p:nvPr/>
          </p:nvCxnSpPr>
          <p:spPr>
            <a:xfrm flipH="1" flipV="1">
              <a:off x="669910" y="1194897"/>
              <a:ext cx="9960" cy="17251"/>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cxnSp>
          <p:nvCxnSpPr>
            <p:cNvPr id="44" name="Frozen snowflake barb 6-1"/>
            <p:cNvCxnSpPr/>
            <p:nvPr/>
          </p:nvCxnSpPr>
          <p:spPr>
            <a:xfrm>
              <a:off x="679870" y="1212148"/>
              <a:ext cx="19920" cy="0"/>
            </a:xfrm>
            <a:prstGeom prst="line">
              <a:avLst/>
            </a:prstGeom>
            <a:ln w="7470" cap="rnd">
              <a:solidFill>
                <a:srgbClr val="6189AC"/>
              </a:solidFill>
            </a:ln>
            <a:effectLst/>
          </p:spPr>
          <p:style>
            <a:lnRef idx="2">
              <a:schemeClr val="accent1"/>
            </a:lnRef>
            <a:fillRef idx="0">
              <a:schemeClr val="accent1"/>
            </a:fillRef>
            <a:effectRef idx="0">
              <a:schemeClr val="accent1"/>
            </a:effectRef>
            <a:fontRef idx="minor">
              <a:schemeClr val="tx1"/>
            </a:fontRef>
          </p:style>
        </p:cxnSp>
      </p:grpSp>
      <p:grpSp>
        <p:nvGrpSpPr>
          <p:cNvPr id="45" name="05 | Native tokens"/>
          <p:cNvGrpSpPr/>
          <p:nvPr/>
        </p:nvGrpSpPr>
        <p:grpSpPr>
          <a:xfrm>
            <a:off x="1860030" y="983550"/>
            <a:ext cx="936240" cy="151890"/>
            <a:chOff x="1860030" y="983550"/>
            <a:chExt cx="936240" cy="151890"/>
          </a:xfrm>
        </p:grpSpPr>
        <p:sp>
          <p:nvSpPr>
            <p:cNvPr id="46" name="Native tokens"/>
            <p:cNvSpPr txBox="1"/>
            <p:nvPr/>
          </p:nvSpPr>
          <p:spPr>
            <a:xfrm>
              <a:off x="1860030" y="983550"/>
              <a:ext cx="642420" cy="10956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784" b="0" lang="en-US" kern="0">
                  <a:solidFill>
                    <a:srgbClr val="65778C"/>
                  </a:solidFill>
                  <a:latin typeface="Arial"/>
                  <a:ea typeface="Arial"/>
                  <a:cs typeface="Arial"/>
                </a:rPr>
                <a:t>Native tokens</a:t>
              </a:r>
            </a:p>
          </p:txBody>
        </p:sp>
        <p:sp>
          <p:nvSpPr>
            <p:cNvPr id="47" name="Native input token 1"/>
            <p:cNvSpPr/>
            <p:nvPr/>
          </p:nvSpPr>
          <p:spPr>
            <a:xfrm>
              <a:off x="2534820" y="1005960"/>
              <a:ext cx="67230" cy="67230"/>
            </a:xfrm>
            <a:prstGeom prst="roundRect">
              <a:avLst>
                <a:gd name="adj" fmla="val 11111"/>
              </a:avLst>
            </a:prstGeom>
            <a:solidFill>
              <a:srgbClr val="D5DEE8"/>
            </a:solidFill>
            <a:ln w="4980">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Native input token 2"/>
            <p:cNvSpPr/>
            <p:nvPr/>
          </p:nvSpPr>
          <p:spPr>
            <a:xfrm>
              <a:off x="2631930" y="1005960"/>
              <a:ext cx="67230" cy="67230"/>
            </a:xfrm>
            <a:prstGeom prst="roundRect">
              <a:avLst>
                <a:gd name="adj" fmla="val 11111"/>
              </a:avLst>
            </a:prstGeom>
            <a:solidFill>
              <a:srgbClr val="D5DEE8"/>
            </a:solidFill>
            <a:ln w="4980">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Native input token 3"/>
            <p:cNvSpPr/>
            <p:nvPr/>
          </p:nvSpPr>
          <p:spPr>
            <a:xfrm>
              <a:off x="2729040" y="1005960"/>
              <a:ext cx="67230" cy="67230"/>
            </a:xfrm>
            <a:prstGeom prst="roundRect">
              <a:avLst>
                <a:gd name="adj" fmla="val 11111"/>
              </a:avLst>
            </a:prstGeom>
            <a:solidFill>
              <a:srgbClr val="D5DEE8"/>
            </a:solidFill>
            <a:ln w="4980">
              <a:solidFill>
                <a:srgbClr val="A5B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0" name="Native tokens into decoder"/>
            <p:cNvCxnSpPr/>
            <p:nvPr/>
          </p:nvCxnSpPr>
          <p:spPr>
            <a:xfrm>
              <a:off x="2664300" y="1080660"/>
              <a:ext cx="0" cy="54780"/>
            </a:xfrm>
            <a:prstGeom prst="line">
              <a:avLst/>
            </a:prstGeom>
            <a:ln w="8964" cap="rnd">
              <a:solidFill>
                <a:srgbClr val="7B8BA0"/>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51" name="06 | Gated latent refinement (trainable)"/>
          <p:cNvGrpSpPr/>
          <p:nvPr/>
        </p:nvGrpSpPr>
        <p:grpSpPr>
          <a:xfrm>
            <a:off x="149400" y="1464120"/>
            <a:ext cx="2689200" cy="433260"/>
            <a:chOff x="149400" y="1464120"/>
            <a:chExt cx="2689200" cy="433260"/>
          </a:xfrm>
        </p:grpSpPr>
        <p:sp>
          <p:nvSpPr>
            <p:cNvPr id="52" name="Gated latent refinement container"/>
            <p:cNvSpPr/>
            <p:nvPr/>
          </p:nvSpPr>
          <p:spPr>
            <a:xfrm>
              <a:off x="149400" y="1464120"/>
              <a:ext cx="2689200" cy="433260"/>
            </a:xfrm>
            <a:prstGeom prst="roundRect">
              <a:avLst>
                <a:gd name="adj" fmla="val 8620"/>
              </a:avLst>
            </a:prstGeom>
            <a:solidFill>
              <a:srgbClr val="FFF6ED"/>
            </a:solidFill>
            <a:ln w="6474">
              <a:solidFill>
                <a:srgbClr val="E0BB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Gated latent refinement"/>
            <p:cNvSpPr txBox="1"/>
            <p:nvPr/>
          </p:nvSpPr>
          <p:spPr>
            <a:xfrm>
              <a:off x="343620" y="1506450"/>
              <a:ext cx="2300760" cy="14691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980" b="1" lang="en-US" kern="0">
                  <a:solidFill>
                    <a:srgbClr val="26364D"/>
                  </a:solidFill>
                  <a:latin typeface="Arial"/>
                  <a:ea typeface="Arial"/>
                  <a:cs typeface="Arial"/>
                </a:rPr>
                <a:t>Gated latent refinement</a:t>
              </a:r>
            </a:p>
          </p:txBody>
        </p:sp>
        <p:sp>
          <p:nvSpPr>
            <p:cNvPr id="54" name="Trainable latent refinement marker"/>
            <p:cNvSpPr/>
            <p:nvPr/>
          </p:nvSpPr>
          <p:spPr>
            <a:xfrm>
              <a:off x="2689200" y="1566210"/>
              <a:ext cx="32370" cy="32370"/>
            </a:xfrm>
            <a:prstGeom prst="ellipse">
              <a:avLst/>
            </a:prstGeom>
            <a:solidFill>
              <a:srgbClr val="D58D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5" name="Shared gate controls camera branch"/>
            <p:cNvCxnSpPr/>
            <p:nvPr/>
          </p:nvCxnSpPr>
          <p:spPr>
            <a:xfrm>
              <a:off x="851580" y="1775370"/>
              <a:ext cx="283860" cy="0"/>
            </a:xfrm>
            <a:prstGeom prst="line">
              <a:avLst/>
            </a:prstGeom>
            <a:ln w="7470" cap="rnd">
              <a:solidFill>
                <a:srgbClr val="D5AA80"/>
              </a:solidFill>
              <a:prstDash val="dash"/>
            </a:ln>
            <a:effectLst/>
          </p:spPr>
          <p:style>
            <a:lnRef idx="2">
              <a:schemeClr val="accent1"/>
            </a:lnRef>
            <a:fillRef idx="0">
              <a:schemeClr val="accent1"/>
            </a:fillRef>
            <a:effectRef idx="0">
              <a:schemeClr val="accent1"/>
            </a:effectRef>
            <a:fontRef idx="minor">
              <a:schemeClr val="tx1"/>
            </a:fontRef>
          </p:style>
        </p:cxnSp>
        <p:cxnSp>
          <p:nvCxnSpPr>
            <p:cNvPr id="56" name="Shared gate controls human branch"/>
            <p:cNvCxnSpPr/>
            <p:nvPr/>
          </p:nvCxnSpPr>
          <p:spPr>
            <a:xfrm>
              <a:off x="1852560" y="1775370"/>
              <a:ext cx="234060" cy="0"/>
            </a:xfrm>
            <a:prstGeom prst="line">
              <a:avLst/>
            </a:prstGeom>
            <a:ln w="7470" cap="rnd">
              <a:solidFill>
                <a:srgbClr val="D5AA80"/>
              </a:solidFill>
              <a:prstDash val="dash"/>
            </a:ln>
            <a:effectLst/>
          </p:spPr>
          <p:style>
            <a:lnRef idx="2">
              <a:schemeClr val="accent1"/>
            </a:lnRef>
            <a:fillRef idx="0">
              <a:schemeClr val="accent1"/>
            </a:fillRef>
            <a:effectRef idx="0">
              <a:schemeClr val="accent1"/>
            </a:effectRef>
            <a:fontRef idx="minor">
              <a:schemeClr val="tx1"/>
            </a:fontRef>
          </p:style>
        </p:cxnSp>
        <p:sp>
          <p:nvSpPr>
            <p:cNvPr id="57" name="Shared gate box"/>
            <p:cNvSpPr/>
            <p:nvPr/>
          </p:nvSpPr>
          <p:spPr>
            <a:xfrm>
              <a:off x="1135440" y="1703160"/>
              <a:ext cx="717120" cy="144420"/>
            </a:xfrm>
            <a:prstGeom prst="roundRect">
              <a:avLst>
                <a:gd name="adj" fmla="val 13793"/>
              </a:avLst>
            </a:prstGeom>
            <a:solidFill>
              <a:srgbClr val="FFFFFF"/>
            </a:solidFill>
            <a:ln w="5726">
              <a:solidFill>
                <a:srgbClr val="D5AA8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Shared gate"/>
            <p:cNvSpPr txBox="1"/>
            <p:nvPr/>
          </p:nvSpPr>
          <p:spPr>
            <a:xfrm>
              <a:off x="1160340" y="1713120"/>
              <a:ext cx="667320" cy="12201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843" b="0" lang="en-US" kern="0">
                  <a:solidFill>
                    <a:srgbClr val="8E6646"/>
                  </a:solidFill>
                  <a:latin typeface="Arial"/>
                  <a:ea typeface="Arial"/>
                  <a:cs typeface="Arial"/>
                </a:rPr>
                <a:t>Shared gate</a:t>
              </a:r>
            </a:p>
          </p:txBody>
        </p:sp>
        <p:sp>
          <p:nvSpPr>
            <p:cNvPr id="59" name="Refined camera latent token"/>
            <p:cNvSpPr/>
            <p:nvPr/>
          </p:nvSpPr>
          <p:spPr>
            <a:xfrm>
              <a:off x="714630" y="1713120"/>
              <a:ext cx="124500" cy="124500"/>
            </a:xfrm>
            <a:prstGeom prst="roundRect">
              <a:avLst>
                <a:gd name="adj" fmla="val 10000"/>
              </a:avLst>
            </a:prstGeom>
            <a:solidFill>
              <a:srgbClr val="C6D7E6"/>
            </a:solidFill>
            <a:ln w="6474">
              <a:solidFill>
                <a:srgbClr val="8FA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efined human latent token 1"/>
            <p:cNvSpPr/>
            <p:nvPr/>
          </p:nvSpPr>
          <p:spPr>
            <a:xfrm>
              <a:off x="2086620" y="1730550"/>
              <a:ext cx="69720" cy="89640"/>
            </a:xfrm>
            <a:prstGeom prst="roundRect">
              <a:avLst>
                <a:gd name="adj" fmla="val 10714"/>
              </a:avLst>
            </a:prstGeom>
            <a:solidFill>
              <a:srgbClr val="C6D7E6"/>
            </a:solidFill>
            <a:ln w="5975">
              <a:solidFill>
                <a:srgbClr val="8FA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fined human latent token 2"/>
            <p:cNvSpPr/>
            <p:nvPr/>
          </p:nvSpPr>
          <p:spPr>
            <a:xfrm>
              <a:off x="2176260" y="1730550"/>
              <a:ext cx="69720" cy="89640"/>
            </a:xfrm>
            <a:prstGeom prst="roundRect">
              <a:avLst>
                <a:gd name="adj" fmla="val 10714"/>
              </a:avLst>
            </a:prstGeom>
            <a:solidFill>
              <a:srgbClr val="C6D7E6"/>
            </a:solidFill>
            <a:ln w="5975">
              <a:solidFill>
                <a:srgbClr val="8FA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fined human latent token 3"/>
            <p:cNvSpPr/>
            <p:nvPr/>
          </p:nvSpPr>
          <p:spPr>
            <a:xfrm>
              <a:off x="2265900" y="1730550"/>
              <a:ext cx="69720" cy="89640"/>
            </a:xfrm>
            <a:prstGeom prst="roundRect">
              <a:avLst>
                <a:gd name="adj" fmla="val 10714"/>
              </a:avLst>
            </a:prstGeom>
            <a:solidFill>
              <a:srgbClr val="C6D7E6"/>
            </a:solidFill>
            <a:ln w="5975">
              <a:solidFill>
                <a:srgbClr val="8FA7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63" name="07 | Temporary camera prediction"/>
          <p:cNvGrpSpPr/>
          <p:nvPr/>
        </p:nvGrpSpPr>
        <p:grpSpPr>
          <a:xfrm>
            <a:off x="440730" y="2031840"/>
            <a:ext cx="672300" cy="273900"/>
            <a:chOff x="440730" y="2031840"/>
            <a:chExt cx="672300" cy="273900"/>
          </a:xfrm>
        </p:grpSpPr>
        <p:sp>
          <p:nvSpPr>
            <p:cNvPr id="64" name="Camera frustum outline"/>
            <p:cNvSpPr/>
            <p:nvPr/>
          </p:nvSpPr>
          <p:spPr>
            <a:xfrm>
              <a:off x="654870" y="2031840"/>
              <a:ext cx="244020" cy="136950"/>
            </a:xfrm>
            <a:custGeom>
              <a:avLst/>
              <a:gdLst/>
              <a:ahLst/>
              <a:cxnLst/>
              <a:rect l="l" t="t" r="r" b="b"/>
              <a:pathLst>
                <a:path w="98" h="55">
                  <a:moveTo>
                    <a:pt x="0" y="28"/>
                  </a:moveTo>
                  <a:lnTo>
                    <a:pt x="29" y="8"/>
                  </a:lnTo>
                  <a:lnTo>
                    <a:pt x="98" y="0"/>
                  </a:lnTo>
                  <a:lnTo>
                    <a:pt x="98" y="55"/>
                  </a:lnTo>
                  <a:lnTo>
                    <a:pt x="29" y="46"/>
                  </a:lnTo>
                  <a:lnTo>
                    <a:pt x="0" y="28"/>
                  </a:lnTo>
                  <a:close/>
                </a:path>
              </a:pathLst>
            </a:custGeom>
            <a:noFill/>
            <a:ln w="10458">
              <a:solidFill>
                <a:srgbClr val="647C9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5" name="Camera near plane"/>
            <p:cNvCxnSpPr/>
            <p:nvPr/>
          </p:nvCxnSpPr>
          <p:spPr>
            <a:xfrm>
              <a:off x="727080" y="2051760"/>
              <a:ext cx="0" cy="94620"/>
            </a:xfrm>
            <a:prstGeom prst="line">
              <a:avLst/>
            </a:prstGeom>
            <a:ln w="7968" cap="rnd">
              <a:solidFill>
                <a:srgbClr val="647C93"/>
              </a:solidFill>
            </a:ln>
            <a:effectLst/>
          </p:spPr>
          <p:style>
            <a:lnRef idx="2">
              <a:schemeClr val="accent1"/>
            </a:lnRef>
            <a:fillRef idx="0">
              <a:schemeClr val="accent1"/>
            </a:fillRef>
            <a:effectRef idx="0">
              <a:schemeClr val="accent1"/>
            </a:effectRef>
            <a:fontRef idx="minor">
              <a:schemeClr val="tx1"/>
            </a:fontRef>
          </p:style>
        </p:cxnSp>
        <p:sp>
          <p:nvSpPr>
            <p:cNvPr id="66" name="Camera"/>
            <p:cNvSpPr txBox="1"/>
            <p:nvPr/>
          </p:nvSpPr>
          <p:spPr>
            <a:xfrm>
              <a:off x="440730" y="2188710"/>
              <a:ext cx="672300" cy="11703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823" b="0" lang="en-US" kern="0">
                  <a:solidFill>
                    <a:srgbClr val="65778C"/>
                  </a:solidFill>
                  <a:latin typeface="Arial"/>
                  <a:ea typeface="Arial"/>
                  <a:cs typeface="Arial"/>
                </a:rPr>
                <a:t>Camera</a:t>
              </a:r>
            </a:p>
          </p:txBody>
        </p:sp>
      </p:grpSp>
      <p:grpSp>
        <p:nvGrpSpPr>
          <p:cNvPr id="67" name="08 | Temporary human predictions"/>
          <p:cNvGrpSpPr/>
          <p:nvPr/>
        </p:nvGrpSpPr>
        <p:grpSpPr>
          <a:xfrm>
            <a:off x="1860030" y="2009430"/>
            <a:ext cx="702180" cy="296310"/>
            <a:chOff x="1860030" y="2009430"/>
            <a:chExt cx="702180" cy="296310"/>
          </a:xfrm>
        </p:grpSpPr>
        <p:sp>
          <p:nvSpPr>
            <p:cNvPr id="68" name="Human head"/>
            <p:cNvSpPr/>
            <p:nvPr/>
          </p:nvSpPr>
          <p:spPr>
            <a:xfrm>
              <a:off x="2116500" y="2009430"/>
              <a:ext cx="39840" cy="39840"/>
            </a:xfrm>
            <a:prstGeom prst="ellipse">
              <a:avLst/>
            </a:prstGeom>
            <a:solidFill>
              <a:srgbClr val="647C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Human silhouette"/>
            <p:cNvSpPr/>
            <p:nvPr/>
          </p:nvSpPr>
          <p:spPr>
            <a:xfrm>
              <a:off x="2076660" y="2059230"/>
              <a:ext cx="119520" cy="119520"/>
            </a:xfrm>
            <a:custGeom>
              <a:avLst/>
              <a:gdLst/>
              <a:ahLst/>
              <a:cxnLst/>
              <a:rect l="l" t="t" r="r" b="b"/>
              <a:pathLst>
                <a:path w="48" h="48">
                  <a:moveTo>
                    <a:pt x="17" y="0"/>
                  </a:moveTo>
                  <a:lnTo>
                    <a:pt x="31" y="0"/>
                  </a:lnTo>
                  <a:lnTo>
                    <a:pt x="36" y="8"/>
                  </a:lnTo>
                  <a:lnTo>
                    <a:pt x="48" y="22"/>
                  </a:lnTo>
                  <a:lnTo>
                    <a:pt x="42" y="28"/>
                  </a:lnTo>
                  <a:lnTo>
                    <a:pt x="31" y="15"/>
                  </a:lnTo>
                  <a:lnTo>
                    <a:pt x="30" y="25"/>
                  </a:lnTo>
                  <a:lnTo>
                    <a:pt x="38" y="48"/>
                  </a:lnTo>
                  <a:lnTo>
                    <a:pt x="28" y="48"/>
                  </a:lnTo>
                  <a:lnTo>
                    <a:pt x="24" y="32"/>
                  </a:lnTo>
                  <a:lnTo>
                    <a:pt x="20" y="48"/>
                  </a:lnTo>
                  <a:lnTo>
                    <a:pt x="10" y="48"/>
                  </a:lnTo>
                  <a:lnTo>
                    <a:pt x="18" y="25"/>
                  </a:lnTo>
                  <a:lnTo>
                    <a:pt x="17" y="15"/>
                  </a:lnTo>
                  <a:lnTo>
                    <a:pt x="6" y="28"/>
                  </a:lnTo>
                  <a:lnTo>
                    <a:pt x="0" y="22"/>
                  </a:lnTo>
                  <a:lnTo>
                    <a:pt x="12" y="8"/>
                  </a:lnTo>
                  <a:close/>
                </a:path>
              </a:pathLst>
            </a:custGeom>
            <a:solidFill>
              <a:srgbClr val="647C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Human head"/>
            <p:cNvSpPr/>
            <p:nvPr/>
          </p:nvSpPr>
          <p:spPr>
            <a:xfrm>
              <a:off x="2265900" y="2009430"/>
              <a:ext cx="39840" cy="39840"/>
            </a:xfrm>
            <a:prstGeom prst="ellipse">
              <a:avLst/>
            </a:prstGeom>
            <a:solidFill>
              <a:srgbClr val="647C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Human silhouette"/>
            <p:cNvSpPr/>
            <p:nvPr/>
          </p:nvSpPr>
          <p:spPr>
            <a:xfrm>
              <a:off x="2226060" y="2059230"/>
              <a:ext cx="119520" cy="119520"/>
            </a:xfrm>
            <a:custGeom>
              <a:avLst/>
              <a:gdLst/>
              <a:ahLst/>
              <a:cxnLst/>
              <a:rect l="l" t="t" r="r" b="b"/>
              <a:pathLst>
                <a:path w="48" h="48">
                  <a:moveTo>
                    <a:pt x="17" y="0"/>
                  </a:moveTo>
                  <a:lnTo>
                    <a:pt x="31" y="0"/>
                  </a:lnTo>
                  <a:lnTo>
                    <a:pt x="36" y="8"/>
                  </a:lnTo>
                  <a:lnTo>
                    <a:pt x="48" y="22"/>
                  </a:lnTo>
                  <a:lnTo>
                    <a:pt x="42" y="28"/>
                  </a:lnTo>
                  <a:lnTo>
                    <a:pt x="31" y="15"/>
                  </a:lnTo>
                  <a:lnTo>
                    <a:pt x="30" y="25"/>
                  </a:lnTo>
                  <a:lnTo>
                    <a:pt x="38" y="48"/>
                  </a:lnTo>
                  <a:lnTo>
                    <a:pt x="28" y="48"/>
                  </a:lnTo>
                  <a:lnTo>
                    <a:pt x="24" y="32"/>
                  </a:lnTo>
                  <a:lnTo>
                    <a:pt x="20" y="48"/>
                  </a:lnTo>
                  <a:lnTo>
                    <a:pt x="10" y="48"/>
                  </a:lnTo>
                  <a:lnTo>
                    <a:pt x="18" y="25"/>
                  </a:lnTo>
                  <a:lnTo>
                    <a:pt x="17" y="15"/>
                  </a:lnTo>
                  <a:lnTo>
                    <a:pt x="6" y="28"/>
                  </a:lnTo>
                  <a:lnTo>
                    <a:pt x="0" y="22"/>
                  </a:lnTo>
                  <a:lnTo>
                    <a:pt x="12" y="8"/>
                  </a:lnTo>
                  <a:close/>
                </a:path>
              </a:pathLst>
            </a:custGeom>
            <a:solidFill>
              <a:srgbClr val="647C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Humans"/>
            <p:cNvSpPr txBox="1"/>
            <p:nvPr/>
          </p:nvSpPr>
          <p:spPr>
            <a:xfrm>
              <a:off x="1860030" y="2188710"/>
              <a:ext cx="702180" cy="11703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823" b="0" lang="en-US" kern="0">
                  <a:solidFill>
                    <a:srgbClr val="65778C"/>
                  </a:solidFill>
                  <a:latin typeface="Arial"/>
                  <a:ea typeface="Arial"/>
                  <a:cs typeface="Arial"/>
                </a:rPr>
                <a:t>Humans</a:t>
              </a:r>
            </a:p>
          </p:txBody>
        </p:sp>
      </p:grpSp>
      <p:grpSp>
        <p:nvGrpSpPr>
          <p:cNvPr id="73" name="09 | Temporary output annotation"/>
          <p:cNvGrpSpPr/>
          <p:nvPr/>
        </p:nvGrpSpPr>
        <p:grpSpPr>
          <a:xfrm>
            <a:off x="473100" y="2348070"/>
            <a:ext cx="2041800" cy="109560"/>
            <a:chOff x="473100" y="2348070"/>
            <a:chExt cx="2041800" cy="109560"/>
          </a:xfrm>
        </p:grpSpPr>
        <p:sp>
          <p:nvSpPr>
            <p:cNvPr id="74" name="Temporary · Not propagated"/>
            <p:cNvSpPr txBox="1"/>
            <p:nvPr/>
          </p:nvSpPr>
          <p:spPr>
            <a:xfrm>
              <a:off x="473100" y="2348070"/>
              <a:ext cx="2041800" cy="109560"/>
            </a:xfrm>
            <a:prstGeom prst="rect">
              <a:avLst/>
            </a:prstGeom>
            <a:noFill/>
            <a:ln>
              <a:noFill/>
            </a:ln>
            <a:effectLst/>
          </p:spPr>
          <p:txBody>
            <a:bodyPr wrap="none" anchor="ctr" lIns="0" rIns="0" tIns="0" bIns="0">
              <a:noAutofit/>
            </a:bodyPr>
            <a:lstStyle/>
            <a:p>
              <a:pPr algn="ctr">
                <a:lnSpc>
                  <a:spcPct val="100000"/>
                </a:lnSpc>
                <a:spcBef>
                  <a:spcPts val="0"/>
                </a:spcBef>
                <a:spcAft>
                  <a:spcPts val="0"/>
                </a:spcAft>
              </a:pPr>
              <a:r>
                <a:rPr sz="784" b="0" lang="en-US" kern="0">
                  <a:solidFill>
                    <a:srgbClr val="65778C"/>
                  </a:solidFill>
                  <a:latin typeface="Arial"/>
                  <a:ea typeface="Arial"/>
                  <a:cs typeface="Arial"/>
                </a:rPr>
                <a:t>Temporary · Not propagated</a:t>
              </a:r>
            </a:p>
          </p:txBody>
        </p:sp>
      </p:grpSp>
      <p:grpSp>
        <p:nvGrpSpPr>
          <p:cNvPr id="75" name="00 | Data flow"/>
          <p:cNvGrpSpPr/>
          <p:nvPr/>
        </p:nvGrpSpPr>
        <p:grpSpPr>
          <a:xfrm>
            <a:off x="740775" y="273900"/>
            <a:ext cx="1506450" cy="1718100"/>
            <a:chOff x="740775" y="273900"/>
            <a:chExt cx="1506450" cy="1718100"/>
          </a:xfrm>
        </p:grpSpPr>
        <p:cxnSp>
          <p:nvCxnSpPr>
            <p:cNvPr id="76" name="Current input vertical"/>
            <p:cNvCxnSpPr/>
            <p:nvPr/>
          </p:nvCxnSpPr>
          <p:spPr>
            <a:xfrm>
              <a:off x="740775" y="273900"/>
              <a:ext cx="0" cy="57270"/>
            </a:xfrm>
            <a:prstGeom prst="line">
              <a:avLst/>
            </a:prstGeom>
            <a:ln w="9213" cap="rnd">
              <a:solidFill>
                <a:srgbClr val="7B8BA0"/>
              </a:solidFill>
            </a:ln>
            <a:effectLst/>
          </p:spPr>
          <p:style>
            <a:lnRef idx="2">
              <a:schemeClr val="accent1"/>
            </a:lnRef>
            <a:fillRef idx="0">
              <a:schemeClr val="accent1"/>
            </a:fillRef>
            <a:effectRef idx="0">
              <a:schemeClr val="accent1"/>
            </a:effectRef>
            <a:fontRef idx="minor">
              <a:schemeClr val="tx1"/>
            </a:fontRef>
          </p:style>
        </p:cxnSp>
        <p:cxnSp>
          <p:nvCxnSpPr>
            <p:cNvPr id="77" name="History input vertical"/>
            <p:cNvCxnSpPr/>
            <p:nvPr/>
          </p:nvCxnSpPr>
          <p:spPr>
            <a:xfrm>
              <a:off x="2247225" y="273900"/>
              <a:ext cx="0" cy="57270"/>
            </a:xfrm>
            <a:prstGeom prst="line">
              <a:avLst/>
            </a:prstGeom>
            <a:ln w="9213" cap="rnd">
              <a:solidFill>
                <a:srgbClr val="7B8BA0"/>
              </a:solidFill>
            </a:ln>
            <a:effectLst/>
          </p:spPr>
          <p:style>
            <a:lnRef idx="2">
              <a:schemeClr val="accent1"/>
            </a:lnRef>
            <a:fillRef idx="0">
              <a:schemeClr val="accent1"/>
            </a:fillRef>
            <a:effectRef idx="0">
              <a:schemeClr val="accent1"/>
            </a:effectRef>
            <a:fontRef idx="minor">
              <a:schemeClr val="tx1"/>
            </a:fontRef>
          </p:style>
        </p:cxnSp>
        <p:cxnSp>
          <p:nvCxnSpPr>
            <p:cNvPr id="78" name="Current and history merged input"/>
            <p:cNvCxnSpPr/>
            <p:nvPr/>
          </p:nvCxnSpPr>
          <p:spPr>
            <a:xfrm>
              <a:off x="740775" y="331170"/>
              <a:ext cx="1506450" cy="0"/>
            </a:xfrm>
            <a:prstGeom prst="line">
              <a:avLst/>
            </a:prstGeom>
            <a:ln w="9213" cap="rnd">
              <a:solidFill>
                <a:srgbClr val="7B8BA0"/>
              </a:solidFill>
            </a:ln>
            <a:effectLst/>
          </p:spPr>
          <p:style>
            <a:lnRef idx="2">
              <a:schemeClr val="accent1"/>
            </a:lnRef>
            <a:fillRef idx="0">
              <a:schemeClr val="accent1"/>
            </a:fillRef>
            <a:effectRef idx="0">
              <a:schemeClr val="accent1"/>
            </a:effectRef>
            <a:fontRef idx="minor">
              <a:schemeClr val="tx1"/>
            </a:fontRef>
          </p:style>
        </p:cxnSp>
        <p:cxnSp>
          <p:nvCxnSpPr>
            <p:cNvPr id="79" name="Evidence into typed tokens"/>
            <p:cNvCxnSpPr/>
            <p:nvPr/>
          </p:nvCxnSpPr>
          <p:spPr>
            <a:xfrm>
              <a:off x="1494000" y="331170"/>
              <a:ext cx="0" cy="72210"/>
            </a:xfrm>
            <a:prstGeom prst="line">
              <a:avLst/>
            </a:prstGeom>
            <a:ln w="9710" cap="rnd">
              <a:solidFill>
                <a:srgbClr val="7B8BA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0" name="Typed tokens into recurrent decoder"/>
            <p:cNvCxnSpPr/>
            <p:nvPr/>
          </p:nvCxnSpPr>
          <p:spPr>
            <a:xfrm>
              <a:off x="1494000" y="946200"/>
              <a:ext cx="0" cy="189240"/>
            </a:xfrm>
            <a:prstGeom prst="line">
              <a:avLst/>
            </a:prstGeom>
            <a:ln w="9960" cap="rnd">
              <a:solidFill>
                <a:srgbClr val="7B8BA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1" name="Decoder into gated refinement"/>
            <p:cNvCxnSpPr/>
            <p:nvPr/>
          </p:nvCxnSpPr>
          <p:spPr>
            <a:xfrm>
              <a:off x="1494000" y="1349580"/>
              <a:ext cx="0" cy="109560"/>
            </a:xfrm>
            <a:prstGeom prst="line">
              <a:avLst/>
            </a:prstGeom>
            <a:ln w="9960" cap="rnd">
              <a:solidFill>
                <a:srgbClr val="7B8BA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2" name="Camera latent into temporary camera"/>
            <p:cNvCxnSpPr/>
            <p:nvPr/>
          </p:nvCxnSpPr>
          <p:spPr>
            <a:xfrm>
              <a:off x="776880" y="1840110"/>
              <a:ext cx="0" cy="151890"/>
            </a:xfrm>
            <a:prstGeom prst="line">
              <a:avLst/>
            </a:prstGeom>
            <a:ln w="9462" cap="rnd">
              <a:solidFill>
                <a:srgbClr val="7B8BA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3" name="Human latents into temporary humans"/>
            <p:cNvCxnSpPr/>
            <p:nvPr/>
          </p:nvCxnSpPr>
          <p:spPr>
            <a:xfrm>
              <a:off x="2211120" y="1825170"/>
              <a:ext cx="0" cy="161850"/>
            </a:xfrm>
            <a:prstGeom prst="line">
              <a:avLst/>
            </a:prstGeom>
            <a:ln w="9462" cap="rnd">
              <a:solidFill>
                <a:srgbClr val="7B8BA0"/>
              </a:solidFill>
              <a:tailEnd type="triangle" w="sm" len="sm"/>
            </a:ln>
            <a:effectLst/>
          </p:spPr>
          <p:style>
            <a:lnRef idx="2">
              <a:schemeClr val="accent1"/>
            </a:lnRef>
            <a:fillRef idx="0">
              <a:schemeClr val="accent1"/>
            </a:fillRef>
            <a:effectRef idx="0">
              <a:schemeClr val="accent1"/>
            </a:effectRef>
            <a:fontRef idx="minor">
              <a:schemeClr val="tx1"/>
            </a:fontRef>
          </p:style>
        </p:cxn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Shot3R — Shot-alignment module</dc:title>
  <dc:subject>Compact editable module diagram</dc:subject>
  <dc:creator>Shot3R</dc:creator>
  <cp:keywords>Shot3R, alignment tokens, recurrent decoder, gated latent refinement</cp:keywords>
  <dc:description>Native PowerPoint shapes and text; no raster image layers.</dc:description>
  <cp:lastModifiedBy>Steve Canny</cp:lastModifiedBy>
  <cp:revision>1</cp:revision>
  <dcterms:created xsi:type="dcterms:W3CDTF">2013-01-27T09:14:16Z</dcterms:created>
  <dcterms:modified xsi:type="dcterms:W3CDTF">2013-01-27T09:15:58Z</dcterms:modified>
  <cp:category/>
</cp:coreProperties>
</file>