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945600" cy="7315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Shot3R pipeline redrawn from the figure and the v040 drawing brief supplied in this conversation.</a:t>
            </a:r>
          </a:p>
          <a:p>
            <a:r>
              <a:t>ARTICLE FIGURE 2: SCHEMATIC WORLD-FRAME OUTPUT ILLUSTRATION. Only the final Output panel differs geometrically from V2. The Input/association/refinement panels retain their V2 evidence. Output camera centres/orientations use the previously audited static calibration for cam18/cam15/cam19. Shot 1 versus Shot 3: 6.355 degrees; Shot 1 versus Shot 2: 179.427 degrees; Shot 2 versus Shot 3: 177.929 degrees. These poses are annotation-derived static PnP calibration, not model camera predictions. The existing frame-125 predicted meshes for persistent IDs 0/1 are transformed together using calibrated_cam19_c2w @ inverse(predicted_frame125_c2w). Shapes, articulation, inter-person layout and camera-local coordinates are preserved; no GT human geometry, pelvis target or per-person registration is used. The calibrated panel is a representation/geometry illustration and must not be presented as uncorrected method performance. The visible subtitle explicitly reads Illustration—not raw output. RGB source crop choices do not change physical camera extrinsics. Camera glyphs use full-source fisheye corner rays; their lengths are display scales. The grid is a display aid, not reconstructed background. Original caches, metrics and earlier PPT versions remain untouched. Text/arrows/camera lines/grid remain editable; humans are a replaceable transparent render. This uses the existing supplementary train-side multicut case_01 for illustration only. See asset_provenance.json for explicit calibration and human-gauge transforms.</a:t>
            </a:r>
          </a:p>
          <a:p>
            <a:r>
              <a:t>Information flow: the same boundary frame is processed with shared base decoder weights but separate states. Only the independently reinitialized recurrent state propagates; the temporary historical state terminates. Three alignment tokens enter the recurrent decoder before the camera residual. Prediction-based person association uses pelvis position, torso orientation, and root-centered joint configuration. The person-guided translation yields a shared camera–human transform; it is not per-person pose optimization or scene optimization. The image encoder and recurrent decoder are marked frozen. The token construction and camera residual are marked trainable.</a:t>
            </a:r>
          </a:p>
          <a:p>
            <a:r>
              <a:t>The diagram uses generic backbone labels as requested. Source attribution for the inherited pretrained architecture should be retained in the manuscript or caption.</a:t>
            </a:r>
          </a:p>
          <a:p>
            <a:r>
              <a:t>Suggested caption: Overview of Shot3R. At a shot transition, the first new-shot frame is processed by two paths with shared backbone weights: a history-conditioned alignment path estimates inter-shot alignment, while an independently reinitialized reconstruction path supplies the only state propagated to subsequent frames. Prediction-based person association and a shared camera–human transform connect new-shot predictions to the existing world frame without accessing future frames or revising past outputs.</a:t>
            </a:r>
          </a:p>
          <a:p/>
          <a:p>
            <a:r>
              <a:t>REVISION 2026-09-08 — based only on the two attachments provided in this chat.</a:t>
            </a:r>
          </a:p>
          <a:p>
            <a:r>
              <a:t>The nine decisions in Shot3R_Pipeline_图文对齐修改确认清单_20260908(2).md are implemented at figure level.</a:t>
            </a:r>
          </a:p>
          <a:p>
            <a:r>
              <a:t>1. Added a lightweight online shot-transition detector, current/past RGB input and dashed control links.</a:t>
            </a:r>
          </a:p>
          <a:p>
            <a:r>
              <a:t>2. Clarified that the two boundary paths receive the same native input tokens; frozen/learned legend is restrained.</a:t>
            </a:r>
          </a:p>
          <a:p>
            <a:r>
              <a:t>3. Added subsequent-frame input and an explicit recurrent-state feedback loop; reset is used only at a cut. No geometry output is fed back into state.</a:t>
            </a:r>
          </a:p>
          <a:p>
            <a:r>
              <a:t>4. Kept the original coarse alignment arrangement: prior state, alignment-token construction, frozen decoder, trainable camera residual and temporary-state termination.</a:t>
            </a:r>
          </a:p>
          <a:p>
            <a:r>
              <a:t>5. Kept all three alignment tokens; removed small Attention/MLP internals instead of adding a token-detail panel.</a:t>
            </a:r>
          </a:p>
          <a:p>
            <a:r>
              <a:t>6. Labelled previous-shot last-frame predictions and aligned new-shot first-frame predictions. Matching supplies persistent IDs and matched pairs.</a:t>
            </a:r>
          </a:p>
          <a:p>
            <a:r>
              <a:t>7. Shared translation acts jointly on the camera and all people; no extra rotation fit, per-person registration or scene optimisation is introduced.</a:t>
            </a:r>
          </a:p>
          <a:p>
            <a:r>
              <a:t>8. Added Repeated at each detected transition and Past outputs remain unchanged.</a:t>
            </a:r>
          </a:p>
          <a:p>
            <a:r>
              <a:t>9. Removed the redundant footer and used the space for control, recurrence and whitespace.</a:t>
            </a:r>
          </a:p>
          <a:p>
            <a:r>
              <a:t>All nine RGB thumbnails, the enlarged boundary frame, the four association meshes, the two translation mini-scenes and the calibrated output illustration are retained from the original deck. The output illustration geometry and image placement have not been changed. The illustration is not raw model-performance evidence.</a:t>
            </a:r>
          </a:p>
          <a:p>
            <a:r>
              <a:t>All newly added boxes, labels, control/data arrows, symbols and loops are native editable PowerPoint objects. RGB photographs and human renderings remain individually replaceable embedded images.</a:t>
            </a:r>
          </a:p>
          <a:p>
            <a:r>
              <a:t>The latest manuscript files referred to in the checklist were not attached; they were not inspected or edited. This revision does not alter the paper, experimental results, training, model weights or checkpoint. The original uploaded PPTX remains untouched.</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harmony4d_f012.jpg"/><Relationship Id="rId3" Type="http://schemas.openxmlformats.org/officeDocument/2006/relationships/image" Target="../media/harmony4d_f032.jpg"/><Relationship Id="rId4" Type="http://schemas.openxmlformats.org/officeDocument/2006/relationships/image" Target="../media/harmony4d_f049.jpg"/><Relationship Id="rId5" Type="http://schemas.openxmlformats.org/officeDocument/2006/relationships/image" Target="../media/harmony4d_f050.jpg"/><Relationship Id="rId6" Type="http://schemas.openxmlformats.org/officeDocument/2006/relationships/image" Target="../media/harmony4d_f075.jpg"/><Relationship Id="rId7" Type="http://schemas.openxmlformats.org/officeDocument/2006/relationships/image" Target="../media/harmony4d_f099.jpg"/><Relationship Id="rId8" Type="http://schemas.openxmlformats.org/officeDocument/2006/relationships/image" Target="../media/harmony4d_f100.jpg"/><Relationship Id="rId9" Type="http://schemas.openxmlformats.org/officeDocument/2006/relationships/image" Target="../media/harmony4d_f125.jpg"/><Relationship Id="rId10" Type="http://schemas.openxmlformats.org/officeDocument/2006/relationships/image" Target="../media/harmony4d_f149.jpg"/><Relationship Id="rId11" Type="http://schemas.openxmlformats.org/officeDocument/2006/relationships/image" Target="../media/harmony4d_f050.jpg"/><Relationship Id="rId12" Type="http://schemas.openxmlformats.org/officeDocument/2006/relationships/notesSlide" Target="../notesSlides/notesSlide1.xml"/><Relationship Id="rId20" Type="http://schemas.openxmlformats.org/officeDocument/2006/relationships/image" Target="../media/f049_predicted_id00.png"/><Relationship Id="rId21" Type="http://schemas.openxmlformats.org/officeDocument/2006/relationships/image" Target="../media/f049_predicted_id01.png"/><Relationship Id="rId22" Type="http://schemas.openxmlformats.org/officeDocument/2006/relationships/image" Target="../media/f050_predicted_id01.png"/><Relationship Id="rId23" Type="http://schemas.openxmlformats.org/officeDocument/2006/relationships/image" Target="../media/f050_predicted_id00.png"/><Relationship Id="rId30" Type="http://schemas.openxmlformats.org/officeDocument/2006/relationships/image" Target="../media/real_v2_f050_predicted_id00.png"/><Relationship Id="rId31" Type="http://schemas.openxmlformats.org/officeDocument/2006/relationships/image" Target="../media/real_v2_f050_predicted_id01.png"/><Relationship Id="rId32" Type="http://schemas.openxmlformats.org/officeDocument/2006/relationships/image" Target="../media/real_v2_refinement_before.png"/><Relationship Id="rId33" Type="http://schemas.openxmlformats.org/officeDocument/2006/relationships/image" Target="../media/real_v2_refinement_after.png"/><Relationship Id="rId34" Type="http://schemas.openxmlformats.org/officeDocument/2006/relationships/image" Target="../media/real_v2_streaming_output_people.png"/><Relationship Id="rId35" Type="http://schemas.openxmlformats.org/officeDocument/2006/relationships/image" Target="../media/real_v2_calibration_assisted_output_people.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01 Multi-shot video"/>
          <p:cNvGrpSpPr/>
          <p:nvPr/>
        </p:nvGrpSpPr>
        <p:grpSpPr>
          <a:xfrm>
            <a:off x="162560" y="142240"/>
            <a:ext cx="2966720" cy="6995160"/>
            <a:chOff x="162560" y="142240"/>
            <a:chExt cx="2966720" cy="6995160"/>
          </a:xfrm>
        </p:grpSpPr>
        <p:sp>
          <p:nvSpPr>
            <p:cNvPr id="3" name="Panel Multi-shot video"/>
            <p:cNvSpPr/>
            <p:nvPr/>
          </p:nvSpPr>
          <p:spPr>
            <a:xfrm>
              <a:off x="162560" y="142240"/>
              <a:ext cx="2966720" cy="6995160"/>
            </a:xfrm>
            <a:prstGeom prst="roundRect">
              <a:avLst>
                <a:gd name="adj" fmla="val 4452"/>
              </a:avLst>
            </a:prstGeom>
            <a:solidFill>
              <a:srgbClr val="F7F9FC"/>
            </a:solidFill>
            <a:ln w="14223">
              <a:solidFill>
                <a:srgbClr val="CFD9E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Header Multi-shot video"/>
            <p:cNvSpPr/>
            <p:nvPr/>
          </p:nvSpPr>
          <p:spPr>
            <a:xfrm>
              <a:off x="182880" y="162560"/>
              <a:ext cx="2926080" cy="619760"/>
            </a:xfrm>
            <a:prstGeom prst="roundRect">
              <a:avLst>
                <a:gd name="adj" fmla="val 18032"/>
              </a:avLst>
            </a:prstGeom>
            <a:solidFill>
              <a:srgbClr val="EDF2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Header band base"/>
            <p:cNvSpPr/>
            <p:nvPr/>
          </p:nvSpPr>
          <p:spPr>
            <a:xfrm>
              <a:off x="182880" y="650240"/>
              <a:ext cx="2926080" cy="121920"/>
            </a:xfrm>
            <a:prstGeom prst="rect">
              <a:avLst/>
            </a:prstGeom>
            <a:solidFill>
              <a:srgbClr val="EDF2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 Multi-shot video"/>
            <p:cNvSpPr txBox="1"/>
            <p:nvPr/>
          </p:nvSpPr>
          <p:spPr>
            <a:xfrm>
              <a:off x="335280" y="264160"/>
              <a:ext cx="2621280" cy="457200"/>
            </a:xfrm>
            <a:prstGeom prst="rect">
              <a:avLst/>
            </a:prstGeom>
            <a:noFill/>
          </p:spPr>
          <p:txBody>
            <a:bodyPr wrap="none" lIns="0" rIns="0" tIns="0" bIns="0" anchor="ctr">
              <a:spAutoFit/>
            </a:bodyPr>
            <a:lstStyle/>
            <a:p>
              <a:pPr algn="l">
                <a:lnSpc>
                  <a:spcPct val="103000"/>
                </a:lnSpc>
                <a:spcBef>
                  <a:spcPts val="0"/>
                </a:spcBef>
                <a:spcAft>
                  <a:spcPts val="0"/>
                </a:spcAft>
              </a:pPr>
              <a:r>
                <a:rPr sz="2160" b="1" i="0">
                  <a:solidFill>
                    <a:srgbClr val="23324A"/>
                  </a:solidFill>
                  <a:latin typeface="Arial"/>
                </a:rPr>
                <a:t>Multi-shot video</a:t>
              </a:r>
            </a:p>
          </p:txBody>
        </p:sp>
        <p:grpSp>
          <p:nvGrpSpPr>
            <p:cNvPr id="7" name="Shot 1 — input thumbnails"/>
            <p:cNvGrpSpPr/>
            <p:nvPr/>
          </p:nvGrpSpPr>
          <p:grpSpPr>
            <a:xfrm>
              <a:off x="304800" y="995680"/>
              <a:ext cx="2682240" cy="1198880"/>
              <a:chOff x="304800" y="995680"/>
              <a:chExt cx="2682240" cy="1198880"/>
            </a:xfrm>
          </p:grpSpPr>
          <p:sp>
            <p:nvSpPr>
              <p:cNvPr id="8" name="Shot 1 background"/>
              <p:cNvSpPr/>
              <p:nvPr/>
            </p:nvSpPr>
            <p:spPr>
              <a:xfrm>
                <a:off x="304800" y="995680"/>
                <a:ext cx="2682240" cy="1198880"/>
              </a:xfrm>
              <a:prstGeom prst="roundRect">
                <a:avLst>
                  <a:gd name="adj" fmla="val 8474"/>
                </a:avLst>
              </a:prstGeom>
              <a:solidFill>
                <a:srgbClr val="E4F1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 Shot 1"/>
              <p:cNvSpPr txBox="1"/>
              <p:nvPr/>
            </p:nvSpPr>
            <p:spPr>
              <a:xfrm>
                <a:off x="447040" y="1066800"/>
                <a:ext cx="1869440" cy="294640"/>
              </a:xfrm>
              <a:prstGeom prst="rect">
                <a:avLst/>
              </a:prstGeom>
              <a:noFill/>
            </p:spPr>
            <p:txBody>
              <a:bodyPr wrap="none" lIns="0" rIns="0" tIns="0" bIns="0" anchor="ctr">
                <a:spAutoFit/>
              </a:bodyPr>
              <a:lstStyle/>
              <a:p>
                <a:pPr algn="l">
                  <a:lnSpc>
                    <a:spcPct val="103000"/>
                  </a:lnSpc>
                  <a:spcBef>
                    <a:spcPts val="0"/>
                  </a:spcBef>
                  <a:spcAft>
                    <a:spcPts val="0"/>
                  </a:spcAft>
                </a:pPr>
                <a:r>
                  <a:rPr sz="1920" b="1" i="0">
                    <a:solidFill>
                      <a:srgbClr val="337BCD"/>
                    </a:solidFill>
                    <a:latin typeface="Arial"/>
                  </a:rPr>
                  <a:t>Shot 1</a:t>
                </a:r>
              </a:p>
            </p:txBody>
          </p:sp>
          <p:pic>
            <p:nvPicPr>
              <p:cNvPr id="10" name="Harmony4D | shot 1 | f012 | editable RGB crop" descr="Real Harmony4D 10_karate2/001_karate2, shot 1, clip frame 12; reversible crop; full RGB embedded."/>
              <p:cNvPicPr>
                <a:picLocks noChangeAspect="1"/>
              </p:cNvPicPr>
              <p:nvPr/>
            </p:nvPicPr>
            <p:blipFill>
              <a:blip r:embed="rId2"/>
              <a:srcRect l="33783" t="13500" r="9783" b="1500"/>
              <a:stretch>
                <a:fillRect/>
              </a:stretch>
            </p:blipFill>
            <p:spPr>
              <a:xfrm>
                <a:off x="447040" y="1452880"/>
                <a:ext cx="731520" cy="619760"/>
              </a:xfrm>
              <a:prstGeom prst="rect">
                <a:avLst/>
              </a:prstGeom>
            </p:spPr>
          </p:pic>
          <p:pic>
            <p:nvPicPr>
              <p:cNvPr id="11" name="Harmony4D | shot 1 | f032 | editable RGB crop" descr="Real Harmony4D 10_karate2/001_karate2, shot 1, clip frame 32; reversible crop; full RGB embedded."/>
              <p:cNvPicPr>
                <a:picLocks noChangeAspect="1"/>
              </p:cNvPicPr>
              <p:nvPr/>
            </p:nvPicPr>
            <p:blipFill>
              <a:blip r:embed="rId3"/>
              <a:srcRect l="33783" t="13500" r="9783" b="1500"/>
              <a:stretch>
                <a:fillRect/>
              </a:stretch>
            </p:blipFill>
            <p:spPr>
              <a:xfrm>
                <a:off x="1239520" y="1452880"/>
                <a:ext cx="731520" cy="619760"/>
              </a:xfrm>
              <a:prstGeom prst="rect">
                <a:avLst/>
              </a:prstGeom>
            </p:spPr>
          </p:pic>
          <p:pic>
            <p:nvPicPr>
              <p:cNvPr id="12" name="Harmony4D | shot 1 | f049 | editable RGB crop" descr="Real Harmony4D 10_karate2/001_karate2, shot 1, clip frame 49; reversible crop; full RGB embedded."/>
              <p:cNvPicPr>
                <a:picLocks noChangeAspect="1"/>
              </p:cNvPicPr>
              <p:nvPr/>
            </p:nvPicPr>
            <p:blipFill>
              <a:blip r:embed="rId4"/>
              <a:srcRect l="33783" t="13500" r="9783" b="1500"/>
              <a:stretch>
                <a:fillRect/>
              </a:stretch>
            </p:blipFill>
            <p:spPr>
              <a:xfrm>
                <a:off x="2032000" y="1452880"/>
                <a:ext cx="731520" cy="619760"/>
              </a:xfrm>
              <a:prstGeom prst="rect">
                <a:avLst/>
              </a:prstGeom>
            </p:spPr>
          </p:pic>
          <p:sp>
            <p:nvSpPr>
              <p:cNvPr id="13" name="Text: …"/>
              <p:cNvSpPr txBox="1"/>
              <p:nvPr/>
            </p:nvSpPr>
            <p:spPr>
              <a:xfrm>
                <a:off x="2763520" y="1635760"/>
                <a:ext cx="203200" cy="264160"/>
              </a:xfrm>
              <a:prstGeom prst="rect">
                <a:avLst/>
              </a:prstGeom>
              <a:noFill/>
            </p:spPr>
            <p:txBody>
              <a:bodyPr wrap="none" lIns="0" rIns="0" tIns="0" bIns="0" anchor="ctr">
                <a:spAutoFit/>
              </a:bodyPr>
              <a:lstStyle/>
              <a:p>
                <a:pPr algn="ctr">
                  <a:lnSpc>
                    <a:spcPct val="103000"/>
                  </a:lnSpc>
                  <a:spcBef>
                    <a:spcPts val="0"/>
                  </a:spcBef>
                  <a:spcAft>
                    <a:spcPts val="0"/>
                  </a:spcAft>
                </a:pPr>
                <a:r>
                  <a:rPr sz="1760" b="0" i="0">
                    <a:solidFill>
                      <a:srgbClr val="23324A"/>
                    </a:solidFill>
                    <a:latin typeface="Arial"/>
                  </a:rPr>
                  <a:t>…</a:t>
                </a:r>
              </a:p>
            </p:txBody>
          </p:sp>
        </p:grpSp>
        <p:grpSp>
          <p:nvGrpSpPr>
            <p:cNvPr id="14" name="Shot 2 — input thumbnails"/>
            <p:cNvGrpSpPr/>
            <p:nvPr/>
          </p:nvGrpSpPr>
          <p:grpSpPr>
            <a:xfrm>
              <a:off x="304800" y="2641600"/>
              <a:ext cx="2682240" cy="1198880"/>
              <a:chOff x="304800" y="2641600"/>
              <a:chExt cx="2682240" cy="1198880"/>
            </a:xfrm>
          </p:grpSpPr>
          <p:sp>
            <p:nvSpPr>
              <p:cNvPr id="15" name="Shot 2 background"/>
              <p:cNvSpPr/>
              <p:nvPr/>
            </p:nvSpPr>
            <p:spPr>
              <a:xfrm>
                <a:off x="304800" y="2641600"/>
                <a:ext cx="2682240" cy="1198880"/>
              </a:xfrm>
              <a:prstGeom prst="roundRect">
                <a:avLst>
                  <a:gd name="adj" fmla="val 8474"/>
                </a:avLst>
              </a:prstGeom>
              <a:solidFill>
                <a:srgbClr val="E2F5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 Shot 2"/>
              <p:cNvSpPr txBox="1"/>
              <p:nvPr/>
            </p:nvSpPr>
            <p:spPr>
              <a:xfrm>
                <a:off x="447040" y="2712720"/>
                <a:ext cx="1869440" cy="294640"/>
              </a:xfrm>
              <a:prstGeom prst="rect">
                <a:avLst/>
              </a:prstGeom>
              <a:noFill/>
            </p:spPr>
            <p:txBody>
              <a:bodyPr wrap="none" lIns="0" rIns="0" tIns="0" bIns="0" anchor="ctr">
                <a:spAutoFit/>
              </a:bodyPr>
              <a:lstStyle/>
              <a:p>
                <a:pPr algn="l">
                  <a:lnSpc>
                    <a:spcPct val="103000"/>
                  </a:lnSpc>
                  <a:spcBef>
                    <a:spcPts val="0"/>
                  </a:spcBef>
                  <a:spcAft>
                    <a:spcPts val="0"/>
                  </a:spcAft>
                </a:pPr>
                <a:r>
                  <a:rPr sz="1920" b="1" i="0">
                    <a:solidFill>
                      <a:srgbClr val="198F84"/>
                    </a:solidFill>
                    <a:latin typeface="Arial"/>
                  </a:rPr>
                  <a:t>Shot 2</a:t>
                </a:r>
              </a:p>
            </p:txBody>
          </p:sp>
          <p:pic>
            <p:nvPicPr>
              <p:cNvPr id="17" name="Harmony4D | shot 2 | f050 | editable RGB crop" descr="Real Harmony4D 10_karate2/001_karate2, shot 2, clip frame 50; reversible crop; full RGB embedded."/>
              <p:cNvPicPr>
                <a:picLocks noChangeAspect="1"/>
              </p:cNvPicPr>
              <p:nvPr/>
            </p:nvPicPr>
            <p:blipFill>
              <a:blip r:embed="rId5"/>
              <a:srcRect l="43566" t="10500" r="0" b="4500"/>
              <a:stretch>
                <a:fillRect/>
              </a:stretch>
            </p:blipFill>
            <p:spPr>
              <a:xfrm>
                <a:off x="447040" y="3098800"/>
                <a:ext cx="731520" cy="619760"/>
              </a:xfrm>
              <a:prstGeom prst="rect">
                <a:avLst/>
              </a:prstGeom>
            </p:spPr>
          </p:pic>
          <p:sp>
            <p:nvSpPr>
              <p:cNvPr id="18" name="First new-shot frame highlight"/>
              <p:cNvSpPr/>
              <p:nvPr/>
            </p:nvSpPr>
            <p:spPr>
              <a:xfrm>
                <a:off x="436880" y="3088640"/>
                <a:ext cx="751840" cy="640080"/>
              </a:xfrm>
              <a:prstGeom prst="roundRect">
                <a:avLst>
                  <a:gd name="adj" fmla="val 3174"/>
                </a:avLst>
              </a:prstGeom>
              <a:noFill/>
              <a:ln w="20320">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Harmony4D | shot 2 | f075 | editable RGB crop" descr="Real Harmony4D 10_karate2/001_karate2, shot 2, clip frame 75; reversible crop; full RGB embedded."/>
              <p:cNvPicPr>
                <a:picLocks noChangeAspect="1"/>
              </p:cNvPicPr>
              <p:nvPr/>
            </p:nvPicPr>
            <p:blipFill>
              <a:blip r:embed="rId6"/>
              <a:srcRect l="43566" t="10500" r="0" b="4500"/>
              <a:stretch>
                <a:fillRect/>
              </a:stretch>
            </p:blipFill>
            <p:spPr>
              <a:xfrm>
                <a:off x="1239520" y="3098800"/>
                <a:ext cx="731520" cy="619760"/>
              </a:xfrm>
              <a:prstGeom prst="rect">
                <a:avLst/>
              </a:prstGeom>
            </p:spPr>
          </p:pic>
          <p:pic>
            <p:nvPicPr>
              <p:cNvPr id="20" name="Harmony4D | shot 2 | f099 | editable RGB crop" descr="Real Harmony4D 10_karate2/001_karate2, shot 2, clip frame 99; reversible crop; full RGB embedded."/>
              <p:cNvPicPr>
                <a:picLocks noChangeAspect="1"/>
              </p:cNvPicPr>
              <p:nvPr/>
            </p:nvPicPr>
            <p:blipFill>
              <a:blip r:embed="rId7"/>
              <a:srcRect l="43566" t="10500" r="0" b="4500"/>
              <a:stretch>
                <a:fillRect/>
              </a:stretch>
            </p:blipFill>
            <p:spPr>
              <a:xfrm>
                <a:off x="2032000" y="3098800"/>
                <a:ext cx="731520" cy="619760"/>
              </a:xfrm>
              <a:prstGeom prst="rect">
                <a:avLst/>
              </a:prstGeom>
            </p:spPr>
          </p:pic>
          <p:sp>
            <p:nvSpPr>
              <p:cNvPr id="21" name="Text: …"/>
              <p:cNvSpPr txBox="1"/>
              <p:nvPr/>
            </p:nvSpPr>
            <p:spPr>
              <a:xfrm>
                <a:off x="2763520" y="3281680"/>
                <a:ext cx="203200" cy="264160"/>
              </a:xfrm>
              <a:prstGeom prst="rect">
                <a:avLst/>
              </a:prstGeom>
              <a:noFill/>
            </p:spPr>
            <p:txBody>
              <a:bodyPr wrap="none" lIns="0" rIns="0" tIns="0" bIns="0" anchor="ctr">
                <a:spAutoFit/>
              </a:bodyPr>
              <a:lstStyle/>
              <a:p>
                <a:pPr algn="ctr">
                  <a:lnSpc>
                    <a:spcPct val="103000"/>
                  </a:lnSpc>
                  <a:spcBef>
                    <a:spcPts val="0"/>
                  </a:spcBef>
                  <a:spcAft>
                    <a:spcPts val="0"/>
                  </a:spcAft>
                </a:pPr>
                <a:r>
                  <a:rPr sz="1760" b="0" i="0">
                    <a:solidFill>
                      <a:srgbClr val="23324A"/>
                    </a:solidFill>
                    <a:latin typeface="Arial"/>
                  </a:rPr>
                  <a:t>…</a:t>
                </a:r>
              </a:p>
            </p:txBody>
          </p:sp>
        </p:grpSp>
        <p:grpSp>
          <p:nvGrpSpPr>
            <p:cNvPr id="22" name="Shot 3 — input thumbnails"/>
            <p:cNvGrpSpPr/>
            <p:nvPr/>
          </p:nvGrpSpPr>
          <p:grpSpPr>
            <a:xfrm>
              <a:off x="304800" y="4287520"/>
              <a:ext cx="2682240" cy="1198880"/>
              <a:chOff x="304800" y="4287520"/>
              <a:chExt cx="2682240" cy="1198880"/>
            </a:xfrm>
          </p:grpSpPr>
          <p:sp>
            <p:nvSpPr>
              <p:cNvPr id="23" name="Shot 3 background"/>
              <p:cNvSpPr/>
              <p:nvPr/>
            </p:nvSpPr>
            <p:spPr>
              <a:xfrm>
                <a:off x="304800" y="4287520"/>
                <a:ext cx="2682240" cy="1198880"/>
              </a:xfrm>
              <a:prstGeom prst="roundRect">
                <a:avLst>
                  <a:gd name="adj" fmla="val 8474"/>
                </a:avLst>
              </a:prstGeom>
              <a:solidFill>
                <a:srgbClr val="FFF0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 Shot 3"/>
              <p:cNvSpPr txBox="1"/>
              <p:nvPr/>
            </p:nvSpPr>
            <p:spPr>
              <a:xfrm>
                <a:off x="447040" y="4358640"/>
                <a:ext cx="1869440" cy="294640"/>
              </a:xfrm>
              <a:prstGeom prst="rect">
                <a:avLst/>
              </a:prstGeom>
              <a:noFill/>
            </p:spPr>
            <p:txBody>
              <a:bodyPr wrap="none" lIns="0" rIns="0" tIns="0" bIns="0" anchor="ctr">
                <a:spAutoFit/>
              </a:bodyPr>
              <a:lstStyle/>
              <a:p>
                <a:pPr algn="l">
                  <a:lnSpc>
                    <a:spcPct val="103000"/>
                  </a:lnSpc>
                  <a:spcBef>
                    <a:spcPts val="0"/>
                  </a:spcBef>
                  <a:spcAft>
                    <a:spcPts val="0"/>
                  </a:spcAft>
                </a:pPr>
                <a:r>
                  <a:rPr sz="1920" b="1" i="0">
                    <a:solidFill>
                      <a:srgbClr val="CF823F"/>
                    </a:solidFill>
                    <a:latin typeface="Arial"/>
                  </a:rPr>
                  <a:t>Shot 3</a:t>
                </a:r>
              </a:p>
            </p:txBody>
          </p:sp>
          <p:pic>
            <p:nvPicPr>
              <p:cNvPr id="25" name="Harmony4D | shot 3 | f100 | editable RGB crop" descr="Real Harmony4D 10_karate2/001_karate2, shot 3, clip frame 100; reversible crop; full RGB embedded."/>
              <p:cNvPicPr>
                <a:picLocks noChangeAspect="1"/>
              </p:cNvPicPr>
              <p:nvPr/>
            </p:nvPicPr>
            <p:blipFill>
              <a:blip r:embed="rId8"/>
              <a:srcRect l="25783" t="10500" r="17783" b="4500"/>
              <a:stretch>
                <a:fillRect/>
              </a:stretch>
            </p:blipFill>
            <p:spPr>
              <a:xfrm>
                <a:off x="447040" y="4744720"/>
                <a:ext cx="731520" cy="619760"/>
              </a:xfrm>
              <a:prstGeom prst="rect">
                <a:avLst/>
              </a:prstGeom>
            </p:spPr>
          </p:pic>
          <p:pic>
            <p:nvPicPr>
              <p:cNvPr id="26" name="Harmony4D | shot 3 | f125 | editable RGB crop" descr="Real Harmony4D 10_karate2/001_karate2, shot 3, clip frame 125; reversible crop; full RGB embedded."/>
              <p:cNvPicPr>
                <a:picLocks noChangeAspect="1"/>
              </p:cNvPicPr>
              <p:nvPr/>
            </p:nvPicPr>
            <p:blipFill>
              <a:blip r:embed="rId9"/>
              <a:srcRect l="25783" t="10500" r="17783" b="4500"/>
              <a:stretch>
                <a:fillRect/>
              </a:stretch>
            </p:blipFill>
            <p:spPr>
              <a:xfrm>
                <a:off x="1239520" y="4744720"/>
                <a:ext cx="731520" cy="619760"/>
              </a:xfrm>
              <a:prstGeom prst="rect">
                <a:avLst/>
              </a:prstGeom>
            </p:spPr>
          </p:pic>
          <p:pic>
            <p:nvPicPr>
              <p:cNvPr id="27" name="Harmony4D | shot 3 | f149 | editable RGB crop" descr="Real Harmony4D 10_karate2/001_karate2, shot 3, clip frame 149; reversible crop; full RGB embedded."/>
              <p:cNvPicPr>
                <a:picLocks noChangeAspect="1"/>
              </p:cNvPicPr>
              <p:nvPr/>
            </p:nvPicPr>
            <p:blipFill>
              <a:blip r:embed="rId10"/>
              <a:srcRect l="25783" t="10500" r="17783" b="4500"/>
              <a:stretch>
                <a:fillRect/>
              </a:stretch>
            </p:blipFill>
            <p:spPr>
              <a:xfrm>
                <a:off x="2032000" y="4744720"/>
                <a:ext cx="731520" cy="619760"/>
              </a:xfrm>
              <a:prstGeom prst="rect">
                <a:avLst/>
              </a:prstGeom>
            </p:spPr>
          </p:pic>
          <p:sp>
            <p:nvSpPr>
              <p:cNvPr id="28" name="Text: …"/>
              <p:cNvSpPr txBox="1"/>
              <p:nvPr/>
            </p:nvSpPr>
            <p:spPr>
              <a:xfrm>
                <a:off x="2763520" y="4927600"/>
                <a:ext cx="203200" cy="264160"/>
              </a:xfrm>
              <a:prstGeom prst="rect">
                <a:avLst/>
              </a:prstGeom>
              <a:noFill/>
            </p:spPr>
            <p:txBody>
              <a:bodyPr wrap="none" lIns="0" rIns="0" tIns="0" bIns="0" anchor="ctr">
                <a:spAutoFit/>
              </a:bodyPr>
              <a:lstStyle/>
              <a:p>
                <a:pPr algn="ctr">
                  <a:lnSpc>
                    <a:spcPct val="103000"/>
                  </a:lnSpc>
                  <a:spcBef>
                    <a:spcPts val="0"/>
                  </a:spcBef>
                  <a:spcAft>
                    <a:spcPts val="0"/>
                  </a:spcAft>
                </a:pPr>
                <a:r>
                  <a:rPr sz="1760" b="0" i="0">
                    <a:solidFill>
                      <a:srgbClr val="23324A"/>
                    </a:solidFill>
                    <a:latin typeface="Arial"/>
                  </a:rPr>
                  <a:t>…</a:t>
                </a:r>
              </a:p>
            </p:txBody>
          </p:sp>
        </p:grpSp>
        <p:grpSp>
          <p:nvGrpSpPr>
            <p:cNvPr id="29" name="Sequential cut"/>
            <p:cNvGrpSpPr/>
            <p:nvPr/>
          </p:nvGrpSpPr>
          <p:grpSpPr>
            <a:xfrm>
              <a:off x="1645920" y="2225040"/>
              <a:ext cx="0" cy="325120"/>
              <a:chOff x="1645920" y="2225040"/>
              <a:chExt cx="0" cy="325120"/>
            </a:xfrm>
          </p:grpSpPr>
          <p:cxnSp>
            <p:nvCxnSpPr>
              <p:cNvPr id="30" name="Sequential cut segment 1"/>
              <p:cNvCxnSpPr/>
              <p:nvPr/>
            </p:nvCxnSpPr>
            <p:spPr>
              <a:xfrm>
                <a:off x="1645920" y="2225040"/>
                <a:ext cx="0" cy="325120"/>
              </a:xfrm>
              <a:prstGeom prst="line">
                <a:avLst/>
              </a:prstGeom>
              <a:ln w="15240">
                <a:solidFill>
                  <a:srgbClr val="66778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31" name="Text: Shot transition"/>
            <p:cNvSpPr txBox="1"/>
            <p:nvPr/>
          </p:nvSpPr>
          <p:spPr>
            <a:xfrm>
              <a:off x="1513840" y="2235200"/>
              <a:ext cx="1219200" cy="274320"/>
            </a:xfrm>
            <a:prstGeom prst="rect">
              <a:avLst/>
            </a:prstGeom>
            <a:noFill/>
          </p:spPr>
          <p:txBody>
            <a:bodyPr wrap="none" lIns="0" rIns="0" tIns="0" bIns="0" anchor="ctr">
              <a:spAutoFit/>
            </a:bodyPr>
            <a:lstStyle/>
            <a:p>
              <a:pPr algn="l">
                <a:lnSpc>
                  <a:spcPct val="103000"/>
                </a:lnSpc>
                <a:spcBef>
                  <a:spcPts val="0"/>
                </a:spcBef>
                <a:spcAft>
                  <a:spcPts val="0"/>
                </a:spcAft>
              </a:pPr>
              <a:r>
                <a:rPr sz="1160" b="0" i="1">
                  <a:solidFill>
                    <a:srgbClr val="23324A"/>
                  </a:solidFill>
                  <a:latin typeface="Arial"/>
                </a:rPr>
                <a:t>Shot transition</a:t>
              </a:r>
            </a:p>
          </p:txBody>
        </p:sp>
        <p:grpSp>
          <p:nvGrpSpPr>
            <p:cNvPr id="32" name="Sequential cut"/>
            <p:cNvGrpSpPr/>
            <p:nvPr/>
          </p:nvGrpSpPr>
          <p:grpSpPr>
            <a:xfrm>
              <a:off x="1645920" y="3870960"/>
              <a:ext cx="0" cy="325120"/>
              <a:chOff x="1645920" y="3870960"/>
              <a:chExt cx="0" cy="325120"/>
            </a:xfrm>
          </p:grpSpPr>
          <p:cxnSp>
            <p:nvCxnSpPr>
              <p:cNvPr id="33" name="Sequential cut segment 1"/>
              <p:cNvCxnSpPr/>
              <p:nvPr/>
            </p:nvCxnSpPr>
            <p:spPr>
              <a:xfrm>
                <a:off x="1645920" y="3870960"/>
                <a:ext cx="0" cy="325120"/>
              </a:xfrm>
              <a:prstGeom prst="line">
                <a:avLst/>
              </a:prstGeom>
              <a:ln w="15240">
                <a:solidFill>
                  <a:srgbClr val="66778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34" name="Text: Shot transition"/>
            <p:cNvSpPr txBox="1"/>
            <p:nvPr/>
          </p:nvSpPr>
          <p:spPr>
            <a:xfrm>
              <a:off x="1513840" y="3881120"/>
              <a:ext cx="1219200" cy="274320"/>
            </a:xfrm>
            <a:prstGeom prst="rect">
              <a:avLst/>
            </a:prstGeom>
            <a:noFill/>
          </p:spPr>
          <p:txBody>
            <a:bodyPr wrap="none" lIns="0" rIns="0" tIns="0" bIns="0" anchor="ctr">
              <a:spAutoFit/>
            </a:bodyPr>
            <a:lstStyle/>
            <a:p>
              <a:pPr algn="l">
                <a:lnSpc>
                  <a:spcPct val="103000"/>
                </a:lnSpc>
                <a:spcBef>
                  <a:spcPts val="0"/>
                </a:spcBef>
                <a:spcAft>
                  <a:spcPts val="0"/>
                </a:spcAft>
              </a:pPr>
              <a:r>
                <a:rPr sz="1160" b="0" i="1">
                  <a:solidFill>
                    <a:srgbClr val="23324A"/>
                  </a:solidFill>
                  <a:latin typeface="Arial"/>
                </a:rPr>
                <a:t>Shot transition</a:t>
              </a:r>
            </a:p>
          </p:txBody>
        </p:sp>
        <p:grpSp>
          <p:nvGrpSpPr>
            <p:cNvPr id="35" name="Input time direction"/>
            <p:cNvGrpSpPr/>
            <p:nvPr/>
          </p:nvGrpSpPr>
          <p:grpSpPr>
            <a:xfrm>
              <a:off x="386080" y="5750560"/>
              <a:ext cx="2560320" cy="0"/>
              <a:chOff x="386080" y="5750560"/>
              <a:chExt cx="2560320" cy="0"/>
            </a:xfrm>
          </p:grpSpPr>
          <p:cxnSp>
            <p:nvCxnSpPr>
              <p:cNvPr id="36" name="Input time direction segment 1"/>
              <p:cNvCxnSpPr/>
              <p:nvPr/>
            </p:nvCxnSpPr>
            <p:spPr>
              <a:xfrm>
                <a:off x="386080" y="5750560"/>
                <a:ext cx="2560320" cy="0"/>
              </a:xfrm>
              <a:prstGeom prst="line">
                <a:avLst/>
              </a:prstGeom>
              <a:ln w="19304">
                <a:solidFill>
                  <a:srgbClr val="23324A"/>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37" name="Text: Time"/>
            <p:cNvSpPr txBox="1"/>
            <p:nvPr/>
          </p:nvSpPr>
          <p:spPr>
            <a:xfrm>
              <a:off x="2428240" y="5852160"/>
              <a:ext cx="518160" cy="254000"/>
            </a:xfrm>
            <a:prstGeom prst="rect">
              <a:avLst/>
            </a:prstGeom>
            <a:noFill/>
          </p:spPr>
          <p:txBody>
            <a:bodyPr wrap="none" lIns="0" rIns="0" tIns="0" bIns="0" anchor="ctr">
              <a:spAutoFit/>
            </a:bodyPr>
            <a:lstStyle/>
            <a:p>
              <a:pPr algn="r">
                <a:lnSpc>
                  <a:spcPct val="103000"/>
                </a:lnSpc>
                <a:spcBef>
                  <a:spcPts val="0"/>
                </a:spcBef>
                <a:spcAft>
                  <a:spcPts val="0"/>
                </a:spcAft>
              </a:pPr>
              <a:r>
                <a:rPr sz="1520" b="0" i="0">
                  <a:solidFill>
                    <a:srgbClr val="66778D"/>
                  </a:solidFill>
                  <a:latin typeface="Arial"/>
                </a:rPr>
                <a:t>Time</a:t>
              </a:r>
            </a:p>
          </p:txBody>
        </p:sp>
        <p:sp>
          <p:nvSpPr>
            <p:cNvPr id="38" name="Detector input | Current and past RGB only"/>
            <p:cNvSpPr txBox="1"/>
            <p:nvPr/>
          </p:nvSpPr>
          <p:spPr>
            <a:xfrm>
              <a:off x="402336" y="6025896"/>
              <a:ext cx="2459736" cy="210312"/>
            </a:xfrm>
            <a:prstGeom prst="rect">
              <a:avLst/>
            </a:prstGeom>
            <a:noFill/>
            <a:effectLst/>
          </p:spPr>
          <p:txBody>
            <a:bodyPr wrap="none" lIns="0" rIns="0" tIns="0" bIns="0" anchor="ctr">
              <a:spAutoFit/>
            </a:bodyPr>
            <a:lstStyle/>
            <a:p>
              <a:pPr algn="ctr">
                <a:lnSpc>
                  <a:spcPct val="100000"/>
                </a:lnSpc>
                <a:spcBef>
                  <a:spcPts val="0"/>
                </a:spcBef>
                <a:spcAft>
                  <a:spcPts val="0"/>
                </a:spcAft>
              </a:pPr>
              <a:r>
                <a:rPr sz="1250" b="0" i="0">
                  <a:solidFill>
                    <a:srgbClr val="637C9A"/>
                  </a:solidFill>
                  <a:latin typeface="Arial"/>
                </a:rPr>
                <a:t>Current + past RGB</a:t>
              </a:r>
            </a:p>
          </p:txBody>
        </p:sp>
        <p:cxnSp>
          <p:nvCxnSpPr>
            <p:cNvPr id="39" name="RGB input to online detector"/>
            <p:cNvCxnSpPr/>
            <p:nvPr/>
          </p:nvCxnSpPr>
          <p:spPr>
            <a:xfrm>
              <a:off x="1632204" y="6272784"/>
              <a:ext cx="0" cy="123444"/>
            </a:xfrm>
            <a:prstGeom prst="line">
              <a:avLst/>
            </a:prstGeom>
            <a:ln w="12700">
              <a:solidFill>
                <a:srgbClr val="78899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0" name="Online shot-transition detector | causal RGB control"/>
            <p:cNvSpPr/>
            <p:nvPr/>
          </p:nvSpPr>
          <p:spPr>
            <a:xfrm>
              <a:off x="393192" y="6405372"/>
              <a:ext cx="2514600" cy="502920"/>
            </a:xfrm>
            <a:prstGeom prst="roundRect">
              <a:avLst>
                <a:gd name="adj" fmla="val 13636"/>
              </a:avLst>
            </a:prstGeom>
            <a:solidFill>
              <a:srgbClr val="FFFFFF"/>
            </a:solidFill>
            <a:ln w="10160">
              <a:solidFill>
                <a:srgbClr val="78899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Label | Online shot-transition detector"/>
            <p:cNvSpPr txBox="1"/>
            <p:nvPr/>
          </p:nvSpPr>
          <p:spPr>
            <a:xfrm>
              <a:off x="457200" y="6451092"/>
              <a:ext cx="2386584" cy="411480"/>
            </a:xfrm>
            <a:prstGeom prst="rect">
              <a:avLst/>
            </a:prstGeom>
            <a:noFill/>
            <a:effectLst/>
          </p:spPr>
          <p:txBody>
            <a:bodyPr wrap="none" lIns="0" rIns="0" tIns="0" bIns="0" anchor="ctr">
              <a:spAutoFit/>
            </a:bodyPr>
            <a:lstStyle/>
            <a:p>
              <a:pPr algn="ctr">
                <a:lnSpc>
                  <a:spcPct val="100000"/>
                </a:lnSpc>
                <a:spcBef>
                  <a:spcPts val="0"/>
                </a:spcBef>
                <a:spcAft>
                  <a:spcPts val="0"/>
                </a:spcAft>
              </a:pPr>
              <a:r>
                <a:rPr sz="1320" b="1" i="0">
                  <a:solidFill>
                    <a:srgbClr val="253750"/>
                  </a:solidFill>
                  <a:latin typeface="Arial"/>
                </a:rPr>
                <a:t>Online shot-transition</a:t>
              </a:r>
            </a:p>
            <a:p>
              <a:pPr algn="ctr">
                <a:lnSpc>
                  <a:spcPct val="100000"/>
                </a:lnSpc>
                <a:spcBef>
                  <a:spcPts val="0"/>
                </a:spcBef>
                <a:spcAft>
                  <a:spcPts val="0"/>
                </a:spcAft>
              </a:pPr>
              <a:r>
                <a:rPr sz="1320" b="1" i="0">
                  <a:solidFill>
                    <a:srgbClr val="253750"/>
                  </a:solidFill>
                  <a:latin typeface="Arial"/>
                </a:rPr>
                <a:t>detector</a:t>
              </a:r>
            </a:p>
          </p:txBody>
        </p:sp>
      </p:grpSp>
      <p:grpSp>
        <p:nvGrpSpPr>
          <p:cNvPr id="42" name="02 Feature and token construction"/>
          <p:cNvGrpSpPr/>
          <p:nvPr/>
        </p:nvGrpSpPr>
        <p:grpSpPr>
          <a:xfrm>
            <a:off x="3291840" y="142240"/>
            <a:ext cx="2580640" cy="6995160"/>
            <a:chOff x="3291840" y="142240"/>
            <a:chExt cx="2580640" cy="6995160"/>
          </a:xfrm>
        </p:grpSpPr>
        <p:sp>
          <p:nvSpPr>
            <p:cNvPr id="43" name="Panel Feature &amp; token&#10;construction"/>
            <p:cNvSpPr/>
            <p:nvPr/>
          </p:nvSpPr>
          <p:spPr>
            <a:xfrm>
              <a:off x="3291840" y="142240"/>
              <a:ext cx="2580640" cy="6995160"/>
            </a:xfrm>
            <a:prstGeom prst="roundRect">
              <a:avLst>
                <a:gd name="adj" fmla="val 5118"/>
              </a:avLst>
            </a:prstGeom>
            <a:solidFill>
              <a:srgbClr val="F7F9FC"/>
            </a:solidFill>
            <a:ln w="14223">
              <a:solidFill>
                <a:srgbClr val="CFD9E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Header Feature &amp; token&#10;construction"/>
            <p:cNvSpPr/>
            <p:nvPr/>
          </p:nvSpPr>
          <p:spPr>
            <a:xfrm>
              <a:off x="3312160" y="162560"/>
              <a:ext cx="2540000" cy="619760"/>
            </a:xfrm>
            <a:prstGeom prst="roundRect">
              <a:avLst>
                <a:gd name="adj" fmla="val 18032"/>
              </a:avLst>
            </a:prstGeom>
            <a:solidFill>
              <a:srgbClr val="EDF2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Header band base"/>
            <p:cNvSpPr/>
            <p:nvPr/>
          </p:nvSpPr>
          <p:spPr>
            <a:xfrm>
              <a:off x="3312160" y="650240"/>
              <a:ext cx="2540000" cy="121920"/>
            </a:xfrm>
            <a:prstGeom prst="rect">
              <a:avLst/>
            </a:prstGeom>
            <a:solidFill>
              <a:srgbClr val="EDF2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 Feature &amp; token construction"/>
            <p:cNvSpPr txBox="1"/>
            <p:nvPr/>
          </p:nvSpPr>
          <p:spPr>
            <a:xfrm>
              <a:off x="3464560" y="264160"/>
              <a:ext cx="2235200" cy="457200"/>
            </a:xfrm>
            <a:prstGeom prst="rect">
              <a:avLst/>
            </a:prstGeom>
            <a:noFill/>
          </p:spPr>
          <p:txBody>
            <a:bodyPr wrap="none" lIns="0" rIns="0" tIns="0" bIns="0" anchor="ctr">
              <a:spAutoFit/>
            </a:bodyPr>
            <a:lstStyle/>
            <a:p>
              <a:pPr algn="l">
                <a:lnSpc>
                  <a:spcPct val="103000"/>
                </a:lnSpc>
                <a:spcBef>
                  <a:spcPts val="0"/>
                </a:spcBef>
                <a:spcAft>
                  <a:spcPts val="0"/>
                </a:spcAft>
              </a:pPr>
              <a:r>
                <a:rPr sz="2000" b="1" i="0">
                  <a:solidFill>
                    <a:srgbClr val="23324A"/>
                  </a:solidFill>
                  <a:latin typeface="Arial"/>
                </a:rPr>
                <a:t>Feature &amp; token</a:t>
              </a:r>
            </a:p>
            <a:p>
              <a:pPr algn="l">
                <a:lnSpc>
                  <a:spcPct val="103000"/>
                </a:lnSpc>
                <a:spcBef>
                  <a:spcPts val="0"/>
                </a:spcBef>
                <a:spcAft>
                  <a:spcPts val="0"/>
                </a:spcAft>
              </a:pPr>
              <a:r>
                <a:rPr sz="2000" b="1" i="0">
                  <a:solidFill>
                    <a:srgbClr val="23324A"/>
                  </a:solidFill>
                  <a:latin typeface="Arial"/>
                </a:rPr>
                <a:t>construction</a:t>
              </a:r>
            </a:p>
          </p:txBody>
        </p:sp>
        <p:sp>
          <p:nvSpPr>
            <p:cNvPr id="47" name="Text: New-shot frame"/>
            <p:cNvSpPr txBox="1"/>
            <p:nvPr/>
          </p:nvSpPr>
          <p:spPr>
            <a:xfrm>
              <a:off x="3495040" y="1056640"/>
              <a:ext cx="1706880" cy="294640"/>
            </a:xfrm>
            <a:prstGeom prst="rect">
              <a:avLst/>
            </a:prstGeom>
            <a:noFill/>
          </p:spPr>
          <p:txBody>
            <a:bodyPr wrap="none" lIns="0" rIns="0" tIns="0" bIns="0" anchor="ctr">
              <a:spAutoFit/>
            </a:bodyPr>
            <a:lstStyle/>
            <a:p>
              <a:pPr algn="ctr">
                <a:lnSpc>
                  <a:spcPct val="103000"/>
                </a:lnSpc>
                <a:spcBef>
                  <a:spcPts val="0"/>
                </a:spcBef>
                <a:spcAft>
                  <a:spcPts val="0"/>
                </a:spcAft>
              </a:pPr>
              <a:r>
                <a:rPr sz="1680" b="0" i="0">
                  <a:solidFill>
                    <a:srgbClr val="23324A"/>
                  </a:solidFill>
                  <a:latin typeface="Arial"/>
                </a:rPr>
                <a:t>New-shot frame</a:t>
              </a:r>
            </a:p>
          </p:txBody>
        </p:sp>
        <p:sp>
          <p:nvSpPr>
            <p:cNvPr id="48" name="Math I_b^"/>
            <p:cNvSpPr txBox="1"/>
            <p:nvPr/>
          </p:nvSpPr>
          <p:spPr>
            <a:xfrm>
              <a:off x="5090160" y="1026160"/>
              <a:ext cx="518160" cy="345440"/>
            </a:xfrm>
            <a:prstGeom prst="rect">
              <a:avLst/>
            </a:prstGeom>
            <a:noFill/>
          </p:spPr>
          <p:txBody>
            <a:bodyPr wrap="none" lIns="0" rIns="0" tIns="0" bIns="0" anchor="ctr">
              <a:spAutoFit/>
            </a:bodyPr>
            <a:lstStyle/>
            <a:p>
              <a:pPr algn="ctr">
                <a:lnSpc>
                  <a:spcPct val="103000"/>
                </a:lnSpc>
                <a:spcBef>
                  <a:spcPts val="0"/>
                </a:spcBef>
                <a:spcAft>
                  <a:spcPts val="0"/>
                </a:spcAft>
              </a:pPr>
              <a:r>
                <a:rPr sz="2240" b="0" i="1">
                  <a:solidFill>
                    <a:srgbClr val="23324A"/>
                  </a:solidFill>
                  <a:latin typeface="Times New Roman"/>
                </a:rPr>
                <a:t>I</a:t>
              </a:r>
              <a:r>
                <a:rPr sz="1523" b="0" i="0" baseline="-24000">
                  <a:solidFill>
                    <a:srgbClr val="23324A"/>
                  </a:solidFill>
                  <a:latin typeface="Times New Roman"/>
                </a:rPr>
                <a:t>b</a:t>
              </a:r>
            </a:p>
          </p:txBody>
        </p:sp>
        <p:pic>
          <p:nvPicPr>
            <p:cNvPr id="49" name="Harmony4D | boundary frame f050 | editable RGB crop" descr="Real Harmony4D first new-shot RGB, source frame 51, cam15; identical source to highlighted Shot 2 first thumbnail."/>
            <p:cNvPicPr>
              <a:picLocks noChangeAspect="1"/>
            </p:cNvPicPr>
            <p:nvPr/>
          </p:nvPicPr>
          <p:blipFill>
            <a:blip r:embed="rId11"/>
            <a:srcRect l="46000" t="24500" r="1000" b="24191"/>
            <a:stretch>
              <a:fillRect/>
            </a:stretch>
          </p:blipFill>
          <p:spPr>
            <a:xfrm>
              <a:off x="3556000" y="1473200"/>
              <a:ext cx="2052320" cy="1117600"/>
            </a:xfrm>
            <a:prstGeom prst="rect">
              <a:avLst/>
            </a:prstGeom>
          </p:spPr>
        </p:pic>
        <p:grpSp>
          <p:nvGrpSpPr>
            <p:cNvPr id="50" name="Image to encoder"/>
            <p:cNvGrpSpPr/>
            <p:nvPr/>
          </p:nvGrpSpPr>
          <p:grpSpPr>
            <a:xfrm>
              <a:off x="4582160" y="2682240"/>
              <a:ext cx="0" cy="233680"/>
              <a:chOff x="4582160" y="2682240"/>
              <a:chExt cx="0" cy="233680"/>
            </a:xfrm>
          </p:grpSpPr>
          <p:cxnSp>
            <p:nvCxnSpPr>
              <p:cNvPr id="51" name="Image to encoder segment 1"/>
              <p:cNvCxnSpPr/>
              <p:nvPr/>
            </p:nvCxnSpPr>
            <p:spPr>
              <a:xfrm>
                <a:off x="4582160" y="2682240"/>
                <a:ext cx="0" cy="233680"/>
              </a:xfrm>
              <a:prstGeom prst="line">
                <a:avLst/>
              </a:prstGeom>
              <a:ln w="18288">
                <a:solidFill>
                  <a:srgbClr val="23324A"/>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52" name="Image encoder trapezoid"/>
            <p:cNvSpPr/>
            <p:nvPr/>
          </p:nvSpPr>
          <p:spPr>
            <a:xfrm>
              <a:off x="3769360" y="3027680"/>
              <a:ext cx="1625600" cy="741680"/>
            </a:xfrm>
            <a:custGeom>
              <a:avLst/>
              <a:gdLst/>
              <a:ahLst/>
              <a:cxnLst/>
              <a:rect l="l" t="t" r="r" b="b"/>
              <a:pathLst>
                <a:path w="160" h="73">
                  <a:moveTo>
                    <a:pt x="0" y="0"/>
                  </a:moveTo>
                  <a:lnTo>
                    <a:pt x="160" y="0"/>
                  </a:lnTo>
                  <a:lnTo>
                    <a:pt x="143" y="73"/>
                  </a:lnTo>
                  <a:lnTo>
                    <a:pt x="17" y="73"/>
                  </a:lnTo>
                  <a:close/>
                </a:path>
              </a:pathLst>
            </a:custGeom>
            <a:solidFill>
              <a:srgbClr val="DFE8F3"/>
            </a:solidFill>
            <a:ln w="13208">
              <a:solidFill>
                <a:srgbClr val="96AB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 Image encoder"/>
            <p:cNvSpPr txBox="1"/>
            <p:nvPr/>
          </p:nvSpPr>
          <p:spPr>
            <a:xfrm>
              <a:off x="3952240" y="3190240"/>
              <a:ext cx="1259840" cy="477520"/>
            </a:xfrm>
            <a:prstGeom prst="rect">
              <a:avLst/>
            </a:prstGeom>
            <a:noFill/>
          </p:spPr>
          <p:txBody>
            <a:bodyPr wrap="none" lIns="0" rIns="0" tIns="0" bIns="0" anchor="ctr">
              <a:spAutoFit/>
            </a:bodyPr>
            <a:lstStyle/>
            <a:p>
              <a:pPr algn="ctr">
                <a:lnSpc>
                  <a:spcPct val="103000"/>
                </a:lnSpc>
                <a:spcBef>
                  <a:spcPts val="0"/>
                </a:spcBef>
                <a:spcAft>
                  <a:spcPts val="0"/>
                </a:spcAft>
              </a:pPr>
              <a:r>
                <a:rPr sz="1920" b="1" i="0">
                  <a:solidFill>
                    <a:srgbClr val="23324A"/>
                  </a:solidFill>
                  <a:latin typeface="Arial"/>
                </a:rPr>
                <a:t>Image</a:t>
              </a:r>
            </a:p>
            <a:p>
              <a:pPr algn="ctr">
                <a:lnSpc>
                  <a:spcPct val="103000"/>
                </a:lnSpc>
                <a:spcBef>
                  <a:spcPts val="0"/>
                </a:spcBef>
                <a:spcAft>
                  <a:spcPts val="0"/>
                </a:spcAft>
              </a:pPr>
              <a:r>
                <a:rPr sz="1920" b="1" i="0">
                  <a:solidFill>
                    <a:srgbClr val="23324A"/>
                  </a:solidFill>
                  <a:latin typeface="Arial"/>
                </a:rPr>
                <a:t>encoder</a:t>
              </a:r>
            </a:p>
          </p:txBody>
        </p:sp>
        <p:grpSp>
          <p:nvGrpSpPr>
            <p:cNvPr id="54" name="Frozen symbol"/>
            <p:cNvGrpSpPr/>
            <p:nvPr/>
          </p:nvGrpSpPr>
          <p:grpSpPr>
            <a:xfrm>
              <a:off x="5166360" y="3073449"/>
              <a:ext cx="152400" cy="131982"/>
              <a:chOff x="5166360" y="3073449"/>
              <a:chExt cx="152400" cy="131982"/>
            </a:xfrm>
          </p:grpSpPr>
          <p:grpSp>
            <p:nvGrpSpPr>
              <p:cNvPr id="55" name="Connector"/>
              <p:cNvGrpSpPr/>
              <p:nvPr/>
            </p:nvGrpSpPr>
            <p:grpSpPr>
              <a:xfrm>
                <a:off x="5166360" y="3139440"/>
                <a:ext cx="152400" cy="0"/>
                <a:chOff x="5166360" y="3139440"/>
                <a:chExt cx="152400" cy="0"/>
              </a:xfrm>
            </p:grpSpPr>
            <p:cxnSp>
              <p:nvCxnSpPr>
                <p:cNvPr id="56" name="Connector segment 1"/>
                <p:cNvCxnSpPr/>
                <p:nvPr/>
              </p:nvCxnSpPr>
              <p:spPr>
                <a:xfrm>
                  <a:off x="5166360" y="3139440"/>
                  <a:ext cx="152400" cy="0"/>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57" name="Connector"/>
              <p:cNvGrpSpPr/>
              <p:nvPr/>
            </p:nvGrpSpPr>
            <p:grpSpPr>
              <a:xfrm>
                <a:off x="5166360" y="3120072"/>
                <a:ext cx="25478" cy="19368"/>
                <a:chOff x="5166360" y="3120072"/>
                <a:chExt cx="25478" cy="19368"/>
              </a:xfrm>
            </p:grpSpPr>
            <p:cxnSp>
              <p:nvCxnSpPr>
                <p:cNvPr id="58" name="Connector segment 1"/>
                <p:cNvCxnSpPr/>
                <p:nvPr/>
              </p:nvCxnSpPr>
              <p:spPr>
                <a:xfrm flipV="1">
                  <a:off x="5166360" y="3120072"/>
                  <a:ext cx="25478" cy="19368"/>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59" name="Connector"/>
              <p:cNvGrpSpPr/>
              <p:nvPr/>
            </p:nvGrpSpPr>
            <p:grpSpPr>
              <a:xfrm>
                <a:off x="5166360" y="3139440"/>
                <a:ext cx="25478" cy="19368"/>
                <a:chOff x="5166360" y="3139440"/>
                <a:chExt cx="25478" cy="19368"/>
              </a:xfrm>
            </p:grpSpPr>
            <p:cxnSp>
              <p:nvCxnSpPr>
                <p:cNvPr id="60" name="Connector segment 1"/>
                <p:cNvCxnSpPr/>
                <p:nvPr/>
              </p:nvCxnSpPr>
              <p:spPr>
                <a:xfrm>
                  <a:off x="5166360" y="3139440"/>
                  <a:ext cx="25478" cy="19368"/>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61" name="Connector"/>
              <p:cNvGrpSpPr/>
              <p:nvPr/>
            </p:nvGrpSpPr>
            <p:grpSpPr>
              <a:xfrm>
                <a:off x="5293282" y="3139440"/>
                <a:ext cx="25478" cy="19368"/>
                <a:chOff x="5293282" y="3139440"/>
                <a:chExt cx="25478" cy="19368"/>
              </a:xfrm>
            </p:grpSpPr>
            <p:cxnSp>
              <p:nvCxnSpPr>
                <p:cNvPr id="62" name="Connector segment 1"/>
                <p:cNvCxnSpPr/>
                <p:nvPr/>
              </p:nvCxnSpPr>
              <p:spPr>
                <a:xfrm flipH="1">
                  <a:off x="5293282" y="3139440"/>
                  <a:ext cx="25478" cy="19368"/>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63" name="Connector"/>
              <p:cNvGrpSpPr/>
              <p:nvPr/>
            </p:nvGrpSpPr>
            <p:grpSpPr>
              <a:xfrm>
                <a:off x="5293282" y="3120072"/>
                <a:ext cx="25478" cy="19368"/>
                <a:chOff x="5293282" y="3120072"/>
                <a:chExt cx="25478" cy="19368"/>
              </a:xfrm>
            </p:grpSpPr>
            <p:cxnSp>
              <p:nvCxnSpPr>
                <p:cNvPr id="64" name="Connector segment 1"/>
                <p:cNvCxnSpPr/>
                <p:nvPr/>
              </p:nvCxnSpPr>
              <p:spPr>
                <a:xfrm flipH="1" flipV="1">
                  <a:off x="5293282" y="3120072"/>
                  <a:ext cx="25478" cy="19368"/>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65" name="Connector"/>
              <p:cNvGrpSpPr/>
              <p:nvPr/>
            </p:nvGrpSpPr>
            <p:grpSpPr>
              <a:xfrm>
                <a:off x="5204460" y="3073449"/>
                <a:ext cx="76200" cy="131982"/>
                <a:chOff x="5204460" y="3073449"/>
                <a:chExt cx="76200" cy="131982"/>
              </a:xfrm>
            </p:grpSpPr>
            <p:cxnSp>
              <p:nvCxnSpPr>
                <p:cNvPr id="66" name="Connector segment 1"/>
                <p:cNvCxnSpPr/>
                <p:nvPr/>
              </p:nvCxnSpPr>
              <p:spPr>
                <a:xfrm>
                  <a:off x="5204460" y="3073449"/>
                  <a:ext cx="76200" cy="131982"/>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67" name="Connector"/>
              <p:cNvGrpSpPr/>
              <p:nvPr/>
            </p:nvGrpSpPr>
            <p:grpSpPr>
              <a:xfrm>
                <a:off x="5204460" y="3073449"/>
                <a:ext cx="29512" cy="12380"/>
                <a:chOff x="5204460" y="3073449"/>
                <a:chExt cx="29512" cy="12380"/>
              </a:xfrm>
            </p:grpSpPr>
            <p:cxnSp>
              <p:nvCxnSpPr>
                <p:cNvPr id="68" name="Connector segment 1"/>
                <p:cNvCxnSpPr/>
                <p:nvPr/>
              </p:nvCxnSpPr>
              <p:spPr>
                <a:xfrm>
                  <a:off x="5204460" y="3073449"/>
                  <a:ext cx="29512" cy="12380"/>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69" name="Connector"/>
              <p:cNvGrpSpPr/>
              <p:nvPr/>
            </p:nvGrpSpPr>
            <p:grpSpPr>
              <a:xfrm>
                <a:off x="5200425" y="3073449"/>
                <a:ext cx="4035" cy="31749"/>
                <a:chOff x="5200425" y="3073449"/>
                <a:chExt cx="4035" cy="31749"/>
              </a:xfrm>
            </p:grpSpPr>
            <p:cxnSp>
              <p:nvCxnSpPr>
                <p:cNvPr id="70" name="Connector segment 1"/>
                <p:cNvCxnSpPr/>
                <p:nvPr/>
              </p:nvCxnSpPr>
              <p:spPr>
                <a:xfrm flipH="1">
                  <a:off x="5200425" y="3073449"/>
                  <a:ext cx="4035" cy="3174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71" name="Connector"/>
              <p:cNvGrpSpPr/>
              <p:nvPr/>
            </p:nvGrpSpPr>
            <p:grpSpPr>
              <a:xfrm>
                <a:off x="5251148" y="3193051"/>
                <a:ext cx="29512" cy="12380"/>
                <a:chOff x="5251148" y="3193051"/>
                <a:chExt cx="29512" cy="12380"/>
              </a:xfrm>
            </p:grpSpPr>
            <p:cxnSp>
              <p:nvCxnSpPr>
                <p:cNvPr id="72" name="Connector segment 1"/>
                <p:cNvCxnSpPr/>
                <p:nvPr/>
              </p:nvCxnSpPr>
              <p:spPr>
                <a:xfrm flipH="1" flipV="1">
                  <a:off x="5251148" y="3193051"/>
                  <a:ext cx="29512" cy="12380"/>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73" name="Connector"/>
              <p:cNvGrpSpPr/>
              <p:nvPr/>
            </p:nvGrpSpPr>
            <p:grpSpPr>
              <a:xfrm>
                <a:off x="5280660" y="3173682"/>
                <a:ext cx="4035" cy="31749"/>
                <a:chOff x="5280660" y="3173682"/>
                <a:chExt cx="4035" cy="31749"/>
              </a:xfrm>
            </p:grpSpPr>
            <p:cxnSp>
              <p:nvCxnSpPr>
                <p:cNvPr id="74" name="Connector segment 1"/>
                <p:cNvCxnSpPr/>
                <p:nvPr/>
              </p:nvCxnSpPr>
              <p:spPr>
                <a:xfrm flipV="1">
                  <a:off x="5280660" y="3173682"/>
                  <a:ext cx="4035" cy="3174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75" name="Connector"/>
              <p:cNvGrpSpPr/>
              <p:nvPr/>
            </p:nvGrpSpPr>
            <p:grpSpPr>
              <a:xfrm>
                <a:off x="5204460" y="3073449"/>
                <a:ext cx="76200" cy="131982"/>
                <a:chOff x="5204460" y="3073449"/>
                <a:chExt cx="76200" cy="131982"/>
              </a:xfrm>
            </p:grpSpPr>
            <p:cxnSp>
              <p:nvCxnSpPr>
                <p:cNvPr id="76" name="Connector segment 1"/>
                <p:cNvCxnSpPr/>
                <p:nvPr/>
              </p:nvCxnSpPr>
              <p:spPr>
                <a:xfrm flipH="1">
                  <a:off x="5204460" y="3073449"/>
                  <a:ext cx="76200" cy="131982"/>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77" name="Connector"/>
              <p:cNvGrpSpPr/>
              <p:nvPr/>
            </p:nvGrpSpPr>
            <p:grpSpPr>
              <a:xfrm>
                <a:off x="5280660" y="3073449"/>
                <a:ext cx="4035" cy="31749"/>
                <a:chOff x="5280660" y="3073449"/>
                <a:chExt cx="4035" cy="31749"/>
              </a:xfrm>
            </p:grpSpPr>
            <p:cxnSp>
              <p:nvCxnSpPr>
                <p:cNvPr id="78" name="Connector segment 1"/>
                <p:cNvCxnSpPr/>
                <p:nvPr/>
              </p:nvCxnSpPr>
              <p:spPr>
                <a:xfrm>
                  <a:off x="5280660" y="3073449"/>
                  <a:ext cx="4035" cy="3174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79" name="Connector"/>
              <p:cNvGrpSpPr/>
              <p:nvPr/>
            </p:nvGrpSpPr>
            <p:grpSpPr>
              <a:xfrm>
                <a:off x="5251148" y="3073449"/>
                <a:ext cx="29512" cy="12380"/>
                <a:chOff x="5251148" y="3073449"/>
                <a:chExt cx="29512" cy="12380"/>
              </a:xfrm>
            </p:grpSpPr>
            <p:cxnSp>
              <p:nvCxnSpPr>
                <p:cNvPr id="80" name="Connector segment 1"/>
                <p:cNvCxnSpPr/>
                <p:nvPr/>
              </p:nvCxnSpPr>
              <p:spPr>
                <a:xfrm flipH="1">
                  <a:off x="5251148" y="3073449"/>
                  <a:ext cx="29512" cy="12380"/>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81" name="Connector"/>
              <p:cNvGrpSpPr/>
              <p:nvPr/>
            </p:nvGrpSpPr>
            <p:grpSpPr>
              <a:xfrm>
                <a:off x="5200425" y="3173682"/>
                <a:ext cx="4035" cy="31749"/>
                <a:chOff x="5200425" y="3173682"/>
                <a:chExt cx="4035" cy="31749"/>
              </a:xfrm>
            </p:grpSpPr>
            <p:cxnSp>
              <p:nvCxnSpPr>
                <p:cNvPr id="82" name="Connector segment 1"/>
                <p:cNvCxnSpPr/>
                <p:nvPr/>
              </p:nvCxnSpPr>
              <p:spPr>
                <a:xfrm flipH="1" flipV="1">
                  <a:off x="5200425" y="3173682"/>
                  <a:ext cx="4035" cy="3174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83" name="Connector"/>
              <p:cNvGrpSpPr/>
              <p:nvPr/>
            </p:nvGrpSpPr>
            <p:grpSpPr>
              <a:xfrm>
                <a:off x="5204460" y="3193051"/>
                <a:ext cx="29512" cy="12380"/>
                <a:chOff x="5204460" y="3193051"/>
                <a:chExt cx="29512" cy="12380"/>
              </a:xfrm>
            </p:grpSpPr>
            <p:cxnSp>
              <p:nvCxnSpPr>
                <p:cNvPr id="84" name="Connector segment 1"/>
                <p:cNvCxnSpPr/>
                <p:nvPr/>
              </p:nvCxnSpPr>
              <p:spPr>
                <a:xfrm flipV="1">
                  <a:off x="5204460" y="3193051"/>
                  <a:ext cx="29512" cy="12380"/>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grpSp>
          <p:nvGrpSpPr>
            <p:cNvPr id="85" name="Encoder outputs"/>
            <p:cNvGrpSpPr/>
            <p:nvPr/>
          </p:nvGrpSpPr>
          <p:grpSpPr>
            <a:xfrm>
              <a:off x="4582160" y="3830320"/>
              <a:ext cx="0" cy="203200"/>
              <a:chOff x="4582160" y="3830320"/>
              <a:chExt cx="0" cy="203200"/>
            </a:xfrm>
          </p:grpSpPr>
          <p:cxnSp>
            <p:nvCxnSpPr>
              <p:cNvPr id="86" name="Encoder outputs segment 1"/>
              <p:cNvCxnSpPr/>
              <p:nvPr/>
            </p:nvCxnSpPr>
            <p:spPr>
              <a:xfrm>
                <a:off x="4582160" y="3830320"/>
                <a:ext cx="0" cy="203200"/>
              </a:xfrm>
              <a:prstGeom prst="line">
                <a:avLst/>
              </a:prstGeom>
              <a:ln w="16256">
                <a:solidFill>
                  <a:srgbClr val="23324A"/>
                </a:solidFill>
              </a:ln>
              <a:effectLst/>
            </p:spPr>
            <p:style>
              <a:lnRef idx="2">
                <a:schemeClr val="accent1"/>
              </a:lnRef>
              <a:fillRef idx="0">
                <a:schemeClr val="accent1"/>
              </a:fillRef>
              <a:effectRef idx="0">
                <a:schemeClr val="accent1"/>
              </a:effectRef>
              <a:fontRef idx="minor">
                <a:schemeClr val="tx1"/>
              </a:fontRef>
            </p:style>
          </p:cxnSp>
        </p:grpSp>
        <p:grpSp>
          <p:nvGrpSpPr>
            <p:cNvPr id="87" name="Native token fan-out"/>
            <p:cNvGrpSpPr/>
            <p:nvPr/>
          </p:nvGrpSpPr>
          <p:grpSpPr>
            <a:xfrm>
              <a:off x="3738880" y="4033520"/>
              <a:ext cx="1645920" cy="172720"/>
              <a:chOff x="3738880" y="4033520"/>
              <a:chExt cx="1645920" cy="172720"/>
            </a:xfrm>
          </p:grpSpPr>
          <p:cxnSp>
            <p:nvCxnSpPr>
              <p:cNvPr id="88" name="Native token fan-out segment 1"/>
              <p:cNvCxnSpPr/>
              <p:nvPr/>
            </p:nvCxnSpPr>
            <p:spPr>
              <a:xfrm flipV="1">
                <a:off x="3738880" y="4033520"/>
                <a:ext cx="0" cy="172720"/>
              </a:xfrm>
              <a:prstGeom prst="line">
                <a:avLst/>
              </a:prstGeom>
              <a:ln w="15240">
                <a:solidFill>
                  <a:srgbClr val="23324A"/>
                </a:solidFill>
              </a:ln>
              <a:effectLst/>
            </p:spPr>
            <p:style>
              <a:lnRef idx="2">
                <a:schemeClr val="accent1"/>
              </a:lnRef>
              <a:fillRef idx="0">
                <a:schemeClr val="accent1"/>
              </a:fillRef>
              <a:effectRef idx="0">
                <a:schemeClr val="accent1"/>
              </a:effectRef>
              <a:fontRef idx="minor">
                <a:schemeClr val="tx1"/>
              </a:fontRef>
            </p:style>
          </p:cxnSp>
          <p:cxnSp>
            <p:nvCxnSpPr>
              <p:cNvPr id="89" name="Native token fan-out segment 2"/>
              <p:cNvCxnSpPr/>
              <p:nvPr/>
            </p:nvCxnSpPr>
            <p:spPr>
              <a:xfrm>
                <a:off x="3738880" y="4033520"/>
                <a:ext cx="1645920" cy="0"/>
              </a:xfrm>
              <a:prstGeom prst="line">
                <a:avLst/>
              </a:prstGeom>
              <a:ln w="15240">
                <a:solidFill>
                  <a:srgbClr val="23324A"/>
                </a:solidFill>
              </a:ln>
              <a:effectLst/>
            </p:spPr>
            <p:style>
              <a:lnRef idx="2">
                <a:schemeClr val="accent1"/>
              </a:lnRef>
              <a:fillRef idx="0">
                <a:schemeClr val="accent1"/>
              </a:fillRef>
              <a:effectRef idx="0">
                <a:schemeClr val="accent1"/>
              </a:effectRef>
              <a:fontRef idx="minor">
                <a:schemeClr val="tx1"/>
              </a:fontRef>
            </p:style>
          </p:cxnSp>
          <p:cxnSp>
            <p:nvCxnSpPr>
              <p:cNvPr id="90" name="Native token fan-out segment 3"/>
              <p:cNvCxnSpPr/>
              <p:nvPr/>
            </p:nvCxnSpPr>
            <p:spPr>
              <a:xfrm>
                <a:off x="5384800" y="4033520"/>
                <a:ext cx="0" cy="172720"/>
              </a:xfrm>
              <a:prstGeom prst="line">
                <a:avLst/>
              </a:prstGeom>
              <a:ln w="15240">
                <a:solidFill>
                  <a:srgbClr val="23324A"/>
                </a:solidFill>
              </a:ln>
              <a:effectLst/>
            </p:spPr>
            <p:style>
              <a:lnRef idx="2">
                <a:schemeClr val="accent1"/>
              </a:lnRef>
              <a:fillRef idx="0">
                <a:schemeClr val="accent1"/>
              </a:fillRef>
              <a:effectRef idx="0">
                <a:schemeClr val="accent1"/>
              </a:effectRef>
              <a:fontRef idx="minor">
                <a:schemeClr val="tx1"/>
              </a:fontRef>
            </p:style>
          </p:cxnSp>
        </p:grpSp>
        <p:grpSp>
          <p:nvGrpSpPr>
            <p:cNvPr id="91" name="Connector"/>
            <p:cNvGrpSpPr/>
            <p:nvPr/>
          </p:nvGrpSpPr>
          <p:grpSpPr>
            <a:xfrm>
              <a:off x="4582160" y="4033520"/>
              <a:ext cx="0" cy="172720"/>
              <a:chOff x="4582160" y="4033520"/>
              <a:chExt cx="0" cy="172720"/>
            </a:xfrm>
          </p:grpSpPr>
          <p:cxnSp>
            <p:nvCxnSpPr>
              <p:cNvPr id="92" name="Connector segment 1"/>
              <p:cNvCxnSpPr/>
              <p:nvPr/>
            </p:nvCxnSpPr>
            <p:spPr>
              <a:xfrm>
                <a:off x="4582160" y="4033520"/>
                <a:ext cx="0" cy="172720"/>
              </a:xfrm>
              <a:prstGeom prst="line">
                <a:avLst/>
              </a:prstGeom>
              <a:ln w="15240">
                <a:solidFill>
                  <a:srgbClr val="23324A"/>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93" name="Connector"/>
            <p:cNvGrpSpPr/>
            <p:nvPr/>
          </p:nvGrpSpPr>
          <p:grpSpPr>
            <a:xfrm>
              <a:off x="3738880" y="4033520"/>
              <a:ext cx="0" cy="172720"/>
              <a:chOff x="3738880" y="4033520"/>
              <a:chExt cx="0" cy="172720"/>
            </a:xfrm>
          </p:grpSpPr>
          <p:cxnSp>
            <p:nvCxnSpPr>
              <p:cNvPr id="94" name="Connector segment 1"/>
              <p:cNvCxnSpPr/>
              <p:nvPr/>
            </p:nvCxnSpPr>
            <p:spPr>
              <a:xfrm>
                <a:off x="3738880" y="4033520"/>
                <a:ext cx="0" cy="172720"/>
              </a:xfrm>
              <a:prstGeom prst="line">
                <a:avLst/>
              </a:prstGeom>
              <a:ln w="15240">
                <a:solidFill>
                  <a:srgbClr val="23324A"/>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95" name="Connector"/>
            <p:cNvGrpSpPr/>
            <p:nvPr/>
          </p:nvGrpSpPr>
          <p:grpSpPr>
            <a:xfrm>
              <a:off x="5384800" y="4033520"/>
              <a:ext cx="0" cy="172720"/>
              <a:chOff x="5384800" y="4033520"/>
              <a:chExt cx="0" cy="172720"/>
            </a:xfrm>
          </p:grpSpPr>
          <p:cxnSp>
            <p:nvCxnSpPr>
              <p:cNvPr id="96" name="Connector segment 1"/>
              <p:cNvCxnSpPr/>
              <p:nvPr/>
            </p:nvCxnSpPr>
            <p:spPr>
              <a:xfrm>
                <a:off x="5384800" y="4033520"/>
                <a:ext cx="0" cy="172720"/>
              </a:xfrm>
              <a:prstGeom prst="line">
                <a:avLst/>
              </a:prstGeom>
              <a:ln w="15240">
                <a:solidFill>
                  <a:srgbClr val="23324A"/>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97" name="Image tokens"/>
            <p:cNvGrpSpPr/>
            <p:nvPr/>
          </p:nvGrpSpPr>
          <p:grpSpPr>
            <a:xfrm>
              <a:off x="3556000" y="4318000"/>
              <a:ext cx="436880" cy="406400"/>
              <a:chOff x="3556000" y="4318000"/>
              <a:chExt cx="436880" cy="406400"/>
            </a:xfrm>
          </p:grpSpPr>
          <p:sp>
            <p:nvSpPr>
              <p:cNvPr id="98" name="Image tokens 1"/>
              <p:cNvSpPr/>
              <p:nvPr/>
            </p:nvSpPr>
            <p:spPr>
              <a:xfrm>
                <a:off x="3556000" y="4318000"/>
                <a:ext cx="111760" cy="406400"/>
              </a:xfrm>
              <a:prstGeom prst="roundRect">
                <a:avLst>
                  <a:gd name="adj" fmla="val 18181"/>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oken highlight"/>
              <p:cNvSpPr/>
              <p:nvPr/>
            </p:nvSpPr>
            <p:spPr>
              <a:xfrm>
                <a:off x="3576320" y="4338320"/>
                <a:ext cx="23470" cy="365760"/>
              </a:xfrm>
              <a:prstGeom prst="roundRect">
                <a:avLst>
                  <a:gd name="adj" fmla="val 43290"/>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Image tokens 2"/>
              <p:cNvSpPr/>
              <p:nvPr/>
            </p:nvSpPr>
            <p:spPr>
              <a:xfrm>
                <a:off x="3718560" y="4318000"/>
                <a:ext cx="111760" cy="406400"/>
              </a:xfrm>
              <a:prstGeom prst="roundRect">
                <a:avLst>
                  <a:gd name="adj" fmla="val 18181"/>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Token highlight"/>
              <p:cNvSpPr/>
              <p:nvPr/>
            </p:nvSpPr>
            <p:spPr>
              <a:xfrm>
                <a:off x="3738880" y="4338320"/>
                <a:ext cx="23470" cy="365760"/>
              </a:xfrm>
              <a:prstGeom prst="roundRect">
                <a:avLst>
                  <a:gd name="adj" fmla="val 43290"/>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Image tokens 3"/>
              <p:cNvSpPr/>
              <p:nvPr/>
            </p:nvSpPr>
            <p:spPr>
              <a:xfrm>
                <a:off x="3881120" y="4318000"/>
                <a:ext cx="111760" cy="406400"/>
              </a:xfrm>
              <a:prstGeom prst="roundRect">
                <a:avLst>
                  <a:gd name="adj" fmla="val 18181"/>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oken highlight"/>
              <p:cNvSpPr/>
              <p:nvPr/>
            </p:nvSpPr>
            <p:spPr>
              <a:xfrm>
                <a:off x="3901440" y="4338320"/>
                <a:ext cx="23470" cy="365760"/>
              </a:xfrm>
              <a:prstGeom prst="roundRect">
                <a:avLst>
                  <a:gd name="adj" fmla="val 43290"/>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04" name="Human prompts"/>
            <p:cNvGrpSpPr/>
            <p:nvPr/>
          </p:nvGrpSpPr>
          <p:grpSpPr>
            <a:xfrm>
              <a:off x="4389120" y="4318000"/>
              <a:ext cx="436880" cy="406400"/>
              <a:chOff x="4389120" y="4318000"/>
              <a:chExt cx="436880" cy="406400"/>
            </a:xfrm>
          </p:grpSpPr>
          <p:sp>
            <p:nvSpPr>
              <p:cNvPr id="105" name="Human prompts 1"/>
              <p:cNvSpPr/>
              <p:nvPr/>
            </p:nvSpPr>
            <p:spPr>
              <a:xfrm>
                <a:off x="4389120" y="4318000"/>
                <a:ext cx="111760" cy="406400"/>
              </a:xfrm>
              <a:prstGeom prst="roundRect">
                <a:avLst>
                  <a:gd name="adj" fmla="val 18181"/>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Token highlight"/>
              <p:cNvSpPr/>
              <p:nvPr/>
            </p:nvSpPr>
            <p:spPr>
              <a:xfrm>
                <a:off x="4409440" y="4338320"/>
                <a:ext cx="23470" cy="365760"/>
              </a:xfrm>
              <a:prstGeom prst="roundRect">
                <a:avLst>
                  <a:gd name="adj" fmla="val 4329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Human prompts 2"/>
              <p:cNvSpPr/>
              <p:nvPr/>
            </p:nvSpPr>
            <p:spPr>
              <a:xfrm>
                <a:off x="4551680" y="4318000"/>
                <a:ext cx="111760" cy="406400"/>
              </a:xfrm>
              <a:prstGeom prst="roundRect">
                <a:avLst>
                  <a:gd name="adj" fmla="val 18181"/>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oken highlight"/>
              <p:cNvSpPr/>
              <p:nvPr/>
            </p:nvSpPr>
            <p:spPr>
              <a:xfrm>
                <a:off x="4572000" y="4338320"/>
                <a:ext cx="23470" cy="365760"/>
              </a:xfrm>
              <a:prstGeom prst="roundRect">
                <a:avLst>
                  <a:gd name="adj" fmla="val 4329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Human prompts 3"/>
              <p:cNvSpPr/>
              <p:nvPr/>
            </p:nvSpPr>
            <p:spPr>
              <a:xfrm>
                <a:off x="4714240" y="4318000"/>
                <a:ext cx="111760" cy="406400"/>
              </a:xfrm>
              <a:prstGeom prst="roundRect">
                <a:avLst>
                  <a:gd name="adj" fmla="val 18181"/>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oken highlight"/>
              <p:cNvSpPr/>
              <p:nvPr/>
            </p:nvSpPr>
            <p:spPr>
              <a:xfrm>
                <a:off x="4734560" y="4338320"/>
                <a:ext cx="23470" cy="365760"/>
              </a:xfrm>
              <a:prstGeom prst="roundRect">
                <a:avLst>
                  <a:gd name="adj" fmla="val 4329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11" name="Native camera token"/>
            <p:cNvGrpSpPr/>
            <p:nvPr/>
          </p:nvGrpSpPr>
          <p:grpSpPr>
            <a:xfrm>
              <a:off x="5293360" y="4318000"/>
              <a:ext cx="172720" cy="406400"/>
              <a:chOff x="5293360" y="4318000"/>
              <a:chExt cx="172720" cy="406400"/>
            </a:xfrm>
          </p:grpSpPr>
          <p:sp>
            <p:nvSpPr>
              <p:cNvPr id="112" name="Native camera token 1"/>
              <p:cNvSpPr/>
              <p:nvPr/>
            </p:nvSpPr>
            <p:spPr>
              <a:xfrm>
                <a:off x="5293360" y="4318000"/>
                <a:ext cx="172720" cy="406400"/>
              </a:xfrm>
              <a:prstGeom prst="roundRect">
                <a:avLst>
                  <a:gd name="adj" fmla="val 11764"/>
                </a:avLst>
              </a:prstGeom>
              <a:solidFill>
                <a:srgbClr val="BFE0DD"/>
              </a:solidFill>
              <a:ln w="9652">
                <a:solidFill>
                  <a:srgbClr val="198F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Token highlight"/>
              <p:cNvSpPr/>
              <p:nvPr/>
            </p:nvSpPr>
            <p:spPr>
              <a:xfrm>
                <a:off x="5313680" y="4338320"/>
                <a:ext cx="36271" cy="365760"/>
              </a:xfrm>
              <a:prstGeom prst="roundRect">
                <a:avLst>
                  <a:gd name="adj" fmla="val 28011"/>
                </a:avLst>
              </a:prstGeom>
              <a:solidFill>
                <a:srgbClr val="E1F0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14" name="Text: Image tokens"/>
            <p:cNvSpPr txBox="1"/>
            <p:nvPr/>
          </p:nvSpPr>
          <p:spPr>
            <a:xfrm>
              <a:off x="3464560" y="4886960"/>
              <a:ext cx="660400" cy="457200"/>
            </a:xfrm>
            <a:prstGeom prst="rect">
              <a:avLst/>
            </a:prstGeom>
            <a:noFill/>
          </p:spPr>
          <p:txBody>
            <a:bodyPr wrap="none" lIns="0" rIns="0" tIns="0" bIns="0" anchor="ctr">
              <a:spAutoFit/>
            </a:bodyPr>
            <a:lstStyle/>
            <a:p>
              <a:pPr algn="ctr">
                <a:lnSpc>
                  <a:spcPct val="103000"/>
                </a:lnSpc>
                <a:spcBef>
                  <a:spcPts val="0"/>
                </a:spcBef>
                <a:spcAft>
                  <a:spcPts val="0"/>
                </a:spcAft>
              </a:pPr>
              <a:r>
                <a:rPr sz="1440" b="0" i="0">
                  <a:solidFill>
                    <a:srgbClr val="23324A"/>
                  </a:solidFill>
                  <a:latin typeface="Arial"/>
                </a:rPr>
                <a:t>Image</a:t>
              </a:r>
            </a:p>
            <a:p>
              <a:pPr algn="ctr">
                <a:lnSpc>
                  <a:spcPct val="103000"/>
                </a:lnSpc>
                <a:spcBef>
                  <a:spcPts val="0"/>
                </a:spcBef>
                <a:spcAft>
                  <a:spcPts val="0"/>
                </a:spcAft>
              </a:pPr>
              <a:r>
                <a:rPr sz="1440" b="0" i="0">
                  <a:solidFill>
                    <a:srgbClr val="23324A"/>
                  </a:solidFill>
                  <a:latin typeface="Arial"/>
                </a:rPr>
                <a:t>tokens</a:t>
              </a:r>
            </a:p>
          </p:txBody>
        </p:sp>
        <p:sp>
          <p:nvSpPr>
            <p:cNvPr id="115" name="Text: Human prompts"/>
            <p:cNvSpPr txBox="1"/>
            <p:nvPr/>
          </p:nvSpPr>
          <p:spPr>
            <a:xfrm>
              <a:off x="4226560" y="4886960"/>
              <a:ext cx="792480" cy="457200"/>
            </a:xfrm>
            <a:prstGeom prst="rect">
              <a:avLst/>
            </a:prstGeom>
            <a:noFill/>
          </p:spPr>
          <p:txBody>
            <a:bodyPr wrap="none" lIns="0" rIns="0" tIns="0" bIns="0" anchor="ctr">
              <a:spAutoFit/>
            </a:bodyPr>
            <a:lstStyle/>
            <a:p>
              <a:pPr algn="ctr">
                <a:lnSpc>
                  <a:spcPct val="103000"/>
                </a:lnSpc>
                <a:spcBef>
                  <a:spcPts val="0"/>
                </a:spcBef>
                <a:spcAft>
                  <a:spcPts val="0"/>
                </a:spcAft>
              </a:pPr>
              <a:r>
                <a:rPr sz="1440" b="0" i="0">
                  <a:solidFill>
                    <a:srgbClr val="23324A"/>
                  </a:solidFill>
                  <a:latin typeface="Arial"/>
                </a:rPr>
                <a:t>Human</a:t>
              </a:r>
            </a:p>
            <a:p>
              <a:pPr algn="ctr">
                <a:lnSpc>
                  <a:spcPct val="103000"/>
                </a:lnSpc>
                <a:spcBef>
                  <a:spcPts val="0"/>
                </a:spcBef>
                <a:spcAft>
                  <a:spcPts val="0"/>
                </a:spcAft>
              </a:pPr>
              <a:r>
                <a:rPr sz="1440" b="0" i="0">
                  <a:solidFill>
                    <a:srgbClr val="23324A"/>
                  </a:solidFill>
                  <a:latin typeface="Arial"/>
                </a:rPr>
                <a:t>prompts</a:t>
              </a:r>
            </a:p>
          </p:txBody>
        </p:sp>
        <p:sp>
          <p:nvSpPr>
            <p:cNvPr id="116" name="Text: Camera token"/>
            <p:cNvSpPr txBox="1"/>
            <p:nvPr/>
          </p:nvSpPr>
          <p:spPr>
            <a:xfrm>
              <a:off x="5069840" y="4886960"/>
              <a:ext cx="701040" cy="457200"/>
            </a:xfrm>
            <a:prstGeom prst="rect">
              <a:avLst/>
            </a:prstGeom>
            <a:noFill/>
          </p:spPr>
          <p:txBody>
            <a:bodyPr wrap="none" lIns="0" rIns="0" tIns="0" bIns="0" anchor="ctr">
              <a:spAutoFit/>
            </a:bodyPr>
            <a:lstStyle/>
            <a:p>
              <a:pPr algn="ctr">
                <a:lnSpc>
                  <a:spcPct val="103000"/>
                </a:lnSpc>
                <a:spcBef>
                  <a:spcPts val="0"/>
                </a:spcBef>
                <a:spcAft>
                  <a:spcPts val="0"/>
                </a:spcAft>
              </a:pPr>
              <a:r>
                <a:rPr sz="1440" b="0" i="0">
                  <a:solidFill>
                    <a:srgbClr val="23324A"/>
                  </a:solidFill>
                  <a:latin typeface="Arial"/>
                </a:rPr>
                <a:t>Camera</a:t>
              </a:r>
            </a:p>
            <a:p>
              <a:pPr algn="ctr">
                <a:lnSpc>
                  <a:spcPct val="103000"/>
                </a:lnSpc>
                <a:spcBef>
                  <a:spcPts val="0"/>
                </a:spcBef>
                <a:spcAft>
                  <a:spcPts val="0"/>
                </a:spcAft>
              </a:pPr>
              <a:r>
                <a:rPr sz="1440" b="0" i="0">
                  <a:solidFill>
                    <a:srgbClr val="23324A"/>
                  </a:solidFill>
                  <a:latin typeface="Arial"/>
                </a:rPr>
                <a:t>token</a:t>
              </a:r>
            </a:p>
          </p:txBody>
        </p:sp>
        <p:sp>
          <p:nvSpPr>
            <p:cNvPr id="117" name="Math F_b^"/>
            <p:cNvSpPr txBox="1"/>
            <p:nvPr/>
          </p:nvSpPr>
          <p:spPr>
            <a:xfrm>
              <a:off x="3474720" y="5374640"/>
              <a:ext cx="660400" cy="355600"/>
            </a:xfrm>
            <a:prstGeom prst="rect">
              <a:avLst/>
            </a:prstGeom>
            <a:noFill/>
          </p:spPr>
          <p:txBody>
            <a:bodyPr wrap="none" lIns="0" rIns="0" tIns="0" bIns="0" anchor="ctr">
              <a:spAutoFit/>
            </a:bodyPr>
            <a:lstStyle/>
            <a:p>
              <a:pPr algn="ctr">
                <a:lnSpc>
                  <a:spcPct val="103000"/>
                </a:lnSpc>
                <a:spcBef>
                  <a:spcPts val="0"/>
                </a:spcBef>
                <a:spcAft>
                  <a:spcPts val="0"/>
                </a:spcAft>
              </a:pPr>
              <a:r>
                <a:rPr sz="2240" b="0" i="1">
                  <a:solidFill>
                    <a:srgbClr val="23324A"/>
                  </a:solidFill>
                  <a:latin typeface="Times New Roman"/>
                </a:rPr>
                <a:t>F</a:t>
              </a:r>
              <a:r>
                <a:rPr sz="1523" b="0" i="0" baseline="-24000">
                  <a:solidFill>
                    <a:srgbClr val="23324A"/>
                  </a:solidFill>
                  <a:latin typeface="Times New Roman"/>
                </a:rPr>
                <a:t>b</a:t>
              </a:r>
            </a:p>
          </p:txBody>
        </p:sp>
        <p:sp>
          <p:nvSpPr>
            <p:cNvPr id="118" name="Math H_b^"/>
            <p:cNvSpPr txBox="1"/>
            <p:nvPr/>
          </p:nvSpPr>
          <p:spPr>
            <a:xfrm>
              <a:off x="4267200" y="5374640"/>
              <a:ext cx="701040" cy="355600"/>
            </a:xfrm>
            <a:prstGeom prst="rect">
              <a:avLst/>
            </a:prstGeom>
            <a:noFill/>
          </p:spPr>
          <p:txBody>
            <a:bodyPr wrap="none" lIns="0" rIns="0" tIns="0" bIns="0" anchor="ctr">
              <a:spAutoFit/>
            </a:bodyPr>
            <a:lstStyle/>
            <a:p>
              <a:pPr algn="ctr">
                <a:lnSpc>
                  <a:spcPct val="103000"/>
                </a:lnSpc>
                <a:spcBef>
                  <a:spcPts val="0"/>
                </a:spcBef>
                <a:spcAft>
                  <a:spcPts val="0"/>
                </a:spcAft>
              </a:pPr>
              <a:r>
                <a:rPr sz="2240" b="0" i="1">
                  <a:solidFill>
                    <a:srgbClr val="23324A"/>
                  </a:solidFill>
                  <a:latin typeface="Times New Roman"/>
                </a:rPr>
                <a:t>H</a:t>
              </a:r>
              <a:r>
                <a:rPr sz="1523" b="0" i="0" baseline="-24000">
                  <a:solidFill>
                    <a:srgbClr val="23324A"/>
                  </a:solidFill>
                  <a:latin typeface="Times New Roman"/>
                </a:rPr>
                <a:t>b</a:t>
              </a:r>
            </a:p>
          </p:txBody>
        </p:sp>
        <p:sp>
          <p:nvSpPr>
            <p:cNvPr id="119" name="Math p_0^"/>
            <p:cNvSpPr txBox="1"/>
            <p:nvPr/>
          </p:nvSpPr>
          <p:spPr>
            <a:xfrm>
              <a:off x="5110480" y="5374640"/>
              <a:ext cx="609600" cy="355600"/>
            </a:xfrm>
            <a:prstGeom prst="rect">
              <a:avLst/>
            </a:prstGeom>
            <a:noFill/>
          </p:spPr>
          <p:txBody>
            <a:bodyPr wrap="none" lIns="0" rIns="0" tIns="0" bIns="0" anchor="ctr">
              <a:spAutoFit/>
            </a:bodyPr>
            <a:lstStyle/>
            <a:p>
              <a:pPr algn="ctr">
                <a:lnSpc>
                  <a:spcPct val="103000"/>
                </a:lnSpc>
                <a:spcBef>
                  <a:spcPts val="0"/>
                </a:spcBef>
                <a:spcAft>
                  <a:spcPts val="0"/>
                </a:spcAft>
              </a:pPr>
              <a:r>
                <a:rPr sz="2240" b="0" i="1">
                  <a:solidFill>
                    <a:srgbClr val="23324A"/>
                  </a:solidFill>
                  <a:latin typeface="Times New Roman"/>
                </a:rPr>
                <a:t>p</a:t>
              </a:r>
              <a:r>
                <a:rPr sz="1523" b="0" i="0" baseline="-24000">
                  <a:solidFill>
                    <a:srgbClr val="23324A"/>
                  </a:solidFill>
                  <a:latin typeface="Times New Roman"/>
                </a:rPr>
                <a:t>0</a:t>
              </a:r>
            </a:p>
          </p:txBody>
        </p:sp>
        <p:grpSp>
          <p:nvGrpSpPr>
            <p:cNvPr id="120" name="Native feature bundle bracket"/>
            <p:cNvGrpSpPr/>
            <p:nvPr/>
          </p:nvGrpSpPr>
          <p:grpSpPr>
            <a:xfrm>
              <a:off x="3749040" y="5770880"/>
              <a:ext cx="1625600" cy="142240"/>
              <a:chOff x="3749040" y="5770880"/>
              <a:chExt cx="1625600" cy="142240"/>
            </a:xfrm>
          </p:grpSpPr>
          <p:cxnSp>
            <p:nvCxnSpPr>
              <p:cNvPr id="121" name="Native feature bundle bracket segment 1"/>
              <p:cNvCxnSpPr/>
              <p:nvPr/>
            </p:nvCxnSpPr>
            <p:spPr>
              <a:xfrm>
                <a:off x="3749040" y="5770880"/>
                <a:ext cx="0" cy="142240"/>
              </a:xfrm>
              <a:prstGeom prst="line">
                <a:avLst/>
              </a:prstGeom>
              <a:ln w="12192">
                <a:solidFill>
                  <a:srgbClr val="66778D"/>
                </a:solidFill>
              </a:ln>
              <a:effectLst/>
            </p:spPr>
            <p:style>
              <a:lnRef idx="2">
                <a:schemeClr val="accent1"/>
              </a:lnRef>
              <a:fillRef idx="0">
                <a:schemeClr val="accent1"/>
              </a:fillRef>
              <a:effectRef idx="0">
                <a:schemeClr val="accent1"/>
              </a:effectRef>
              <a:fontRef idx="minor">
                <a:schemeClr val="tx1"/>
              </a:fontRef>
            </p:style>
          </p:cxnSp>
          <p:cxnSp>
            <p:nvCxnSpPr>
              <p:cNvPr id="122" name="Native feature bundle bracket segment 2"/>
              <p:cNvCxnSpPr/>
              <p:nvPr/>
            </p:nvCxnSpPr>
            <p:spPr>
              <a:xfrm>
                <a:off x="3749040" y="5913120"/>
                <a:ext cx="1625600" cy="0"/>
              </a:xfrm>
              <a:prstGeom prst="line">
                <a:avLst/>
              </a:prstGeom>
              <a:ln w="12192">
                <a:solidFill>
                  <a:srgbClr val="66778D"/>
                </a:solidFill>
              </a:ln>
              <a:effectLst/>
            </p:spPr>
            <p:style>
              <a:lnRef idx="2">
                <a:schemeClr val="accent1"/>
              </a:lnRef>
              <a:fillRef idx="0">
                <a:schemeClr val="accent1"/>
              </a:fillRef>
              <a:effectRef idx="0">
                <a:schemeClr val="accent1"/>
              </a:effectRef>
              <a:fontRef idx="minor">
                <a:schemeClr val="tx1"/>
              </a:fontRef>
            </p:style>
          </p:cxnSp>
          <p:cxnSp>
            <p:nvCxnSpPr>
              <p:cNvPr id="123" name="Native feature bundle bracket segment 3"/>
              <p:cNvCxnSpPr/>
              <p:nvPr/>
            </p:nvCxnSpPr>
            <p:spPr>
              <a:xfrm flipV="1">
                <a:off x="5374640" y="5770880"/>
                <a:ext cx="0" cy="142240"/>
              </a:xfrm>
              <a:prstGeom prst="line">
                <a:avLst/>
              </a:prstGeom>
              <a:ln w="12192">
                <a:solidFill>
                  <a:srgbClr val="66778D"/>
                </a:solidFill>
              </a:ln>
              <a:effectLst/>
            </p:spPr>
            <p:style>
              <a:lnRef idx="2">
                <a:schemeClr val="accent1"/>
              </a:lnRef>
              <a:fillRef idx="0">
                <a:schemeClr val="accent1"/>
              </a:fillRef>
              <a:effectRef idx="0">
                <a:schemeClr val="accent1"/>
              </a:effectRef>
              <a:fontRef idx="minor">
                <a:schemeClr val="tx1"/>
              </a:fontRef>
            </p:style>
          </p:cxnSp>
        </p:grpSp>
        <p:sp>
          <p:nvSpPr>
            <p:cNvPr id="124" name="Text: Native input tokens"/>
            <p:cNvSpPr txBox="1"/>
            <p:nvPr/>
          </p:nvSpPr>
          <p:spPr>
            <a:xfrm>
              <a:off x="3438144" y="6071616"/>
              <a:ext cx="2313432" cy="265176"/>
            </a:xfrm>
            <a:prstGeom prst="rect">
              <a:avLst/>
            </a:prstGeom>
            <a:noFill/>
          </p:spPr>
          <p:txBody>
            <a:bodyPr wrap="none" lIns="0" rIns="0" tIns="0" bIns="0" anchor="ctr">
              <a:spAutoFit/>
            </a:bodyPr>
            <a:lstStyle/>
            <a:p>
              <a:pPr algn="ctr">
                <a:lnSpc>
                  <a:spcPct val="100000"/>
                </a:lnSpc>
                <a:spcBef>
                  <a:spcPts val="0"/>
                </a:spcBef>
                <a:spcAft>
                  <a:spcPts val="0"/>
                </a:spcAft>
              </a:pPr>
              <a:r>
                <a:rPr sz="1230" b="1" i="0">
                  <a:solidFill>
                    <a:srgbClr val="3281DC"/>
                  </a:solidFill>
                  <a:latin typeface="Arial"/>
                </a:rPr>
                <a:t>Same boundary-frame tokens</a:t>
              </a:r>
            </a:p>
          </p:txBody>
        </p:sp>
        <p:grpSp>
          <p:nvGrpSpPr>
            <p:cNvPr id="125" name="Legend | Frozen pretrained module"/>
            <p:cNvGrpSpPr/>
            <p:nvPr/>
          </p:nvGrpSpPr>
          <p:grpSpPr>
            <a:xfrm>
              <a:off x="3552444" y="6854697"/>
              <a:ext cx="155448" cy="134621"/>
              <a:chOff x="3552444" y="6854697"/>
              <a:chExt cx="155448" cy="134621"/>
            </a:xfrm>
          </p:grpSpPr>
          <p:cxnSp>
            <p:nvCxnSpPr>
              <p:cNvPr id="126" name="Frozen snowflake"/>
              <p:cNvCxnSpPr/>
              <p:nvPr/>
            </p:nvCxnSpPr>
            <p:spPr>
              <a:xfrm>
                <a:off x="3552444" y="6922008"/>
                <a:ext cx="155448" cy="0"/>
              </a:xfrm>
              <a:prstGeom prst="line">
                <a:avLst/>
              </a:prstGeom>
              <a:ln w="11430">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27" name="Frozen snowflake barb"/>
              <p:cNvCxnSpPr/>
              <p:nvPr/>
            </p:nvCxnSpPr>
            <p:spPr>
              <a:xfrm flipV="1">
                <a:off x="3552444" y="6902222"/>
                <a:ext cx="19785" cy="19786"/>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28" name="Frozen snowflake barb"/>
              <p:cNvCxnSpPr/>
              <p:nvPr/>
            </p:nvCxnSpPr>
            <p:spPr>
              <a:xfrm>
                <a:off x="3552444" y="6922008"/>
                <a:ext cx="19785" cy="19785"/>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29" name="Frozen snowflake barb"/>
              <p:cNvCxnSpPr/>
              <p:nvPr/>
            </p:nvCxnSpPr>
            <p:spPr>
              <a:xfrm flipH="1">
                <a:off x="3688106" y="6922008"/>
                <a:ext cx="19786" cy="19785"/>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0" name="Frozen snowflake barb"/>
              <p:cNvCxnSpPr/>
              <p:nvPr/>
            </p:nvCxnSpPr>
            <p:spPr>
              <a:xfrm flipH="1" flipV="1">
                <a:off x="3688106" y="6902222"/>
                <a:ext cx="19786" cy="19786"/>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1" name="Frozen snowflake"/>
              <p:cNvCxnSpPr/>
              <p:nvPr/>
            </p:nvCxnSpPr>
            <p:spPr>
              <a:xfrm>
                <a:off x="3591306" y="6854697"/>
                <a:ext cx="77724" cy="134621"/>
              </a:xfrm>
              <a:prstGeom prst="line">
                <a:avLst/>
              </a:prstGeom>
              <a:ln w="11430">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2" name="Frozen snowflake barb"/>
              <p:cNvCxnSpPr/>
              <p:nvPr/>
            </p:nvCxnSpPr>
            <p:spPr>
              <a:xfrm>
                <a:off x="3591306" y="6854697"/>
                <a:ext cx="27027" cy="7241"/>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3" name="Frozen snowflake barb"/>
              <p:cNvCxnSpPr/>
              <p:nvPr/>
            </p:nvCxnSpPr>
            <p:spPr>
              <a:xfrm flipH="1">
                <a:off x="3584064" y="6854697"/>
                <a:ext cx="7242" cy="27027"/>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4" name="Frozen snowflake barb"/>
              <p:cNvCxnSpPr/>
              <p:nvPr/>
            </p:nvCxnSpPr>
            <p:spPr>
              <a:xfrm flipH="1" flipV="1">
                <a:off x="3642002" y="6982077"/>
                <a:ext cx="27028" cy="7241"/>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5" name="Frozen snowflake barb"/>
              <p:cNvCxnSpPr/>
              <p:nvPr/>
            </p:nvCxnSpPr>
            <p:spPr>
              <a:xfrm flipV="1">
                <a:off x="3669030" y="6962291"/>
                <a:ext cx="7241" cy="27027"/>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6" name="Frozen snowflake"/>
              <p:cNvCxnSpPr/>
              <p:nvPr/>
            </p:nvCxnSpPr>
            <p:spPr>
              <a:xfrm flipH="1">
                <a:off x="3591306" y="6854697"/>
                <a:ext cx="77724" cy="134621"/>
              </a:xfrm>
              <a:prstGeom prst="line">
                <a:avLst/>
              </a:prstGeom>
              <a:ln w="11430">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7" name="Frozen snowflake barb"/>
              <p:cNvCxnSpPr/>
              <p:nvPr/>
            </p:nvCxnSpPr>
            <p:spPr>
              <a:xfrm>
                <a:off x="3669030" y="6854697"/>
                <a:ext cx="7241" cy="27027"/>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8" name="Frozen snowflake barb"/>
              <p:cNvCxnSpPr/>
              <p:nvPr/>
            </p:nvCxnSpPr>
            <p:spPr>
              <a:xfrm flipH="1">
                <a:off x="3642002" y="6854697"/>
                <a:ext cx="27028" cy="7241"/>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39" name="Frozen snowflake barb"/>
              <p:cNvCxnSpPr/>
              <p:nvPr/>
            </p:nvCxnSpPr>
            <p:spPr>
              <a:xfrm flipH="1" flipV="1">
                <a:off x="3584064" y="6962291"/>
                <a:ext cx="7242" cy="27027"/>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140" name="Frozen snowflake barb"/>
              <p:cNvCxnSpPr/>
              <p:nvPr/>
            </p:nvCxnSpPr>
            <p:spPr>
              <a:xfrm flipV="1">
                <a:off x="3591306" y="6982077"/>
                <a:ext cx="27027" cy="7241"/>
              </a:xfrm>
              <a:prstGeom prst="line">
                <a:avLst/>
              </a:prstGeom>
              <a:ln w="9525">
                <a:solidFill>
                  <a:srgbClr val="3281DC"/>
                </a:solidFill>
              </a:ln>
              <a:effectLst/>
            </p:spPr>
            <p:style>
              <a:lnRef idx="2">
                <a:schemeClr val="accent1"/>
              </a:lnRef>
              <a:fillRef idx="0">
                <a:schemeClr val="accent1"/>
              </a:fillRef>
              <a:effectRef idx="0">
                <a:schemeClr val="accent1"/>
              </a:effectRef>
              <a:fontRef idx="minor">
                <a:schemeClr val="tx1"/>
              </a:fontRef>
            </p:style>
          </p:cxnSp>
        </p:grpSp>
        <p:sp>
          <p:nvSpPr>
            <p:cNvPr id="141" name="Label | Frozen"/>
            <p:cNvSpPr txBox="1"/>
            <p:nvPr/>
          </p:nvSpPr>
          <p:spPr>
            <a:xfrm>
              <a:off x="3776472" y="6803136"/>
              <a:ext cx="667512" cy="237744"/>
            </a:xfrm>
            <a:prstGeom prst="rect">
              <a:avLst/>
            </a:prstGeom>
            <a:noFill/>
            <a:effectLst/>
          </p:spPr>
          <p:txBody>
            <a:bodyPr wrap="none" lIns="0" rIns="0" tIns="0" bIns="0" anchor="ctr">
              <a:spAutoFit/>
            </a:bodyPr>
            <a:lstStyle/>
            <a:p>
              <a:pPr algn="l">
                <a:lnSpc>
                  <a:spcPct val="100000"/>
                </a:lnSpc>
                <a:spcBef>
                  <a:spcPts val="0"/>
                </a:spcBef>
                <a:spcAft>
                  <a:spcPts val="0"/>
                </a:spcAft>
              </a:pPr>
              <a:r>
                <a:rPr sz="1160" b="0" i="0">
                  <a:solidFill>
                    <a:srgbClr val="637C9A"/>
                  </a:solidFill>
                  <a:latin typeface="Arial"/>
                </a:rPr>
                <a:t>Frozen</a:t>
              </a:r>
            </a:p>
          </p:txBody>
        </p:sp>
        <p:grpSp>
          <p:nvGrpSpPr>
            <p:cNvPr id="142" name="Legend | Learned alignment module"/>
            <p:cNvGrpSpPr/>
            <p:nvPr/>
          </p:nvGrpSpPr>
          <p:grpSpPr>
            <a:xfrm>
              <a:off x="4572000" y="6830568"/>
              <a:ext cx="101600" cy="132080"/>
              <a:chOff x="4572000" y="6830568"/>
              <a:chExt cx="101600" cy="132080"/>
            </a:xfrm>
          </p:grpSpPr>
          <p:sp>
            <p:nvSpPr>
              <p:cNvPr id="143" name="Trainable flame"/>
              <p:cNvSpPr/>
              <p:nvPr/>
            </p:nvSpPr>
            <p:spPr>
              <a:xfrm>
                <a:off x="4572000" y="6830568"/>
                <a:ext cx="101600" cy="132080"/>
              </a:xfrm>
              <a:custGeom>
                <a:avLst/>
                <a:gdLst/>
                <a:ahLst/>
                <a:cxnLst/>
                <a:rect l="l" t="t" r="r" b="b"/>
                <a:pathLst>
                  <a:path w="10" h="13">
                    <a:moveTo>
                      <a:pt x="5" y="0"/>
                    </a:moveTo>
                    <a:lnTo>
                      <a:pt x="6" y="6"/>
                    </a:lnTo>
                    <a:lnTo>
                      <a:pt x="9" y="3"/>
                    </a:lnTo>
                    <a:lnTo>
                      <a:pt x="10" y="8"/>
                    </a:lnTo>
                    <a:lnTo>
                      <a:pt x="8" y="12"/>
                    </a:lnTo>
                    <a:lnTo>
                      <a:pt x="3" y="13"/>
                    </a:lnTo>
                    <a:lnTo>
                      <a:pt x="0" y="9"/>
                    </a:lnTo>
                    <a:lnTo>
                      <a:pt x="1" y="5"/>
                    </a:lnTo>
                    <a:close/>
                  </a:path>
                </a:pathLst>
              </a:custGeom>
              <a:solidFill>
                <a:srgbClr val="CF82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Flame core"/>
              <p:cNvSpPr/>
              <p:nvPr/>
            </p:nvSpPr>
            <p:spPr>
              <a:xfrm>
                <a:off x="4602480" y="6901688"/>
                <a:ext cx="40640" cy="50800"/>
              </a:xfrm>
              <a:custGeom>
                <a:avLst/>
                <a:gdLst/>
                <a:ahLst/>
                <a:cxnLst/>
                <a:rect l="l" t="t" r="r" b="b"/>
                <a:pathLst>
                  <a:path w="4" h="5">
                    <a:moveTo>
                      <a:pt x="2" y="0"/>
                    </a:moveTo>
                    <a:lnTo>
                      <a:pt x="4" y="2"/>
                    </a:lnTo>
                    <a:lnTo>
                      <a:pt x="2" y="5"/>
                    </a:lnTo>
                    <a:lnTo>
                      <a:pt x="0" y="2"/>
                    </a:lnTo>
                    <a:close/>
                  </a:path>
                </a:pathLst>
              </a:custGeom>
              <a:solidFill>
                <a:srgbClr val="FFD9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45" name="Label | Learned"/>
            <p:cNvSpPr txBox="1"/>
            <p:nvPr/>
          </p:nvSpPr>
          <p:spPr>
            <a:xfrm>
              <a:off x="4754880" y="6803136"/>
              <a:ext cx="877824" cy="237744"/>
            </a:xfrm>
            <a:prstGeom prst="rect">
              <a:avLst/>
            </a:prstGeom>
            <a:noFill/>
            <a:effectLst/>
          </p:spPr>
          <p:txBody>
            <a:bodyPr wrap="none" lIns="0" rIns="0" tIns="0" bIns="0" anchor="ctr">
              <a:spAutoFit/>
            </a:bodyPr>
            <a:lstStyle/>
            <a:p>
              <a:pPr algn="l">
                <a:lnSpc>
                  <a:spcPct val="100000"/>
                </a:lnSpc>
                <a:spcBef>
                  <a:spcPts val="0"/>
                </a:spcBef>
                <a:spcAft>
                  <a:spcPts val="0"/>
                </a:spcAft>
              </a:pPr>
              <a:r>
                <a:rPr sz="1160" b="0" i="0">
                  <a:solidFill>
                    <a:srgbClr val="637C9A"/>
                  </a:solidFill>
                  <a:latin typeface="Arial"/>
                </a:rPr>
                <a:t>Trainable</a:t>
              </a:r>
            </a:p>
          </p:txBody>
        </p:sp>
        <p:sp>
          <p:nvSpPr>
            <p:cNvPr id="146" name="Label | Shot-transition signal"/>
            <p:cNvSpPr txBox="1"/>
            <p:nvPr/>
          </p:nvSpPr>
          <p:spPr>
            <a:xfrm>
              <a:off x="3465576" y="6441948"/>
              <a:ext cx="2240280" cy="187452"/>
            </a:xfrm>
            <a:prstGeom prst="rect">
              <a:avLst/>
            </a:prstGeom>
            <a:noFill/>
            <a:effectLst/>
          </p:spPr>
          <p:txBody>
            <a:bodyPr wrap="none" lIns="0" rIns="0" tIns="0" bIns="0" anchor="ctr">
              <a:spAutoFit/>
            </a:bodyPr>
            <a:lstStyle/>
            <a:p>
              <a:pPr algn="ctr">
                <a:lnSpc>
                  <a:spcPct val="100000"/>
                </a:lnSpc>
                <a:spcBef>
                  <a:spcPts val="0"/>
                </a:spcBef>
                <a:spcAft>
                  <a:spcPts val="0"/>
                </a:spcAft>
              </a:pPr>
              <a:r>
                <a:rPr sz="1190" b="0" i="0">
                  <a:solidFill>
                    <a:srgbClr val="78899C"/>
                  </a:solidFill>
                  <a:latin typeface="Arial"/>
                </a:rPr>
                <a:t>Shot-transition signal</a:t>
              </a:r>
            </a:p>
          </p:txBody>
        </p:sp>
      </p:grpSp>
      <p:grpSp>
        <p:nvGrpSpPr>
          <p:cNvPr id="147" name="03 Alignment–state decoupling"/>
          <p:cNvGrpSpPr/>
          <p:nvPr/>
        </p:nvGrpSpPr>
        <p:grpSpPr>
          <a:xfrm>
            <a:off x="6035040" y="142240"/>
            <a:ext cx="8473440" cy="6995160"/>
            <a:chOff x="6035040" y="142240"/>
            <a:chExt cx="8473440" cy="6995160"/>
          </a:xfrm>
        </p:grpSpPr>
        <p:sp>
          <p:nvSpPr>
            <p:cNvPr id="148" name="Panel Alignment–state decoupling"/>
            <p:cNvSpPr/>
            <p:nvPr/>
          </p:nvSpPr>
          <p:spPr>
            <a:xfrm>
              <a:off x="6035040" y="142240"/>
              <a:ext cx="8473440" cy="6995160"/>
            </a:xfrm>
            <a:prstGeom prst="roundRect">
              <a:avLst>
                <a:gd name="adj" fmla="val 2070"/>
              </a:avLst>
            </a:prstGeom>
            <a:solidFill>
              <a:srgbClr val="FCFBFF"/>
            </a:solidFill>
            <a:ln w="14223">
              <a:solidFill>
                <a:srgbClr val="C6B4E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9" name="Header Alignment–state decoupling"/>
            <p:cNvSpPr/>
            <p:nvPr/>
          </p:nvSpPr>
          <p:spPr>
            <a:xfrm>
              <a:off x="6055360" y="162560"/>
              <a:ext cx="8432800" cy="619760"/>
            </a:xfrm>
            <a:prstGeom prst="roundRect">
              <a:avLst>
                <a:gd name="adj" fmla="val 18032"/>
              </a:avLst>
            </a:prstGeom>
            <a:solidFill>
              <a:srgbClr val="EEE8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Header band base"/>
            <p:cNvSpPr/>
            <p:nvPr/>
          </p:nvSpPr>
          <p:spPr>
            <a:xfrm>
              <a:off x="6055360" y="650240"/>
              <a:ext cx="8432800" cy="121920"/>
            </a:xfrm>
            <a:prstGeom prst="rect">
              <a:avLst/>
            </a:prstGeom>
            <a:solidFill>
              <a:srgbClr val="EEE8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Text: Alignment–state decoupling"/>
            <p:cNvSpPr txBox="1"/>
            <p:nvPr/>
          </p:nvSpPr>
          <p:spPr>
            <a:xfrm>
              <a:off x="6207760" y="264160"/>
              <a:ext cx="4206240" cy="457200"/>
            </a:xfrm>
            <a:prstGeom prst="rect">
              <a:avLst/>
            </a:prstGeom>
            <a:noFill/>
          </p:spPr>
          <p:txBody>
            <a:bodyPr wrap="none" lIns="0" rIns="0" tIns="0" bIns="0" anchor="ctr">
              <a:spAutoFit/>
            </a:bodyPr>
            <a:lstStyle/>
            <a:p>
              <a:pPr algn="l">
                <a:lnSpc>
                  <a:spcPct val="103000"/>
                </a:lnSpc>
                <a:spcBef>
                  <a:spcPts val="0"/>
                </a:spcBef>
                <a:spcAft>
                  <a:spcPts val="0"/>
                </a:spcAft>
              </a:pPr>
              <a:r>
                <a:rPr sz="2320" b="1" i="0">
                  <a:solidFill>
                    <a:srgbClr val="23324A"/>
                  </a:solidFill>
                  <a:latin typeface="Arial"/>
                </a:rPr>
                <a:t>Alignment–state decoupling</a:t>
              </a:r>
            </a:p>
          </p:txBody>
        </p:sp>
        <p:sp>
          <p:nvSpPr>
            <p:cNvPr id="152" name="Alignment path background"/>
            <p:cNvSpPr/>
            <p:nvPr/>
          </p:nvSpPr>
          <p:spPr>
            <a:xfrm>
              <a:off x="6177280" y="965200"/>
              <a:ext cx="8188960" cy="2611120"/>
            </a:xfrm>
            <a:prstGeom prst="roundRect">
              <a:avLst>
                <a:gd name="adj" fmla="val 4280"/>
              </a:avLst>
            </a:prstGeom>
            <a:solidFill>
              <a:srgbClr val="F8F4FE"/>
            </a:solidFill>
            <a:ln w="12700">
              <a:solidFill>
                <a:srgbClr val="C6B4E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Alignment path header"/>
            <p:cNvSpPr/>
            <p:nvPr/>
          </p:nvSpPr>
          <p:spPr>
            <a:xfrm>
              <a:off x="6187440" y="975360"/>
              <a:ext cx="8168640" cy="406400"/>
            </a:xfrm>
            <a:prstGeom prst="roundRect">
              <a:avLst>
                <a:gd name="adj" fmla="val 25000"/>
              </a:avLst>
            </a:prstGeom>
            <a:solidFill>
              <a:srgbClr val="EFE6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Rectangle"/>
            <p:cNvSpPr/>
            <p:nvPr/>
          </p:nvSpPr>
          <p:spPr>
            <a:xfrm>
              <a:off x="6187440" y="1280160"/>
              <a:ext cx="8168640" cy="111760"/>
            </a:xfrm>
            <a:prstGeom prst="rect">
              <a:avLst/>
            </a:prstGeom>
            <a:solidFill>
              <a:srgbClr val="EFE6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Text: Alignment path"/>
            <p:cNvSpPr txBox="1"/>
            <p:nvPr/>
          </p:nvSpPr>
          <p:spPr>
            <a:xfrm>
              <a:off x="6339840" y="1026160"/>
              <a:ext cx="2113280" cy="325120"/>
            </a:xfrm>
            <a:prstGeom prst="rect">
              <a:avLst/>
            </a:prstGeom>
            <a:noFill/>
          </p:spPr>
          <p:txBody>
            <a:bodyPr wrap="none" lIns="0" rIns="0" tIns="0" bIns="0" anchor="ctr">
              <a:spAutoFit/>
            </a:bodyPr>
            <a:lstStyle/>
            <a:p>
              <a:pPr algn="l">
                <a:lnSpc>
                  <a:spcPct val="103000"/>
                </a:lnSpc>
                <a:spcBef>
                  <a:spcPts val="0"/>
                </a:spcBef>
                <a:spcAft>
                  <a:spcPts val="0"/>
                </a:spcAft>
              </a:pPr>
              <a:r>
                <a:rPr sz="1920" b="1" i="0">
                  <a:solidFill>
                    <a:srgbClr val="7851C8"/>
                  </a:solidFill>
                  <a:latin typeface="Arial"/>
                </a:rPr>
                <a:t>Alignment path</a:t>
              </a:r>
            </a:p>
          </p:txBody>
        </p:sp>
        <p:sp>
          <p:nvSpPr>
            <p:cNvPr id="156" name="Text: History-conditioned · Temporary"/>
            <p:cNvSpPr txBox="1"/>
            <p:nvPr/>
          </p:nvSpPr>
          <p:spPr>
            <a:xfrm>
              <a:off x="8412480" y="1056640"/>
              <a:ext cx="4826000" cy="284480"/>
            </a:xfrm>
            <a:prstGeom prst="rect">
              <a:avLst/>
            </a:prstGeom>
            <a:noFill/>
          </p:spPr>
          <p:txBody>
            <a:bodyPr wrap="none" lIns="0" rIns="0" tIns="0" bIns="0" anchor="ctr">
              <a:spAutoFit/>
            </a:bodyPr>
            <a:lstStyle/>
            <a:p>
              <a:pPr algn="l">
                <a:lnSpc>
                  <a:spcPct val="103000"/>
                </a:lnSpc>
                <a:spcBef>
                  <a:spcPts val="0"/>
                </a:spcBef>
                <a:spcAft>
                  <a:spcPts val="0"/>
                </a:spcAft>
              </a:pPr>
              <a:r>
                <a:rPr sz="1600" b="0" i="0">
                  <a:solidFill>
                    <a:srgbClr val="7851C8"/>
                  </a:solidFill>
                  <a:latin typeface="Arial"/>
                </a:rPr>
                <a:t>History-conditioned · Temporary</a:t>
              </a:r>
            </a:p>
          </p:txBody>
        </p:sp>
        <p:sp>
          <p:nvSpPr>
            <p:cNvPr id="157" name="Previous state container"/>
            <p:cNvSpPr/>
            <p:nvPr/>
          </p:nvSpPr>
          <p:spPr>
            <a:xfrm>
              <a:off x="6339840" y="1574800"/>
              <a:ext cx="1198880" cy="1320800"/>
            </a:xfrm>
            <a:prstGeom prst="roundRect">
              <a:avLst>
                <a:gd name="adj" fmla="val 6779"/>
              </a:avLst>
            </a:prstGeom>
            <a:solidFill>
              <a:srgbClr val="FFFFFF"/>
            </a:solidFill>
            <a:ln w="10160">
              <a:solidFill>
                <a:srgbClr val="C6B4E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Text: Previous state"/>
            <p:cNvSpPr txBox="1"/>
            <p:nvPr/>
          </p:nvSpPr>
          <p:spPr>
            <a:xfrm>
              <a:off x="6380480" y="1635760"/>
              <a:ext cx="1117600" cy="243840"/>
            </a:xfrm>
            <a:prstGeom prst="rect">
              <a:avLst/>
            </a:prstGeom>
            <a:noFill/>
          </p:spPr>
          <p:txBody>
            <a:bodyPr wrap="none" lIns="0" rIns="0" tIns="0" bIns="0" anchor="ctr">
              <a:spAutoFit/>
            </a:bodyPr>
            <a:lstStyle/>
            <a:p>
              <a:pPr algn="ctr">
                <a:lnSpc>
                  <a:spcPct val="103000"/>
                </a:lnSpc>
                <a:spcBef>
                  <a:spcPts val="0"/>
                </a:spcBef>
                <a:spcAft>
                  <a:spcPts val="0"/>
                </a:spcAft>
              </a:pPr>
              <a:r>
                <a:rPr sz="1360" b="0" i="0">
                  <a:solidFill>
                    <a:srgbClr val="23324A"/>
                  </a:solidFill>
                  <a:latin typeface="Arial"/>
                </a:rPr>
                <a:t>Previous state</a:t>
              </a:r>
            </a:p>
          </p:txBody>
        </p:sp>
        <p:sp>
          <p:nvSpPr>
            <p:cNvPr id="159" name="Math S_b−1^"/>
            <p:cNvSpPr txBox="1"/>
            <p:nvPr/>
          </p:nvSpPr>
          <p:spPr>
            <a:xfrm>
              <a:off x="6532880" y="1910080"/>
              <a:ext cx="833120" cy="314960"/>
            </a:xfrm>
            <a:prstGeom prst="rect">
              <a:avLst/>
            </a:prstGeom>
            <a:noFill/>
          </p:spPr>
          <p:txBody>
            <a:bodyPr wrap="none" lIns="0" rIns="0" tIns="0" bIns="0" anchor="ctr">
              <a:spAutoFit/>
            </a:bodyPr>
            <a:lstStyle/>
            <a:p>
              <a:pPr algn="ctr">
                <a:lnSpc>
                  <a:spcPct val="103000"/>
                </a:lnSpc>
                <a:spcBef>
                  <a:spcPts val="0"/>
                </a:spcBef>
                <a:spcAft>
                  <a:spcPts val="0"/>
                </a:spcAft>
              </a:pPr>
              <a:r>
                <a:rPr sz="2160" b="0" i="1">
                  <a:solidFill>
                    <a:srgbClr val="23324A"/>
                  </a:solidFill>
                  <a:latin typeface="Times New Roman"/>
                </a:rPr>
                <a:t>S</a:t>
              </a:r>
              <a:r>
                <a:rPr sz="1468" b="0" i="0" baseline="-24000">
                  <a:solidFill>
                    <a:srgbClr val="23324A"/>
                  </a:solidFill>
                  <a:latin typeface="Times New Roman"/>
                </a:rPr>
                <a:t>b−1</a:t>
              </a:r>
            </a:p>
          </p:txBody>
        </p:sp>
        <p:grpSp>
          <p:nvGrpSpPr>
            <p:cNvPr id="160" name="Alignment-only previous state"/>
            <p:cNvGrpSpPr/>
            <p:nvPr/>
          </p:nvGrpSpPr>
          <p:grpSpPr>
            <a:xfrm>
              <a:off x="6593840" y="2296160"/>
              <a:ext cx="558800" cy="284480"/>
              <a:chOff x="6593840" y="2296160"/>
              <a:chExt cx="558800" cy="284480"/>
            </a:xfrm>
          </p:grpSpPr>
          <p:sp>
            <p:nvSpPr>
              <p:cNvPr id="161" name="Alignment-only previous state 1"/>
              <p:cNvSpPr/>
              <p:nvPr/>
            </p:nvSpPr>
            <p:spPr>
              <a:xfrm>
                <a:off x="6593840" y="2296160"/>
                <a:ext cx="101600" cy="284480"/>
              </a:xfrm>
              <a:prstGeom prst="roundRect">
                <a:avLst>
                  <a:gd name="adj" fmla="val 20000"/>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Token highlight"/>
              <p:cNvSpPr/>
              <p:nvPr/>
            </p:nvSpPr>
            <p:spPr>
              <a:xfrm>
                <a:off x="6614160" y="2316480"/>
                <a:ext cx="21336" cy="243840"/>
              </a:xfrm>
              <a:prstGeom prst="roundRect">
                <a:avLst>
                  <a:gd name="adj" fmla="val 4500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Alignment-only previous state 2"/>
              <p:cNvSpPr/>
              <p:nvPr/>
            </p:nvSpPr>
            <p:spPr>
              <a:xfrm>
                <a:off x="6746240" y="2296160"/>
                <a:ext cx="101600" cy="284480"/>
              </a:xfrm>
              <a:prstGeom prst="roundRect">
                <a:avLst>
                  <a:gd name="adj" fmla="val 20000"/>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Token highlight"/>
              <p:cNvSpPr/>
              <p:nvPr/>
            </p:nvSpPr>
            <p:spPr>
              <a:xfrm>
                <a:off x="6766560" y="2316480"/>
                <a:ext cx="21336" cy="243840"/>
              </a:xfrm>
              <a:prstGeom prst="roundRect">
                <a:avLst>
                  <a:gd name="adj" fmla="val 4500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Alignment-only previous state 3"/>
              <p:cNvSpPr/>
              <p:nvPr/>
            </p:nvSpPr>
            <p:spPr>
              <a:xfrm>
                <a:off x="6898640" y="2296160"/>
                <a:ext cx="101600" cy="284480"/>
              </a:xfrm>
              <a:prstGeom prst="roundRect">
                <a:avLst>
                  <a:gd name="adj" fmla="val 20000"/>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6" name="Token highlight"/>
              <p:cNvSpPr/>
              <p:nvPr/>
            </p:nvSpPr>
            <p:spPr>
              <a:xfrm>
                <a:off x="6918960" y="2316480"/>
                <a:ext cx="21336" cy="243840"/>
              </a:xfrm>
              <a:prstGeom prst="roundRect">
                <a:avLst>
                  <a:gd name="adj" fmla="val 4500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Alignment-only previous state 4"/>
              <p:cNvSpPr/>
              <p:nvPr/>
            </p:nvSpPr>
            <p:spPr>
              <a:xfrm>
                <a:off x="7051040" y="2296160"/>
                <a:ext cx="101600" cy="284480"/>
              </a:xfrm>
              <a:prstGeom prst="roundRect">
                <a:avLst>
                  <a:gd name="adj" fmla="val 20000"/>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oken highlight"/>
              <p:cNvSpPr/>
              <p:nvPr/>
            </p:nvSpPr>
            <p:spPr>
              <a:xfrm>
                <a:off x="7071360" y="2316480"/>
                <a:ext cx="21336" cy="243840"/>
              </a:xfrm>
              <a:prstGeom prst="roundRect">
                <a:avLst>
                  <a:gd name="adj" fmla="val 4500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69" name="Text: Alignment only"/>
            <p:cNvSpPr txBox="1"/>
            <p:nvPr/>
          </p:nvSpPr>
          <p:spPr>
            <a:xfrm>
              <a:off x="6441440" y="2631440"/>
              <a:ext cx="995680" cy="223520"/>
            </a:xfrm>
            <a:prstGeom prst="rect">
              <a:avLst/>
            </a:prstGeom>
            <a:noFill/>
          </p:spPr>
          <p:txBody>
            <a:bodyPr wrap="none" lIns="0" rIns="0" tIns="0" bIns="0" anchor="ctr">
              <a:spAutoFit/>
            </a:bodyPr>
            <a:lstStyle/>
            <a:p>
              <a:pPr algn="ctr">
                <a:lnSpc>
                  <a:spcPct val="100000"/>
                </a:lnSpc>
                <a:spcBef>
                  <a:spcPts val="0"/>
                </a:spcBef>
                <a:spcAft>
                  <a:spcPts val="0"/>
                </a:spcAft>
              </a:pPr>
              <a:r>
                <a:rPr sz="1200" b="0" i="1">
                  <a:solidFill>
                    <a:srgbClr val="637C9A"/>
                  </a:solidFill>
                  <a:latin typeface="Arial"/>
                </a:rPr>
                <a:t>Read only</a:t>
              </a:r>
            </a:p>
          </p:txBody>
        </p:sp>
        <p:sp>
          <p:nvSpPr>
            <p:cNvPr id="170" name="Alignment token construction container"/>
            <p:cNvSpPr/>
            <p:nvPr/>
          </p:nvSpPr>
          <p:spPr>
            <a:xfrm>
              <a:off x="7772400" y="1534160"/>
              <a:ext cx="2956560" cy="1473200"/>
            </a:xfrm>
            <a:prstGeom prst="roundRect">
              <a:avLst>
                <a:gd name="adj" fmla="val 5517"/>
              </a:avLst>
            </a:prstGeom>
            <a:solidFill>
              <a:srgbClr val="FFFFFF"/>
            </a:solidFill>
            <a:ln w="10160">
              <a:solidFill>
                <a:srgbClr val="C6B4EA"/>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1" name="Text: Alignment token construction"/>
            <p:cNvSpPr txBox="1"/>
            <p:nvPr/>
          </p:nvSpPr>
          <p:spPr>
            <a:xfrm>
              <a:off x="7833360" y="1574800"/>
              <a:ext cx="2631440" cy="294640"/>
            </a:xfrm>
            <a:prstGeom prst="rect">
              <a:avLst/>
            </a:prstGeom>
            <a:noFill/>
          </p:spPr>
          <p:txBody>
            <a:bodyPr wrap="none" lIns="0" rIns="0" tIns="0" bIns="0" anchor="ctr">
              <a:spAutoFit/>
            </a:bodyPr>
            <a:lstStyle/>
            <a:p>
              <a:pPr algn="l">
                <a:lnSpc>
                  <a:spcPct val="100000"/>
                </a:lnSpc>
                <a:spcBef>
                  <a:spcPts val="0"/>
                </a:spcBef>
                <a:spcAft>
                  <a:spcPts val="0"/>
                </a:spcAft>
              </a:pPr>
              <a:r>
                <a:rPr sz="1400" b="1" i="0">
                  <a:solidFill>
                    <a:srgbClr val="8055D5"/>
                  </a:solidFill>
                  <a:latin typeface="Arial"/>
                </a:rPr>
                <a:t>Alignment token construction</a:t>
              </a:r>
            </a:p>
          </p:txBody>
        </p:sp>
        <p:grpSp>
          <p:nvGrpSpPr>
            <p:cNvPr id="172" name="Trainable symbol"/>
            <p:cNvGrpSpPr/>
            <p:nvPr/>
          </p:nvGrpSpPr>
          <p:grpSpPr>
            <a:xfrm>
              <a:off x="10525760" y="1645920"/>
              <a:ext cx="101600" cy="132080"/>
              <a:chOff x="10525760" y="1645920"/>
              <a:chExt cx="101600" cy="132080"/>
            </a:xfrm>
          </p:grpSpPr>
          <p:sp>
            <p:nvSpPr>
              <p:cNvPr id="173" name="Trainable flame"/>
              <p:cNvSpPr/>
              <p:nvPr/>
            </p:nvSpPr>
            <p:spPr>
              <a:xfrm>
                <a:off x="10525760" y="1645920"/>
                <a:ext cx="101600" cy="132080"/>
              </a:xfrm>
              <a:custGeom>
                <a:avLst/>
                <a:gdLst/>
                <a:ahLst/>
                <a:cxnLst/>
                <a:rect l="l" t="t" r="r" b="b"/>
                <a:pathLst>
                  <a:path w="10" h="13">
                    <a:moveTo>
                      <a:pt x="5" y="0"/>
                    </a:moveTo>
                    <a:lnTo>
                      <a:pt x="6" y="6"/>
                    </a:lnTo>
                    <a:lnTo>
                      <a:pt x="9" y="3"/>
                    </a:lnTo>
                    <a:lnTo>
                      <a:pt x="10" y="8"/>
                    </a:lnTo>
                    <a:lnTo>
                      <a:pt x="8" y="12"/>
                    </a:lnTo>
                    <a:lnTo>
                      <a:pt x="3" y="13"/>
                    </a:lnTo>
                    <a:lnTo>
                      <a:pt x="0" y="9"/>
                    </a:lnTo>
                    <a:lnTo>
                      <a:pt x="1" y="5"/>
                    </a:lnTo>
                    <a:close/>
                  </a:path>
                </a:pathLst>
              </a:custGeom>
              <a:solidFill>
                <a:srgbClr val="CF82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Flame core"/>
              <p:cNvSpPr/>
              <p:nvPr/>
            </p:nvSpPr>
            <p:spPr>
              <a:xfrm>
                <a:off x="10556240" y="1717040"/>
                <a:ext cx="40640" cy="50800"/>
              </a:xfrm>
              <a:custGeom>
                <a:avLst/>
                <a:gdLst/>
                <a:ahLst/>
                <a:cxnLst/>
                <a:rect l="l" t="t" r="r" b="b"/>
                <a:pathLst>
                  <a:path w="4" h="5">
                    <a:moveTo>
                      <a:pt x="2" y="0"/>
                    </a:moveTo>
                    <a:lnTo>
                      <a:pt x="4" y="2"/>
                    </a:lnTo>
                    <a:lnTo>
                      <a:pt x="2" y="5"/>
                    </a:lnTo>
                    <a:lnTo>
                      <a:pt x="0" y="2"/>
                    </a:lnTo>
                    <a:close/>
                  </a:path>
                </a:pathLst>
              </a:custGeom>
              <a:solidFill>
                <a:srgbClr val="FFD9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75" name="Semantic token cell"/>
            <p:cNvSpPr/>
            <p:nvPr/>
          </p:nvSpPr>
          <p:spPr>
            <a:xfrm>
              <a:off x="7904480" y="1930400"/>
              <a:ext cx="843280" cy="965200"/>
            </a:xfrm>
            <a:prstGeom prst="roundRect">
              <a:avLst>
                <a:gd name="adj" fmla="val 6024"/>
              </a:avLst>
            </a:prstGeom>
            <a:solidFill>
              <a:srgbClr val="F8F6FC"/>
            </a:solidFill>
            <a:ln w="8128">
              <a:solidFill>
                <a:srgbClr val="C6B6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Text: Semantic"/>
            <p:cNvSpPr txBox="1"/>
            <p:nvPr/>
          </p:nvSpPr>
          <p:spPr>
            <a:xfrm>
              <a:off x="7934960" y="1975104"/>
              <a:ext cx="782320" cy="365760"/>
            </a:xfrm>
            <a:prstGeom prst="rect">
              <a:avLst/>
            </a:prstGeom>
            <a:noFill/>
          </p:spPr>
          <p:txBody>
            <a:bodyPr wrap="none" lIns="0" rIns="0" tIns="0" bIns="0" anchor="ctr">
              <a:spAutoFit/>
            </a:bodyPr>
            <a:lstStyle/>
            <a:p>
              <a:pPr algn="ctr">
                <a:lnSpc>
                  <a:spcPct val="103000"/>
                </a:lnSpc>
                <a:spcBef>
                  <a:spcPts val="0"/>
                </a:spcBef>
                <a:spcAft>
                  <a:spcPts val="0"/>
                </a:spcAft>
              </a:pPr>
              <a:r>
                <a:rPr sz="1280" b="0" i="0">
                  <a:solidFill>
                    <a:srgbClr val="7851C8"/>
                  </a:solidFill>
                  <a:latin typeface="Arial"/>
                </a:rPr>
                <a:t>Semantic</a:t>
              </a:r>
            </a:p>
          </p:txBody>
        </p:sp>
        <p:grpSp>
          <p:nvGrpSpPr>
            <p:cNvPr id="177" name="Semantic alignment token"/>
            <p:cNvGrpSpPr/>
            <p:nvPr/>
          </p:nvGrpSpPr>
          <p:grpSpPr>
            <a:xfrm>
              <a:off x="8255000" y="2489200"/>
              <a:ext cx="142240" cy="182880"/>
              <a:chOff x="8255000" y="2489200"/>
              <a:chExt cx="142240" cy="182880"/>
            </a:xfrm>
          </p:grpSpPr>
          <p:sp>
            <p:nvSpPr>
              <p:cNvPr id="178" name="Semantic alignment token 1"/>
              <p:cNvSpPr/>
              <p:nvPr/>
            </p:nvSpPr>
            <p:spPr>
              <a:xfrm>
                <a:off x="8255000" y="2489200"/>
                <a:ext cx="142240" cy="182880"/>
              </a:xfrm>
              <a:prstGeom prst="roundRect">
                <a:avLst>
                  <a:gd name="adj" fmla="val 14285"/>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Token highlight"/>
              <p:cNvSpPr/>
              <p:nvPr/>
            </p:nvSpPr>
            <p:spPr>
              <a:xfrm>
                <a:off x="8275320" y="2509520"/>
                <a:ext cx="29870" cy="142240"/>
              </a:xfrm>
              <a:prstGeom prst="roundRect">
                <a:avLst>
                  <a:gd name="adj" fmla="val 34013"/>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80" name="Camera&#10;change token cell"/>
            <p:cNvSpPr/>
            <p:nvPr/>
          </p:nvSpPr>
          <p:spPr>
            <a:xfrm>
              <a:off x="8808720" y="1930400"/>
              <a:ext cx="914400" cy="965200"/>
            </a:xfrm>
            <a:prstGeom prst="roundRect">
              <a:avLst>
                <a:gd name="adj" fmla="val 5555"/>
              </a:avLst>
            </a:prstGeom>
            <a:solidFill>
              <a:srgbClr val="FDF9F5"/>
            </a:solidFill>
            <a:ln w="8128">
              <a:solidFill>
                <a:srgbClr val="EBCAA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1" name="Text: Camera alignment"/>
            <p:cNvSpPr txBox="1"/>
            <p:nvPr/>
          </p:nvSpPr>
          <p:spPr>
            <a:xfrm>
              <a:off x="8839200" y="1975104"/>
              <a:ext cx="853440" cy="365760"/>
            </a:xfrm>
            <a:prstGeom prst="rect">
              <a:avLst/>
            </a:prstGeom>
            <a:noFill/>
          </p:spPr>
          <p:txBody>
            <a:bodyPr wrap="none" lIns="0" rIns="0" tIns="0" bIns="0" anchor="ctr">
              <a:spAutoFit/>
            </a:bodyPr>
            <a:lstStyle/>
            <a:p>
              <a:pPr algn="ctr">
                <a:lnSpc>
                  <a:spcPct val="103000"/>
                </a:lnSpc>
                <a:spcBef>
                  <a:spcPts val="0"/>
                </a:spcBef>
                <a:spcAft>
                  <a:spcPts val="0"/>
                </a:spcAft>
              </a:pPr>
              <a:r>
                <a:rPr sz="1160" b="0" i="0">
                  <a:solidFill>
                    <a:srgbClr val="CF823F"/>
                  </a:solidFill>
                  <a:latin typeface="Arial"/>
                </a:rPr>
                <a:t>Camera</a:t>
              </a:r>
            </a:p>
            <a:p>
              <a:pPr algn="ctr">
                <a:lnSpc>
                  <a:spcPct val="103000"/>
                </a:lnSpc>
                <a:spcBef>
                  <a:spcPts val="0"/>
                </a:spcBef>
                <a:spcAft>
                  <a:spcPts val="0"/>
                </a:spcAft>
              </a:pPr>
              <a:r>
                <a:rPr sz="1160" b="0" i="0">
                  <a:solidFill>
                    <a:srgbClr val="CF823F"/>
                  </a:solidFill>
                  <a:latin typeface="Arial"/>
                </a:rPr>
                <a:t>alignment</a:t>
              </a:r>
            </a:p>
          </p:txBody>
        </p:sp>
        <p:grpSp>
          <p:nvGrpSpPr>
            <p:cNvPr id="182" name="Camera&#10;change alignment token"/>
            <p:cNvGrpSpPr/>
            <p:nvPr/>
          </p:nvGrpSpPr>
          <p:grpSpPr>
            <a:xfrm>
              <a:off x="9194800" y="2489200"/>
              <a:ext cx="142240" cy="182880"/>
              <a:chOff x="9194800" y="2489200"/>
              <a:chExt cx="142240" cy="182880"/>
            </a:xfrm>
          </p:grpSpPr>
          <p:sp>
            <p:nvSpPr>
              <p:cNvPr id="183" name="Camera&#10;change alignment token 1"/>
              <p:cNvSpPr/>
              <p:nvPr/>
            </p:nvSpPr>
            <p:spPr>
              <a:xfrm>
                <a:off x="9194800" y="2489200"/>
                <a:ext cx="142240" cy="182880"/>
              </a:xfrm>
              <a:prstGeom prst="roundRect">
                <a:avLst>
                  <a:gd name="adj" fmla="val 14285"/>
                </a:avLst>
              </a:prstGeom>
              <a:solidFill>
                <a:srgbClr val="F2DCC9"/>
              </a:solidFill>
              <a:ln w="9652">
                <a:solidFill>
                  <a:srgbClr val="CF823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Token highlight"/>
              <p:cNvSpPr/>
              <p:nvPr/>
            </p:nvSpPr>
            <p:spPr>
              <a:xfrm>
                <a:off x="9215120" y="2509520"/>
                <a:ext cx="29870" cy="142240"/>
              </a:xfrm>
              <a:prstGeom prst="roundRect">
                <a:avLst>
                  <a:gd name="adj" fmla="val 34013"/>
                </a:avLst>
              </a:prstGeom>
              <a:solidFill>
                <a:srgbClr val="F9EFE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85" name="Temporal-continuity token cell"/>
            <p:cNvSpPr/>
            <p:nvPr/>
          </p:nvSpPr>
          <p:spPr>
            <a:xfrm>
              <a:off x="9784080" y="1930400"/>
              <a:ext cx="812800" cy="965200"/>
            </a:xfrm>
            <a:prstGeom prst="roundRect">
              <a:avLst>
                <a:gd name="adj" fmla="val 6250"/>
              </a:avLst>
            </a:prstGeom>
            <a:solidFill>
              <a:srgbClr val="F4F9F9"/>
            </a:solidFill>
            <a:ln w="8128">
              <a:solidFill>
                <a:srgbClr val="9ED0C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Text: Temporal continuity"/>
            <p:cNvSpPr txBox="1"/>
            <p:nvPr/>
          </p:nvSpPr>
          <p:spPr>
            <a:xfrm>
              <a:off x="9814560" y="1975104"/>
              <a:ext cx="751840" cy="365760"/>
            </a:xfrm>
            <a:prstGeom prst="rect">
              <a:avLst/>
            </a:prstGeom>
            <a:noFill/>
          </p:spPr>
          <p:txBody>
            <a:bodyPr wrap="none" lIns="0" rIns="0" tIns="0" bIns="0" anchor="ctr">
              <a:spAutoFit/>
            </a:bodyPr>
            <a:lstStyle/>
            <a:p>
              <a:pPr algn="ctr">
                <a:lnSpc>
                  <a:spcPct val="103000"/>
                </a:lnSpc>
                <a:spcBef>
                  <a:spcPts val="0"/>
                </a:spcBef>
                <a:spcAft>
                  <a:spcPts val="0"/>
                </a:spcAft>
              </a:pPr>
              <a:r>
                <a:rPr sz="1120" b="0" i="0">
                  <a:solidFill>
                    <a:srgbClr val="198F84"/>
                  </a:solidFill>
                  <a:latin typeface="Arial"/>
                </a:rPr>
                <a:t>Temporal</a:t>
              </a:r>
            </a:p>
            <a:p>
              <a:pPr algn="ctr">
                <a:lnSpc>
                  <a:spcPct val="103000"/>
                </a:lnSpc>
                <a:spcBef>
                  <a:spcPts val="0"/>
                </a:spcBef>
                <a:spcAft>
                  <a:spcPts val="0"/>
                </a:spcAft>
              </a:pPr>
              <a:r>
                <a:rPr sz="1120" b="0" i="0">
                  <a:solidFill>
                    <a:srgbClr val="198F84"/>
                  </a:solidFill>
                  <a:latin typeface="Arial"/>
                </a:rPr>
                <a:t>context</a:t>
              </a:r>
            </a:p>
          </p:txBody>
        </p:sp>
        <p:grpSp>
          <p:nvGrpSpPr>
            <p:cNvPr id="187" name="Temporal alignment token"/>
            <p:cNvGrpSpPr/>
            <p:nvPr/>
          </p:nvGrpSpPr>
          <p:grpSpPr>
            <a:xfrm>
              <a:off x="10119360" y="2489200"/>
              <a:ext cx="142240" cy="182880"/>
              <a:chOff x="10119360" y="2489200"/>
              <a:chExt cx="142240" cy="182880"/>
            </a:xfrm>
          </p:grpSpPr>
          <p:sp>
            <p:nvSpPr>
              <p:cNvPr id="188" name="Temporal alignment token 1"/>
              <p:cNvSpPr/>
              <p:nvPr/>
            </p:nvSpPr>
            <p:spPr>
              <a:xfrm>
                <a:off x="10119360" y="2489200"/>
                <a:ext cx="142240" cy="182880"/>
              </a:xfrm>
              <a:prstGeom prst="roundRect">
                <a:avLst>
                  <a:gd name="adj" fmla="val 14285"/>
                </a:avLst>
              </a:prstGeom>
              <a:solidFill>
                <a:srgbClr val="BFE0DD"/>
              </a:solidFill>
              <a:ln w="9652">
                <a:solidFill>
                  <a:srgbClr val="198F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 name="Token highlight"/>
              <p:cNvSpPr/>
              <p:nvPr/>
            </p:nvSpPr>
            <p:spPr>
              <a:xfrm>
                <a:off x="10139680" y="2509520"/>
                <a:ext cx="29870" cy="142240"/>
              </a:xfrm>
              <a:prstGeom prst="roundRect">
                <a:avLst>
                  <a:gd name="adj" fmla="val 34013"/>
                </a:avLst>
              </a:prstGeom>
              <a:solidFill>
                <a:srgbClr val="E1F0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90" name="History to token construction"/>
            <p:cNvGrpSpPr/>
            <p:nvPr/>
          </p:nvGrpSpPr>
          <p:grpSpPr>
            <a:xfrm>
              <a:off x="7538720" y="2397760"/>
              <a:ext cx="233680" cy="0"/>
              <a:chOff x="7538720" y="2397760"/>
              <a:chExt cx="233680" cy="0"/>
            </a:xfrm>
          </p:grpSpPr>
          <p:cxnSp>
            <p:nvCxnSpPr>
              <p:cNvPr id="191" name="History to token construction segment 1"/>
              <p:cNvCxnSpPr/>
              <p:nvPr/>
            </p:nvCxnSpPr>
            <p:spPr>
              <a:xfrm>
                <a:off x="7538720" y="2397760"/>
                <a:ext cx="233680" cy="0"/>
              </a:xfrm>
              <a:prstGeom prst="line">
                <a:avLst/>
              </a:prstGeom>
              <a:ln w="16256">
                <a:solidFill>
                  <a:srgbClr val="7851C8"/>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192" name="Previous state to temporary decoder only"/>
            <p:cNvGrpSpPr/>
            <p:nvPr/>
          </p:nvGrpSpPr>
          <p:grpSpPr>
            <a:xfrm>
              <a:off x="7538720" y="1452880"/>
              <a:ext cx="4094480" cy="690880"/>
              <a:chOff x="7538720" y="1452880"/>
              <a:chExt cx="4094480" cy="690880"/>
            </a:xfrm>
          </p:grpSpPr>
          <p:cxnSp>
            <p:nvCxnSpPr>
              <p:cNvPr id="193" name="Previous state to temporary decoder only segment 1"/>
              <p:cNvCxnSpPr/>
              <p:nvPr/>
            </p:nvCxnSpPr>
            <p:spPr>
              <a:xfrm>
                <a:off x="7538720" y="1981200"/>
                <a:ext cx="101600" cy="0"/>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cxnSp>
            <p:nvCxnSpPr>
              <p:cNvPr id="194" name="Previous state to temporary decoder only segment 2"/>
              <p:cNvCxnSpPr/>
              <p:nvPr/>
            </p:nvCxnSpPr>
            <p:spPr>
              <a:xfrm flipV="1">
                <a:off x="7640320" y="1452880"/>
                <a:ext cx="0" cy="528320"/>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cxnSp>
            <p:nvCxnSpPr>
              <p:cNvPr id="195" name="Previous state to temporary decoder only segment 3"/>
              <p:cNvCxnSpPr/>
              <p:nvPr/>
            </p:nvCxnSpPr>
            <p:spPr>
              <a:xfrm>
                <a:off x="7640320" y="1452880"/>
                <a:ext cx="3992880" cy="0"/>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cxnSp>
            <p:nvCxnSpPr>
              <p:cNvPr id="196" name="Previous state to temporary decoder only segment 4"/>
              <p:cNvCxnSpPr/>
              <p:nvPr/>
            </p:nvCxnSpPr>
            <p:spPr>
              <a:xfrm>
                <a:off x="11633200" y="1452880"/>
                <a:ext cx="0" cy="690880"/>
              </a:xfrm>
              <a:prstGeom prst="line">
                <a:avLst/>
              </a:prstGeom>
              <a:ln w="14223">
                <a:solidFill>
                  <a:srgbClr val="7851C8"/>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197" name="Shared-weight decoder"/>
            <p:cNvGrpSpPr/>
            <p:nvPr/>
          </p:nvGrpSpPr>
          <p:grpSpPr>
            <a:xfrm>
              <a:off x="11074400" y="2153920"/>
              <a:ext cx="1137920" cy="812800"/>
              <a:chOff x="11074400" y="2153920"/>
              <a:chExt cx="1137920" cy="812800"/>
            </a:xfrm>
          </p:grpSpPr>
          <p:sp>
            <p:nvSpPr>
              <p:cNvPr id="198" name="Shared decoder body"/>
              <p:cNvSpPr/>
              <p:nvPr/>
            </p:nvSpPr>
            <p:spPr>
              <a:xfrm>
                <a:off x="11074400" y="2153920"/>
                <a:ext cx="1137920" cy="812800"/>
              </a:xfrm>
              <a:custGeom>
                <a:avLst/>
                <a:gdLst/>
                <a:ahLst/>
                <a:cxnLst/>
                <a:rect l="l" t="t" r="r" b="b"/>
                <a:pathLst>
                  <a:path w="112" h="80">
                    <a:moveTo>
                      <a:pt x="0" y="0"/>
                    </a:moveTo>
                    <a:lnTo>
                      <a:pt x="56" y="11"/>
                    </a:lnTo>
                    <a:lnTo>
                      <a:pt x="112" y="0"/>
                    </a:lnTo>
                    <a:lnTo>
                      <a:pt x="112" y="80"/>
                    </a:lnTo>
                    <a:lnTo>
                      <a:pt x="56" y="69"/>
                    </a:lnTo>
                    <a:lnTo>
                      <a:pt x="0" y="80"/>
                    </a:lnTo>
                    <a:close/>
                  </a:path>
                </a:pathLst>
              </a:custGeom>
              <a:solidFill>
                <a:srgbClr val="E6EDF6"/>
              </a:solidFill>
              <a:ln w="12192">
                <a:solidFill>
                  <a:srgbClr val="91A5B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Text: Recurrent decoder"/>
              <p:cNvSpPr txBox="1"/>
              <p:nvPr/>
            </p:nvSpPr>
            <p:spPr>
              <a:xfrm>
                <a:off x="11145520" y="2346960"/>
                <a:ext cx="995680" cy="447040"/>
              </a:xfrm>
              <a:prstGeom prst="rect">
                <a:avLst/>
              </a:prstGeom>
              <a:noFill/>
            </p:spPr>
            <p:txBody>
              <a:bodyPr wrap="none" lIns="0" rIns="0" tIns="0" bIns="0" anchor="ctr">
                <a:spAutoFit/>
              </a:bodyPr>
              <a:lstStyle/>
              <a:p>
                <a:pPr algn="ctr">
                  <a:lnSpc>
                    <a:spcPct val="103000"/>
                  </a:lnSpc>
                  <a:spcBef>
                    <a:spcPts val="0"/>
                  </a:spcBef>
                  <a:spcAft>
                    <a:spcPts val="0"/>
                  </a:spcAft>
                </a:pPr>
                <a:r>
                  <a:rPr sz="1520" b="1" i="0">
                    <a:solidFill>
                      <a:srgbClr val="23324A"/>
                    </a:solidFill>
                    <a:latin typeface="Arial"/>
                  </a:rPr>
                  <a:t>Recurrent</a:t>
                </a:r>
              </a:p>
              <a:p>
                <a:pPr algn="ctr">
                  <a:lnSpc>
                    <a:spcPct val="103000"/>
                  </a:lnSpc>
                  <a:spcBef>
                    <a:spcPts val="0"/>
                  </a:spcBef>
                  <a:spcAft>
                    <a:spcPts val="0"/>
                  </a:spcAft>
                </a:pPr>
                <a:r>
                  <a:rPr sz="1520" b="1" i="0">
                    <a:solidFill>
                      <a:srgbClr val="23324A"/>
                    </a:solidFill>
                    <a:latin typeface="Arial"/>
                  </a:rPr>
                  <a:t>decoder</a:t>
                </a:r>
              </a:p>
            </p:txBody>
          </p:sp>
          <p:grpSp>
            <p:nvGrpSpPr>
              <p:cNvPr id="200" name="Frozen symbol"/>
              <p:cNvGrpSpPr/>
              <p:nvPr/>
            </p:nvGrpSpPr>
            <p:grpSpPr>
              <a:xfrm>
                <a:off x="12049760" y="2243367"/>
                <a:ext cx="121920" cy="105586"/>
                <a:chOff x="12049760" y="2243367"/>
                <a:chExt cx="121920" cy="105586"/>
              </a:xfrm>
            </p:grpSpPr>
            <p:grpSp>
              <p:nvGrpSpPr>
                <p:cNvPr id="201" name="Connector"/>
                <p:cNvGrpSpPr/>
                <p:nvPr/>
              </p:nvGrpSpPr>
              <p:grpSpPr>
                <a:xfrm>
                  <a:off x="12049760" y="2296160"/>
                  <a:ext cx="121920" cy="0"/>
                  <a:chOff x="12049760" y="2296160"/>
                  <a:chExt cx="121920" cy="0"/>
                </a:xfrm>
              </p:grpSpPr>
              <p:cxnSp>
                <p:nvCxnSpPr>
                  <p:cNvPr id="202" name="Connector segment 1"/>
                  <p:cNvCxnSpPr/>
                  <p:nvPr/>
                </p:nvCxnSpPr>
                <p:spPr>
                  <a:xfrm>
                    <a:off x="12049760" y="2296160"/>
                    <a:ext cx="121920" cy="0"/>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03" name="Connector"/>
                <p:cNvGrpSpPr/>
                <p:nvPr/>
              </p:nvGrpSpPr>
              <p:grpSpPr>
                <a:xfrm>
                  <a:off x="12049760" y="2280665"/>
                  <a:ext cx="20382" cy="15495"/>
                  <a:chOff x="12049760" y="2280665"/>
                  <a:chExt cx="20382" cy="15495"/>
                </a:xfrm>
              </p:grpSpPr>
              <p:cxnSp>
                <p:nvCxnSpPr>
                  <p:cNvPr id="204" name="Connector segment 1"/>
                  <p:cNvCxnSpPr/>
                  <p:nvPr/>
                </p:nvCxnSpPr>
                <p:spPr>
                  <a:xfrm flipV="1">
                    <a:off x="12049760" y="2280665"/>
                    <a:ext cx="20382" cy="15495"/>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05" name="Connector"/>
                <p:cNvGrpSpPr/>
                <p:nvPr/>
              </p:nvGrpSpPr>
              <p:grpSpPr>
                <a:xfrm>
                  <a:off x="12049760" y="2296160"/>
                  <a:ext cx="20382" cy="15495"/>
                  <a:chOff x="12049760" y="2296160"/>
                  <a:chExt cx="20382" cy="15495"/>
                </a:xfrm>
              </p:grpSpPr>
              <p:cxnSp>
                <p:nvCxnSpPr>
                  <p:cNvPr id="206" name="Connector segment 1"/>
                  <p:cNvCxnSpPr/>
                  <p:nvPr/>
                </p:nvCxnSpPr>
                <p:spPr>
                  <a:xfrm>
                    <a:off x="12049760" y="2296160"/>
                    <a:ext cx="20382" cy="15495"/>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07" name="Connector"/>
                <p:cNvGrpSpPr/>
                <p:nvPr/>
              </p:nvGrpSpPr>
              <p:grpSpPr>
                <a:xfrm>
                  <a:off x="12151298" y="2296160"/>
                  <a:ext cx="20382" cy="15495"/>
                  <a:chOff x="12151298" y="2296160"/>
                  <a:chExt cx="20382" cy="15495"/>
                </a:xfrm>
              </p:grpSpPr>
              <p:cxnSp>
                <p:nvCxnSpPr>
                  <p:cNvPr id="208" name="Connector segment 1"/>
                  <p:cNvCxnSpPr/>
                  <p:nvPr/>
                </p:nvCxnSpPr>
                <p:spPr>
                  <a:xfrm flipH="1">
                    <a:off x="12151298" y="2296160"/>
                    <a:ext cx="20382" cy="15495"/>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09" name="Connector"/>
                <p:cNvGrpSpPr/>
                <p:nvPr/>
              </p:nvGrpSpPr>
              <p:grpSpPr>
                <a:xfrm>
                  <a:off x="12151298" y="2280665"/>
                  <a:ext cx="20382" cy="15495"/>
                  <a:chOff x="12151298" y="2280665"/>
                  <a:chExt cx="20382" cy="15495"/>
                </a:xfrm>
              </p:grpSpPr>
              <p:cxnSp>
                <p:nvCxnSpPr>
                  <p:cNvPr id="210" name="Connector segment 1"/>
                  <p:cNvCxnSpPr/>
                  <p:nvPr/>
                </p:nvCxnSpPr>
                <p:spPr>
                  <a:xfrm flipH="1" flipV="1">
                    <a:off x="12151298" y="2280665"/>
                    <a:ext cx="20382" cy="15495"/>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11" name="Connector"/>
                <p:cNvGrpSpPr/>
                <p:nvPr/>
              </p:nvGrpSpPr>
              <p:grpSpPr>
                <a:xfrm>
                  <a:off x="12080240" y="2243367"/>
                  <a:ext cx="60960" cy="105586"/>
                  <a:chOff x="12080240" y="2243367"/>
                  <a:chExt cx="60960" cy="105586"/>
                </a:xfrm>
              </p:grpSpPr>
              <p:cxnSp>
                <p:nvCxnSpPr>
                  <p:cNvPr id="212" name="Connector segment 1"/>
                  <p:cNvCxnSpPr/>
                  <p:nvPr/>
                </p:nvCxnSpPr>
                <p:spPr>
                  <a:xfrm>
                    <a:off x="12080240" y="2243367"/>
                    <a:ext cx="60960" cy="105586"/>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13" name="Connector"/>
                <p:cNvGrpSpPr/>
                <p:nvPr/>
              </p:nvGrpSpPr>
              <p:grpSpPr>
                <a:xfrm>
                  <a:off x="12080240" y="2243367"/>
                  <a:ext cx="23610" cy="9904"/>
                  <a:chOff x="12080240" y="2243367"/>
                  <a:chExt cx="23610" cy="9904"/>
                </a:xfrm>
              </p:grpSpPr>
              <p:cxnSp>
                <p:nvCxnSpPr>
                  <p:cNvPr id="214" name="Connector segment 1"/>
                  <p:cNvCxnSpPr/>
                  <p:nvPr/>
                </p:nvCxnSpPr>
                <p:spPr>
                  <a:xfrm>
                    <a:off x="12080240" y="2243367"/>
                    <a:ext cx="23610" cy="9904"/>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15" name="Connector"/>
                <p:cNvGrpSpPr/>
                <p:nvPr/>
              </p:nvGrpSpPr>
              <p:grpSpPr>
                <a:xfrm>
                  <a:off x="12077012" y="2243367"/>
                  <a:ext cx="3228" cy="25399"/>
                  <a:chOff x="12077012" y="2243367"/>
                  <a:chExt cx="3228" cy="25399"/>
                </a:xfrm>
              </p:grpSpPr>
              <p:cxnSp>
                <p:nvCxnSpPr>
                  <p:cNvPr id="216" name="Connector segment 1"/>
                  <p:cNvCxnSpPr/>
                  <p:nvPr/>
                </p:nvCxnSpPr>
                <p:spPr>
                  <a:xfrm flipH="1">
                    <a:off x="12077012" y="2243367"/>
                    <a:ext cx="3228" cy="2539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17" name="Connector"/>
                <p:cNvGrpSpPr/>
                <p:nvPr/>
              </p:nvGrpSpPr>
              <p:grpSpPr>
                <a:xfrm>
                  <a:off x="12117590" y="2339049"/>
                  <a:ext cx="23610" cy="9904"/>
                  <a:chOff x="12117590" y="2339049"/>
                  <a:chExt cx="23610" cy="9904"/>
                </a:xfrm>
              </p:grpSpPr>
              <p:cxnSp>
                <p:nvCxnSpPr>
                  <p:cNvPr id="218" name="Connector segment 1"/>
                  <p:cNvCxnSpPr/>
                  <p:nvPr/>
                </p:nvCxnSpPr>
                <p:spPr>
                  <a:xfrm flipH="1" flipV="1">
                    <a:off x="12117590" y="2339049"/>
                    <a:ext cx="23610" cy="9904"/>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19" name="Connector"/>
                <p:cNvGrpSpPr/>
                <p:nvPr/>
              </p:nvGrpSpPr>
              <p:grpSpPr>
                <a:xfrm>
                  <a:off x="12141200" y="2323554"/>
                  <a:ext cx="3228" cy="25399"/>
                  <a:chOff x="12141200" y="2323554"/>
                  <a:chExt cx="3228" cy="25399"/>
                </a:xfrm>
              </p:grpSpPr>
              <p:cxnSp>
                <p:nvCxnSpPr>
                  <p:cNvPr id="220" name="Connector segment 1"/>
                  <p:cNvCxnSpPr/>
                  <p:nvPr/>
                </p:nvCxnSpPr>
                <p:spPr>
                  <a:xfrm flipV="1">
                    <a:off x="12141200" y="2323554"/>
                    <a:ext cx="3228" cy="2539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21" name="Connector"/>
                <p:cNvGrpSpPr/>
                <p:nvPr/>
              </p:nvGrpSpPr>
              <p:grpSpPr>
                <a:xfrm>
                  <a:off x="12080240" y="2243367"/>
                  <a:ext cx="60960" cy="105586"/>
                  <a:chOff x="12080240" y="2243367"/>
                  <a:chExt cx="60960" cy="105586"/>
                </a:xfrm>
              </p:grpSpPr>
              <p:cxnSp>
                <p:nvCxnSpPr>
                  <p:cNvPr id="222" name="Connector segment 1"/>
                  <p:cNvCxnSpPr/>
                  <p:nvPr/>
                </p:nvCxnSpPr>
                <p:spPr>
                  <a:xfrm flipH="1">
                    <a:off x="12080240" y="2243367"/>
                    <a:ext cx="60960" cy="105586"/>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23" name="Connector"/>
                <p:cNvGrpSpPr/>
                <p:nvPr/>
              </p:nvGrpSpPr>
              <p:grpSpPr>
                <a:xfrm>
                  <a:off x="12141200" y="2243367"/>
                  <a:ext cx="3228" cy="25399"/>
                  <a:chOff x="12141200" y="2243367"/>
                  <a:chExt cx="3228" cy="25399"/>
                </a:xfrm>
              </p:grpSpPr>
              <p:cxnSp>
                <p:nvCxnSpPr>
                  <p:cNvPr id="224" name="Connector segment 1"/>
                  <p:cNvCxnSpPr/>
                  <p:nvPr/>
                </p:nvCxnSpPr>
                <p:spPr>
                  <a:xfrm>
                    <a:off x="12141200" y="2243367"/>
                    <a:ext cx="3228" cy="2539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25" name="Connector"/>
                <p:cNvGrpSpPr/>
                <p:nvPr/>
              </p:nvGrpSpPr>
              <p:grpSpPr>
                <a:xfrm>
                  <a:off x="12117590" y="2243367"/>
                  <a:ext cx="23610" cy="9904"/>
                  <a:chOff x="12117590" y="2243367"/>
                  <a:chExt cx="23610" cy="9904"/>
                </a:xfrm>
              </p:grpSpPr>
              <p:cxnSp>
                <p:nvCxnSpPr>
                  <p:cNvPr id="226" name="Connector segment 1"/>
                  <p:cNvCxnSpPr/>
                  <p:nvPr/>
                </p:nvCxnSpPr>
                <p:spPr>
                  <a:xfrm flipH="1">
                    <a:off x="12117590" y="2243367"/>
                    <a:ext cx="23610" cy="9904"/>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27" name="Connector"/>
                <p:cNvGrpSpPr/>
                <p:nvPr/>
              </p:nvGrpSpPr>
              <p:grpSpPr>
                <a:xfrm>
                  <a:off x="12077012" y="2323554"/>
                  <a:ext cx="3228" cy="25399"/>
                  <a:chOff x="12077012" y="2323554"/>
                  <a:chExt cx="3228" cy="25399"/>
                </a:xfrm>
              </p:grpSpPr>
              <p:cxnSp>
                <p:nvCxnSpPr>
                  <p:cNvPr id="228" name="Connector segment 1"/>
                  <p:cNvCxnSpPr/>
                  <p:nvPr/>
                </p:nvCxnSpPr>
                <p:spPr>
                  <a:xfrm flipH="1" flipV="1">
                    <a:off x="12077012" y="2323554"/>
                    <a:ext cx="3228" cy="2539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229" name="Connector"/>
                <p:cNvGrpSpPr/>
                <p:nvPr/>
              </p:nvGrpSpPr>
              <p:grpSpPr>
                <a:xfrm>
                  <a:off x="12080240" y="2339049"/>
                  <a:ext cx="23610" cy="9904"/>
                  <a:chOff x="12080240" y="2339049"/>
                  <a:chExt cx="23610" cy="9904"/>
                </a:xfrm>
              </p:grpSpPr>
              <p:cxnSp>
                <p:nvCxnSpPr>
                  <p:cNvPr id="230" name="Connector segment 1"/>
                  <p:cNvCxnSpPr/>
                  <p:nvPr/>
                </p:nvCxnSpPr>
                <p:spPr>
                  <a:xfrm flipV="1">
                    <a:off x="12080240" y="2339049"/>
                    <a:ext cx="23610" cy="9904"/>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grpSp>
        <p:sp>
          <p:nvSpPr>
            <p:cNvPr id="231" name="Math Z_b^align"/>
            <p:cNvSpPr txBox="1"/>
            <p:nvPr/>
          </p:nvSpPr>
          <p:spPr>
            <a:xfrm>
              <a:off x="10708640" y="1686560"/>
              <a:ext cx="670560" cy="345440"/>
            </a:xfrm>
            <a:prstGeom prst="rect">
              <a:avLst/>
            </a:prstGeom>
            <a:noFill/>
          </p:spPr>
          <p:txBody>
            <a:bodyPr wrap="none" lIns="0" rIns="0" tIns="0" bIns="0" anchor="ctr">
              <a:spAutoFit/>
            </a:bodyPr>
            <a:lstStyle/>
            <a:p>
              <a:pPr algn="ctr">
                <a:lnSpc>
                  <a:spcPct val="103000"/>
                </a:lnSpc>
                <a:spcBef>
                  <a:spcPts val="0"/>
                </a:spcBef>
                <a:spcAft>
                  <a:spcPts val="0"/>
                </a:spcAft>
              </a:pPr>
              <a:r>
                <a:rPr sz="1920" b="0" i="1">
                  <a:solidFill>
                    <a:srgbClr val="7851C8"/>
                  </a:solidFill>
                  <a:latin typeface="Times New Roman"/>
                </a:rPr>
                <a:t>Z</a:t>
              </a:r>
              <a:r>
                <a:rPr sz="1305" b="0" i="0" baseline="-24000">
                  <a:solidFill>
                    <a:srgbClr val="7851C8"/>
                  </a:solidFill>
                  <a:latin typeface="Times New Roman"/>
                </a:rPr>
                <a:t>b</a:t>
              </a:r>
              <a:r>
                <a:rPr sz="1248" b="0" i="0" baseline="35000">
                  <a:solidFill>
                    <a:srgbClr val="7851C8"/>
                  </a:solidFill>
                  <a:latin typeface="Times New Roman"/>
                </a:rPr>
                <a:t>align</a:t>
              </a:r>
            </a:p>
          </p:txBody>
        </p:sp>
        <p:grpSp>
          <p:nvGrpSpPr>
            <p:cNvPr id="232" name="Alignment tokens into shared decoder"/>
            <p:cNvGrpSpPr/>
            <p:nvPr/>
          </p:nvGrpSpPr>
          <p:grpSpPr>
            <a:xfrm>
              <a:off x="10728960" y="2489200"/>
              <a:ext cx="345440" cy="0"/>
              <a:chOff x="10728960" y="2489200"/>
              <a:chExt cx="345440" cy="0"/>
            </a:xfrm>
          </p:grpSpPr>
          <p:cxnSp>
            <p:nvCxnSpPr>
              <p:cNvPr id="233" name="Alignment tokens into shared decoder segment 1"/>
              <p:cNvCxnSpPr/>
              <p:nvPr/>
            </p:nvCxnSpPr>
            <p:spPr>
              <a:xfrm>
                <a:off x="10728960" y="2489200"/>
                <a:ext cx="345440" cy="0"/>
              </a:xfrm>
              <a:prstGeom prst="line">
                <a:avLst/>
              </a:prstGeom>
              <a:ln w="18288">
                <a:solidFill>
                  <a:srgbClr val="7851C8"/>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234" name="Native tokens into alignment decoder"/>
            <p:cNvGrpSpPr/>
            <p:nvPr/>
          </p:nvGrpSpPr>
          <p:grpSpPr>
            <a:xfrm>
              <a:off x="6075680" y="2702560"/>
              <a:ext cx="4998720" cy="518160"/>
              <a:chOff x="6075680" y="2702560"/>
              <a:chExt cx="4998720" cy="518160"/>
            </a:xfrm>
          </p:grpSpPr>
          <p:cxnSp>
            <p:nvCxnSpPr>
              <p:cNvPr id="235" name="Native tokens into alignment decoder segment 1"/>
              <p:cNvCxnSpPr/>
              <p:nvPr/>
            </p:nvCxnSpPr>
            <p:spPr>
              <a:xfrm>
                <a:off x="6075680" y="3220720"/>
                <a:ext cx="4846320" cy="0"/>
              </a:xfrm>
              <a:prstGeom prst="line">
                <a:avLst/>
              </a:prstGeom>
              <a:ln w="16764">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236" name="Native tokens into alignment decoder segment 2"/>
              <p:cNvCxnSpPr/>
              <p:nvPr/>
            </p:nvCxnSpPr>
            <p:spPr>
              <a:xfrm flipV="1">
                <a:off x="10922000" y="2702560"/>
                <a:ext cx="0" cy="518160"/>
              </a:xfrm>
              <a:prstGeom prst="line">
                <a:avLst/>
              </a:prstGeom>
              <a:ln w="16764">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237" name="Native tokens into alignment decoder segment 3"/>
              <p:cNvCxnSpPr/>
              <p:nvPr/>
            </p:nvCxnSpPr>
            <p:spPr>
              <a:xfrm>
                <a:off x="10922000" y="2702560"/>
                <a:ext cx="152400" cy="0"/>
              </a:xfrm>
              <a:prstGeom prst="line">
                <a:avLst/>
              </a:prstGeom>
              <a:ln w="16764">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238" name="Text: Native tokens"/>
            <p:cNvSpPr txBox="1"/>
            <p:nvPr/>
          </p:nvSpPr>
          <p:spPr>
            <a:xfrm>
              <a:off x="8046720" y="3017520"/>
              <a:ext cx="1686560" cy="223520"/>
            </a:xfrm>
            <a:prstGeom prst="rect">
              <a:avLst/>
            </a:prstGeom>
            <a:noFill/>
          </p:spPr>
          <p:txBody>
            <a:bodyPr wrap="none" lIns="0" rIns="0" tIns="0" bIns="0" anchor="ctr">
              <a:spAutoFit/>
            </a:bodyPr>
            <a:lstStyle/>
            <a:p>
              <a:pPr algn="ctr">
                <a:lnSpc>
                  <a:spcPct val="103000"/>
                </a:lnSpc>
                <a:spcBef>
                  <a:spcPts val="0"/>
                </a:spcBef>
                <a:spcAft>
                  <a:spcPts val="0"/>
                </a:spcAft>
              </a:pPr>
              <a:r>
                <a:rPr sz="1280" b="0" i="0">
                  <a:solidFill>
                    <a:srgbClr val="337BCD"/>
                  </a:solidFill>
                  <a:latin typeface="Arial"/>
                </a:rPr>
                <a:t>Native tokens</a:t>
              </a:r>
            </a:p>
          </p:txBody>
        </p:sp>
        <p:grpSp>
          <p:nvGrpSpPr>
            <p:cNvPr id="239" name="Current semantics into token construction"/>
            <p:cNvGrpSpPr/>
            <p:nvPr/>
          </p:nvGrpSpPr>
          <p:grpSpPr>
            <a:xfrm>
              <a:off x="10068560" y="3007360"/>
              <a:ext cx="0" cy="213360"/>
              <a:chOff x="10068560" y="3007360"/>
              <a:chExt cx="0" cy="213360"/>
            </a:xfrm>
          </p:grpSpPr>
          <p:cxnSp>
            <p:nvCxnSpPr>
              <p:cNvPr id="240" name="Current semantics into token construction segment 1"/>
              <p:cNvCxnSpPr/>
              <p:nvPr/>
            </p:nvCxnSpPr>
            <p:spPr>
              <a:xfrm flipV="1">
                <a:off x="10068560" y="3007360"/>
                <a:ext cx="0" cy="213360"/>
              </a:xfrm>
              <a:prstGeom prst="line">
                <a:avLst/>
              </a:prstGeom>
              <a:ln w="13208">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241" name="Decoder to camera residual"/>
            <p:cNvGrpSpPr/>
            <p:nvPr/>
          </p:nvGrpSpPr>
          <p:grpSpPr>
            <a:xfrm>
              <a:off x="12212320" y="2519680"/>
              <a:ext cx="193040" cy="0"/>
              <a:chOff x="12212320" y="2519680"/>
              <a:chExt cx="193040" cy="0"/>
            </a:xfrm>
          </p:grpSpPr>
          <p:cxnSp>
            <p:nvCxnSpPr>
              <p:cNvPr id="242" name="Decoder to camera residual segment 1"/>
              <p:cNvCxnSpPr/>
              <p:nvPr/>
            </p:nvCxnSpPr>
            <p:spPr>
              <a:xfrm>
                <a:off x="12212320" y="2519680"/>
                <a:ext cx="193040" cy="0"/>
              </a:xfrm>
              <a:prstGeom prst="line">
                <a:avLst/>
              </a:prstGeom>
              <a:ln w="18288">
                <a:solidFill>
                  <a:srgbClr val="7851C8"/>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243" name="Camera latent residual"/>
            <p:cNvSpPr/>
            <p:nvPr/>
          </p:nvSpPr>
          <p:spPr>
            <a:xfrm>
              <a:off x="12405360" y="2184400"/>
              <a:ext cx="802640" cy="741680"/>
            </a:xfrm>
            <a:prstGeom prst="roundRect">
              <a:avLst>
                <a:gd name="adj" fmla="val 9589"/>
              </a:avLst>
            </a:prstGeom>
            <a:solidFill>
              <a:srgbClr val="FFFFFF"/>
            </a:solidFill>
            <a:ln w="10160">
              <a:solidFill>
                <a:srgbClr val="C6B4E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Text: Camera residual"/>
            <p:cNvSpPr txBox="1"/>
            <p:nvPr/>
          </p:nvSpPr>
          <p:spPr>
            <a:xfrm>
              <a:off x="12456160" y="2407920"/>
              <a:ext cx="701040" cy="436880"/>
            </a:xfrm>
            <a:prstGeom prst="rect">
              <a:avLst/>
            </a:prstGeom>
            <a:noFill/>
          </p:spPr>
          <p:txBody>
            <a:bodyPr wrap="none" lIns="0" rIns="0" tIns="0" bIns="0" anchor="ctr">
              <a:spAutoFit/>
            </a:bodyPr>
            <a:lstStyle/>
            <a:p>
              <a:pPr algn="ctr">
                <a:lnSpc>
                  <a:spcPct val="80000"/>
                </a:lnSpc>
                <a:spcBef>
                  <a:spcPts val="0"/>
                </a:spcBef>
                <a:spcAft>
                  <a:spcPts val="0"/>
                </a:spcAft>
              </a:pPr>
              <a:r>
                <a:rPr sz="1360" b="0" i="0">
                  <a:solidFill>
                    <a:srgbClr val="23324A"/>
                  </a:solidFill>
                  <a:latin typeface="Arial"/>
                </a:rPr>
                <a:t>Camera</a:t>
              </a:r>
            </a:p>
            <a:p>
              <a:pPr algn="ctr">
                <a:lnSpc>
                  <a:spcPct val="80000"/>
                </a:lnSpc>
                <a:spcBef>
                  <a:spcPts val="0"/>
                </a:spcBef>
                <a:spcAft>
                  <a:spcPts val="0"/>
                </a:spcAft>
              </a:pPr>
              <a:r>
                <a:rPr sz="1360" b="0" i="0">
                  <a:solidFill>
                    <a:srgbClr val="23324A"/>
                  </a:solidFill>
                  <a:latin typeface="Arial"/>
                </a:rPr>
                <a:t>latent</a:t>
              </a:r>
            </a:p>
            <a:p>
              <a:pPr algn="ctr">
                <a:lnSpc>
                  <a:spcPct val="80000"/>
                </a:lnSpc>
                <a:spcBef>
                  <a:spcPts val="0"/>
                </a:spcBef>
                <a:spcAft>
                  <a:spcPts val="0"/>
                </a:spcAft>
              </a:pPr>
              <a:r>
                <a:rPr sz="1360" b="0" i="0">
                  <a:solidFill>
                    <a:srgbClr val="23324A"/>
                  </a:solidFill>
                  <a:latin typeface="Arial"/>
                </a:rPr>
                <a:t>residual</a:t>
              </a:r>
            </a:p>
          </p:txBody>
        </p:sp>
        <p:grpSp>
          <p:nvGrpSpPr>
            <p:cNvPr id="245" name="Trainable symbol"/>
            <p:cNvGrpSpPr/>
            <p:nvPr/>
          </p:nvGrpSpPr>
          <p:grpSpPr>
            <a:xfrm>
              <a:off x="12994640" y="2235200"/>
              <a:ext cx="121920" cy="142240"/>
              <a:chOff x="12994640" y="2235200"/>
              <a:chExt cx="121920" cy="142240"/>
            </a:xfrm>
          </p:grpSpPr>
          <p:sp>
            <p:nvSpPr>
              <p:cNvPr id="246" name="Trainable flame"/>
              <p:cNvSpPr/>
              <p:nvPr/>
            </p:nvSpPr>
            <p:spPr>
              <a:xfrm>
                <a:off x="12994640" y="2235200"/>
                <a:ext cx="121920" cy="142240"/>
              </a:xfrm>
              <a:custGeom>
                <a:avLst/>
                <a:gdLst/>
                <a:ahLst/>
                <a:cxnLst/>
                <a:rect l="l" t="t" r="r" b="b"/>
                <a:pathLst>
                  <a:path w="12" h="14">
                    <a:moveTo>
                      <a:pt x="6" y="0"/>
                    </a:moveTo>
                    <a:lnTo>
                      <a:pt x="7" y="6"/>
                    </a:lnTo>
                    <a:lnTo>
                      <a:pt x="10" y="3"/>
                    </a:lnTo>
                    <a:lnTo>
                      <a:pt x="12" y="9"/>
                    </a:lnTo>
                    <a:lnTo>
                      <a:pt x="9" y="14"/>
                    </a:lnTo>
                    <a:lnTo>
                      <a:pt x="3" y="14"/>
                    </a:lnTo>
                    <a:lnTo>
                      <a:pt x="0" y="10"/>
                    </a:lnTo>
                    <a:lnTo>
                      <a:pt x="2" y="6"/>
                    </a:lnTo>
                    <a:close/>
                  </a:path>
                </a:pathLst>
              </a:custGeom>
              <a:solidFill>
                <a:srgbClr val="CF82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Flame core"/>
              <p:cNvSpPr/>
              <p:nvPr/>
            </p:nvSpPr>
            <p:spPr>
              <a:xfrm>
                <a:off x="13035280" y="2316480"/>
                <a:ext cx="40640" cy="50800"/>
              </a:xfrm>
              <a:custGeom>
                <a:avLst/>
                <a:gdLst/>
                <a:ahLst/>
                <a:cxnLst/>
                <a:rect l="l" t="t" r="r" b="b"/>
                <a:pathLst>
                  <a:path w="4" h="5">
                    <a:moveTo>
                      <a:pt x="2" y="0"/>
                    </a:moveTo>
                    <a:lnTo>
                      <a:pt x="4" y="3"/>
                    </a:lnTo>
                    <a:lnTo>
                      <a:pt x="3" y="5"/>
                    </a:lnTo>
                    <a:lnTo>
                      <a:pt x="0" y="2"/>
                    </a:lnTo>
                    <a:close/>
                  </a:path>
                </a:pathLst>
              </a:custGeom>
              <a:solidFill>
                <a:srgbClr val="FFD99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48" name="Residual to boundary camera prediction"/>
            <p:cNvGrpSpPr/>
            <p:nvPr/>
          </p:nvGrpSpPr>
          <p:grpSpPr>
            <a:xfrm>
              <a:off x="13208000" y="2519680"/>
              <a:ext cx="254000" cy="0"/>
              <a:chOff x="13208000" y="2519680"/>
              <a:chExt cx="254000" cy="0"/>
            </a:xfrm>
          </p:grpSpPr>
          <p:cxnSp>
            <p:nvCxnSpPr>
              <p:cNvPr id="249" name="Residual to boundary camera prediction segment 1"/>
              <p:cNvCxnSpPr/>
              <p:nvPr/>
            </p:nvCxnSpPr>
            <p:spPr>
              <a:xfrm>
                <a:off x="13208000" y="2519680"/>
                <a:ext cx="254000" cy="0"/>
              </a:xfrm>
              <a:prstGeom prst="line">
                <a:avLst/>
              </a:prstGeom>
              <a:ln w="18288">
                <a:solidFill>
                  <a:srgbClr val="7851C8"/>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250" name="Math C̃_b^"/>
            <p:cNvSpPr txBox="1"/>
            <p:nvPr/>
          </p:nvSpPr>
          <p:spPr>
            <a:xfrm>
              <a:off x="13451840" y="1991360"/>
              <a:ext cx="690880" cy="365760"/>
            </a:xfrm>
            <a:prstGeom prst="rect">
              <a:avLst/>
            </a:prstGeom>
            <a:noFill/>
          </p:spPr>
          <p:txBody>
            <a:bodyPr wrap="none" lIns="0" rIns="0" tIns="0" bIns="0" anchor="ctr">
              <a:spAutoFit/>
            </a:bodyPr>
            <a:lstStyle/>
            <a:p>
              <a:pPr algn="ctr">
                <a:lnSpc>
                  <a:spcPct val="103000"/>
                </a:lnSpc>
                <a:spcBef>
                  <a:spcPts val="0"/>
                </a:spcBef>
                <a:spcAft>
                  <a:spcPts val="0"/>
                </a:spcAft>
              </a:pPr>
              <a:r>
                <a:rPr sz="2400" b="0" i="1">
                  <a:solidFill>
                    <a:srgbClr val="7851C8"/>
                  </a:solidFill>
                  <a:latin typeface="Times New Roman"/>
                </a:rPr>
                <a:t>C̃</a:t>
              </a:r>
              <a:r>
                <a:rPr sz="1632" b="0" i="0" baseline="-24000">
                  <a:solidFill>
                    <a:srgbClr val="7851C8"/>
                  </a:solidFill>
                  <a:latin typeface="Times New Roman"/>
                </a:rPr>
                <a:t>b</a:t>
              </a:r>
            </a:p>
          </p:txBody>
        </p:sp>
        <p:grpSp>
          <p:nvGrpSpPr>
            <p:cNvPr id="251" name="Historical-reference boundary camera"/>
            <p:cNvGrpSpPr/>
            <p:nvPr/>
          </p:nvGrpSpPr>
          <p:grpSpPr>
            <a:xfrm>
              <a:off x="13563600" y="2509520"/>
              <a:ext cx="467360" cy="299110"/>
              <a:chOff x="13563600" y="2509520"/>
              <a:chExt cx="467360" cy="299110"/>
            </a:xfrm>
          </p:grpSpPr>
          <p:sp>
            <p:nvSpPr>
              <p:cNvPr id="252" name="Image plane"/>
              <p:cNvSpPr/>
              <p:nvPr/>
            </p:nvSpPr>
            <p:spPr>
              <a:xfrm>
                <a:off x="13868400" y="2509520"/>
                <a:ext cx="162560" cy="294640"/>
              </a:xfrm>
              <a:custGeom>
                <a:avLst/>
                <a:gdLst/>
                <a:ahLst/>
                <a:cxnLst/>
                <a:rect l="l" t="t" r="r" b="b"/>
                <a:pathLst>
                  <a:path w="16" h="29">
                    <a:moveTo>
                      <a:pt x="9" y="0"/>
                    </a:moveTo>
                    <a:lnTo>
                      <a:pt x="16" y="17"/>
                    </a:lnTo>
                    <a:lnTo>
                      <a:pt x="6" y="29"/>
                    </a:lnTo>
                    <a:lnTo>
                      <a:pt x="0" y="13"/>
                    </a:lnTo>
                    <a:close/>
                  </a:path>
                </a:pathLst>
              </a:custGeom>
              <a:solidFill>
                <a:srgbClr val="F4F1FB"/>
              </a:solidFill>
              <a:ln w="14223">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53" name="Connector"/>
              <p:cNvGrpSpPr/>
              <p:nvPr/>
            </p:nvGrpSpPr>
            <p:grpSpPr>
              <a:xfrm>
                <a:off x="13617651" y="2511349"/>
                <a:ext cx="339751" cy="193040"/>
                <a:chOff x="13617651" y="2511349"/>
                <a:chExt cx="339751" cy="193040"/>
              </a:xfrm>
            </p:grpSpPr>
            <p:cxnSp>
              <p:nvCxnSpPr>
                <p:cNvPr id="254" name="Connector segment 1"/>
                <p:cNvCxnSpPr/>
                <p:nvPr/>
              </p:nvCxnSpPr>
              <p:spPr>
                <a:xfrm flipV="1">
                  <a:off x="13617651" y="2511349"/>
                  <a:ext cx="339751" cy="193040"/>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grpSp>
          <p:grpSp>
            <p:nvGrpSpPr>
              <p:cNvPr id="255" name="Connector"/>
              <p:cNvGrpSpPr/>
              <p:nvPr/>
            </p:nvGrpSpPr>
            <p:grpSpPr>
              <a:xfrm>
                <a:off x="13617651" y="2677363"/>
                <a:ext cx="409245" cy="27026"/>
                <a:chOff x="13617651" y="2677363"/>
                <a:chExt cx="409245" cy="27026"/>
              </a:xfrm>
            </p:grpSpPr>
            <p:cxnSp>
              <p:nvCxnSpPr>
                <p:cNvPr id="256" name="Connector segment 1"/>
                <p:cNvCxnSpPr/>
                <p:nvPr/>
              </p:nvCxnSpPr>
              <p:spPr>
                <a:xfrm flipV="1">
                  <a:off x="13617651" y="2677363"/>
                  <a:ext cx="409245" cy="27026"/>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grpSp>
          <p:grpSp>
            <p:nvGrpSpPr>
              <p:cNvPr id="257" name="Connector"/>
              <p:cNvGrpSpPr/>
              <p:nvPr/>
            </p:nvGrpSpPr>
            <p:grpSpPr>
              <a:xfrm>
                <a:off x="13617651" y="2704389"/>
                <a:ext cx="312725" cy="104241"/>
                <a:chOff x="13617651" y="2704389"/>
                <a:chExt cx="312725" cy="104241"/>
              </a:xfrm>
            </p:grpSpPr>
            <p:cxnSp>
              <p:nvCxnSpPr>
                <p:cNvPr id="258" name="Connector segment 1"/>
                <p:cNvCxnSpPr/>
                <p:nvPr/>
              </p:nvCxnSpPr>
              <p:spPr>
                <a:xfrm>
                  <a:off x="13617651" y="2704389"/>
                  <a:ext cx="312725" cy="104241"/>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grpSp>
          <p:grpSp>
            <p:nvGrpSpPr>
              <p:cNvPr id="259" name="Connector"/>
              <p:cNvGrpSpPr/>
              <p:nvPr/>
            </p:nvGrpSpPr>
            <p:grpSpPr>
              <a:xfrm>
                <a:off x="13617651" y="2638755"/>
                <a:ext cx="250952" cy="65634"/>
                <a:chOff x="13617651" y="2638755"/>
                <a:chExt cx="250952" cy="65634"/>
              </a:xfrm>
            </p:grpSpPr>
            <p:cxnSp>
              <p:nvCxnSpPr>
                <p:cNvPr id="260" name="Connector segment 1"/>
                <p:cNvCxnSpPr/>
                <p:nvPr/>
              </p:nvCxnSpPr>
              <p:spPr>
                <a:xfrm flipV="1">
                  <a:off x="13617651" y="2638755"/>
                  <a:ext cx="250952" cy="65634"/>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grpSp>
          <p:sp>
            <p:nvSpPr>
              <p:cNvPr id="261" name="Camera body"/>
              <p:cNvSpPr/>
              <p:nvPr/>
            </p:nvSpPr>
            <p:spPr>
              <a:xfrm>
                <a:off x="13563600" y="2611120"/>
                <a:ext cx="111760" cy="152400"/>
              </a:xfrm>
              <a:custGeom>
                <a:avLst/>
                <a:gdLst/>
                <a:ahLst/>
                <a:cxnLst/>
                <a:rect l="l" t="t" r="r" b="b"/>
                <a:pathLst>
                  <a:path w="11" h="15">
                    <a:moveTo>
                      <a:pt x="0" y="4"/>
                    </a:moveTo>
                    <a:lnTo>
                      <a:pt x="10" y="0"/>
                    </a:lnTo>
                    <a:lnTo>
                      <a:pt x="11" y="12"/>
                    </a:lnTo>
                    <a:lnTo>
                      <a:pt x="2" y="15"/>
                    </a:lnTo>
                    <a:close/>
                  </a:path>
                </a:pathLst>
              </a:custGeom>
              <a:solidFill>
                <a:srgbClr val="7851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2" name="Lens"/>
              <p:cNvSpPr/>
              <p:nvPr/>
            </p:nvSpPr>
            <p:spPr>
              <a:xfrm>
                <a:off x="13601822" y="2669256"/>
                <a:ext cx="38608" cy="5019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263" name="Temporary state output"/>
            <p:cNvGrpSpPr/>
            <p:nvPr/>
          </p:nvGrpSpPr>
          <p:grpSpPr>
            <a:xfrm>
              <a:off x="11684000" y="2966720"/>
              <a:ext cx="457200" cy="314960"/>
              <a:chOff x="11684000" y="2966720"/>
              <a:chExt cx="457200" cy="314960"/>
            </a:xfrm>
          </p:grpSpPr>
          <p:cxnSp>
            <p:nvCxnSpPr>
              <p:cNvPr id="264" name="Temporary state output segment 1"/>
              <p:cNvCxnSpPr/>
              <p:nvPr/>
            </p:nvCxnSpPr>
            <p:spPr>
              <a:xfrm>
                <a:off x="11684000" y="2966720"/>
                <a:ext cx="0" cy="314960"/>
              </a:xfrm>
              <a:prstGeom prst="line">
                <a:avLst/>
              </a:prstGeom>
              <a:ln w="12700">
                <a:solidFill>
                  <a:srgbClr val="7851C8"/>
                </a:solidFill>
              </a:ln>
              <a:effectLst/>
            </p:spPr>
            <p:style>
              <a:lnRef idx="2">
                <a:schemeClr val="accent1"/>
              </a:lnRef>
              <a:fillRef idx="0">
                <a:schemeClr val="accent1"/>
              </a:fillRef>
              <a:effectRef idx="0">
                <a:schemeClr val="accent1"/>
              </a:effectRef>
              <a:fontRef idx="minor">
                <a:schemeClr val="tx1"/>
              </a:fontRef>
            </p:style>
          </p:cxnSp>
          <p:cxnSp>
            <p:nvCxnSpPr>
              <p:cNvPr id="265" name="Temporary state output segment 2"/>
              <p:cNvCxnSpPr/>
              <p:nvPr/>
            </p:nvCxnSpPr>
            <p:spPr>
              <a:xfrm>
                <a:off x="11684000" y="3281680"/>
                <a:ext cx="457200" cy="0"/>
              </a:xfrm>
              <a:prstGeom prst="line">
                <a:avLst/>
              </a:prstGeom>
              <a:ln w="12700">
                <a:solidFill>
                  <a:srgbClr val="7851C8"/>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266" name="Discarded temporary state"/>
            <p:cNvGrpSpPr/>
            <p:nvPr/>
          </p:nvGrpSpPr>
          <p:grpSpPr>
            <a:xfrm>
              <a:off x="12181840" y="3180080"/>
              <a:ext cx="406400" cy="213360"/>
              <a:chOff x="12181840" y="3180080"/>
              <a:chExt cx="406400" cy="213360"/>
            </a:xfrm>
          </p:grpSpPr>
          <p:sp>
            <p:nvSpPr>
              <p:cNvPr id="267" name="Discarded temporary state 1"/>
              <p:cNvSpPr/>
              <p:nvPr/>
            </p:nvSpPr>
            <p:spPr>
              <a:xfrm>
                <a:off x="12181840" y="3180080"/>
                <a:ext cx="71120" cy="213360"/>
              </a:xfrm>
              <a:prstGeom prst="roundRect">
                <a:avLst>
                  <a:gd name="adj" fmla="val 28571"/>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Token highlight"/>
              <p:cNvSpPr/>
              <p:nvPr/>
            </p:nvSpPr>
            <p:spPr>
              <a:xfrm>
                <a:off x="12202160" y="3200400"/>
                <a:ext cx="14935" cy="172720"/>
              </a:xfrm>
              <a:prstGeom prst="roundRect">
                <a:avLst>
                  <a:gd name="adj" fmla="val 4500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Discarded temporary state 2"/>
              <p:cNvSpPr/>
              <p:nvPr/>
            </p:nvSpPr>
            <p:spPr>
              <a:xfrm>
                <a:off x="12293600" y="3180080"/>
                <a:ext cx="71120" cy="213360"/>
              </a:xfrm>
              <a:prstGeom prst="roundRect">
                <a:avLst>
                  <a:gd name="adj" fmla="val 28571"/>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Token highlight"/>
              <p:cNvSpPr/>
              <p:nvPr/>
            </p:nvSpPr>
            <p:spPr>
              <a:xfrm>
                <a:off x="12313920" y="3200400"/>
                <a:ext cx="14935" cy="172720"/>
              </a:xfrm>
              <a:prstGeom prst="roundRect">
                <a:avLst>
                  <a:gd name="adj" fmla="val 4500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1" name="Discarded temporary state 3"/>
              <p:cNvSpPr/>
              <p:nvPr/>
            </p:nvSpPr>
            <p:spPr>
              <a:xfrm>
                <a:off x="12405360" y="3180080"/>
                <a:ext cx="71120" cy="213360"/>
              </a:xfrm>
              <a:prstGeom prst="roundRect">
                <a:avLst>
                  <a:gd name="adj" fmla="val 28571"/>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2" name="Token highlight"/>
              <p:cNvSpPr/>
              <p:nvPr/>
            </p:nvSpPr>
            <p:spPr>
              <a:xfrm>
                <a:off x="12425680" y="3200400"/>
                <a:ext cx="14935" cy="172720"/>
              </a:xfrm>
              <a:prstGeom prst="roundRect">
                <a:avLst>
                  <a:gd name="adj" fmla="val 4500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3" name="Discarded temporary state 4"/>
              <p:cNvSpPr/>
              <p:nvPr/>
            </p:nvSpPr>
            <p:spPr>
              <a:xfrm>
                <a:off x="12517120" y="3180080"/>
                <a:ext cx="71120" cy="213360"/>
              </a:xfrm>
              <a:prstGeom prst="roundRect">
                <a:avLst>
                  <a:gd name="adj" fmla="val 28571"/>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4" name="Token highlight"/>
              <p:cNvSpPr/>
              <p:nvPr/>
            </p:nvSpPr>
            <p:spPr>
              <a:xfrm>
                <a:off x="12537440" y="3200400"/>
                <a:ext cx="14935" cy="172720"/>
              </a:xfrm>
              <a:prstGeom prst="roundRect">
                <a:avLst>
                  <a:gd name="adj" fmla="val 45000"/>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275" name="Math S̃_b^"/>
            <p:cNvSpPr txBox="1"/>
            <p:nvPr/>
          </p:nvSpPr>
          <p:spPr>
            <a:xfrm>
              <a:off x="12161520" y="2956560"/>
              <a:ext cx="447040" cy="243840"/>
            </a:xfrm>
            <a:prstGeom prst="rect">
              <a:avLst/>
            </a:prstGeom>
            <a:noFill/>
          </p:spPr>
          <p:txBody>
            <a:bodyPr wrap="none" lIns="0" rIns="0" tIns="0" bIns="0" anchor="ctr">
              <a:spAutoFit/>
            </a:bodyPr>
            <a:lstStyle/>
            <a:p>
              <a:pPr algn="ctr">
                <a:lnSpc>
                  <a:spcPct val="103000"/>
                </a:lnSpc>
                <a:spcBef>
                  <a:spcPts val="0"/>
                </a:spcBef>
                <a:spcAft>
                  <a:spcPts val="0"/>
                </a:spcAft>
              </a:pPr>
              <a:r>
                <a:rPr sz="1600" b="0" i="1">
                  <a:solidFill>
                    <a:srgbClr val="7851C8"/>
                  </a:solidFill>
                  <a:latin typeface="Times New Roman"/>
                </a:rPr>
                <a:t>S̃</a:t>
              </a:r>
              <a:r>
                <a:rPr sz="1088" b="0" i="0" baseline="-24000">
                  <a:solidFill>
                    <a:srgbClr val="7851C8"/>
                  </a:solidFill>
                  <a:latin typeface="Times New Roman"/>
                </a:rPr>
                <a:t>b</a:t>
              </a:r>
            </a:p>
          </p:txBody>
        </p:sp>
        <p:grpSp>
          <p:nvGrpSpPr>
            <p:cNvPr id="276" name="Connector"/>
            <p:cNvGrpSpPr/>
            <p:nvPr/>
          </p:nvGrpSpPr>
          <p:grpSpPr>
            <a:xfrm>
              <a:off x="12618720" y="3281680"/>
              <a:ext cx="111760" cy="0"/>
              <a:chOff x="12618720" y="3281680"/>
              <a:chExt cx="111760" cy="0"/>
            </a:xfrm>
          </p:grpSpPr>
          <p:cxnSp>
            <p:nvCxnSpPr>
              <p:cNvPr id="277" name="Connector segment 1"/>
              <p:cNvCxnSpPr/>
              <p:nvPr/>
            </p:nvCxnSpPr>
            <p:spPr>
              <a:xfrm>
                <a:off x="12618720" y="3281680"/>
                <a:ext cx="111760" cy="0"/>
              </a:xfrm>
              <a:prstGeom prst="line">
                <a:avLst/>
              </a:prstGeom>
              <a:ln w="14223">
                <a:solidFill>
                  <a:srgbClr val="C34F61"/>
                </a:solidFill>
                <a:prstDash val="dash"/>
              </a:ln>
              <a:effectLst/>
            </p:spPr>
            <p:style>
              <a:lnRef idx="2">
                <a:schemeClr val="accent1"/>
              </a:lnRef>
              <a:fillRef idx="0">
                <a:schemeClr val="accent1"/>
              </a:fillRef>
              <a:effectRef idx="0">
                <a:schemeClr val="accent1"/>
              </a:effectRef>
              <a:fontRef idx="minor">
                <a:schemeClr val="tx1"/>
              </a:fontRef>
            </p:style>
          </p:cxnSp>
        </p:grpSp>
        <p:grpSp>
          <p:nvGrpSpPr>
            <p:cNvPr id="278" name="Temporary state stop mark A"/>
            <p:cNvGrpSpPr/>
            <p:nvPr/>
          </p:nvGrpSpPr>
          <p:grpSpPr>
            <a:xfrm>
              <a:off x="12760960" y="3220720"/>
              <a:ext cx="111760" cy="121920"/>
              <a:chOff x="12760960" y="3220720"/>
              <a:chExt cx="111760" cy="121920"/>
            </a:xfrm>
          </p:grpSpPr>
          <p:cxnSp>
            <p:nvCxnSpPr>
              <p:cNvPr id="279" name="Temporary state stop mark A segment 1"/>
              <p:cNvCxnSpPr/>
              <p:nvPr/>
            </p:nvCxnSpPr>
            <p:spPr>
              <a:xfrm>
                <a:off x="12760960" y="3220720"/>
                <a:ext cx="111760" cy="121920"/>
              </a:xfrm>
              <a:prstGeom prst="line">
                <a:avLst/>
              </a:prstGeom>
              <a:ln w="21336">
                <a:solidFill>
                  <a:srgbClr val="C34F61"/>
                </a:solidFill>
              </a:ln>
              <a:effectLst/>
            </p:spPr>
            <p:style>
              <a:lnRef idx="2">
                <a:schemeClr val="accent1"/>
              </a:lnRef>
              <a:fillRef idx="0">
                <a:schemeClr val="accent1"/>
              </a:fillRef>
              <a:effectRef idx="0">
                <a:schemeClr val="accent1"/>
              </a:effectRef>
              <a:fontRef idx="minor">
                <a:schemeClr val="tx1"/>
              </a:fontRef>
            </p:style>
          </p:cxnSp>
        </p:grpSp>
        <p:grpSp>
          <p:nvGrpSpPr>
            <p:cNvPr id="280" name="Temporary state stop mark B"/>
            <p:cNvGrpSpPr/>
            <p:nvPr/>
          </p:nvGrpSpPr>
          <p:grpSpPr>
            <a:xfrm>
              <a:off x="12760960" y="3220720"/>
              <a:ext cx="111760" cy="121920"/>
              <a:chOff x="12760960" y="3220720"/>
              <a:chExt cx="111760" cy="121920"/>
            </a:xfrm>
          </p:grpSpPr>
          <p:cxnSp>
            <p:nvCxnSpPr>
              <p:cNvPr id="281" name="Temporary state stop mark B segment 1"/>
              <p:cNvCxnSpPr/>
              <p:nvPr/>
            </p:nvCxnSpPr>
            <p:spPr>
              <a:xfrm flipV="1">
                <a:off x="12760960" y="3220720"/>
                <a:ext cx="111760" cy="121920"/>
              </a:xfrm>
              <a:prstGeom prst="line">
                <a:avLst/>
              </a:prstGeom>
              <a:ln w="21336">
                <a:solidFill>
                  <a:srgbClr val="C34F61"/>
                </a:solidFill>
              </a:ln>
              <a:effectLst/>
            </p:spPr>
            <p:style>
              <a:lnRef idx="2">
                <a:schemeClr val="accent1"/>
              </a:lnRef>
              <a:fillRef idx="0">
                <a:schemeClr val="accent1"/>
              </a:fillRef>
              <a:effectRef idx="0">
                <a:schemeClr val="accent1"/>
              </a:effectRef>
              <a:fontRef idx="minor">
                <a:schemeClr val="tx1"/>
              </a:fontRef>
            </p:style>
          </p:cxnSp>
        </p:grpSp>
        <p:sp>
          <p:nvSpPr>
            <p:cNvPr id="282" name="Text: Not propagated"/>
            <p:cNvSpPr txBox="1"/>
            <p:nvPr/>
          </p:nvSpPr>
          <p:spPr>
            <a:xfrm>
              <a:off x="12954000" y="3139440"/>
              <a:ext cx="1310640" cy="284480"/>
            </a:xfrm>
            <a:prstGeom prst="rect">
              <a:avLst/>
            </a:prstGeom>
            <a:noFill/>
          </p:spPr>
          <p:txBody>
            <a:bodyPr wrap="none" lIns="0" rIns="0" tIns="0" bIns="0" anchor="ctr">
              <a:spAutoFit/>
            </a:bodyPr>
            <a:lstStyle/>
            <a:p>
              <a:pPr algn="l">
                <a:lnSpc>
                  <a:spcPct val="103000"/>
                </a:lnSpc>
                <a:spcBef>
                  <a:spcPts val="0"/>
                </a:spcBef>
                <a:spcAft>
                  <a:spcPts val="0"/>
                </a:spcAft>
              </a:pPr>
              <a:r>
                <a:rPr sz="1280" b="0" i="0">
                  <a:solidFill>
                    <a:srgbClr val="C34F61"/>
                  </a:solidFill>
                  <a:latin typeface="Arial"/>
                </a:rPr>
                <a:t>Not propagated</a:t>
              </a:r>
            </a:p>
          </p:txBody>
        </p:sp>
        <p:sp>
          <p:nvSpPr>
            <p:cNvPr id="283" name="Text: Different information lifetimes"/>
            <p:cNvSpPr txBox="1"/>
            <p:nvPr/>
          </p:nvSpPr>
          <p:spPr>
            <a:xfrm>
              <a:off x="7863840" y="3625596"/>
              <a:ext cx="4709160" cy="201168"/>
            </a:xfrm>
            <a:prstGeom prst="rect">
              <a:avLst/>
            </a:prstGeom>
            <a:noFill/>
          </p:spPr>
          <p:txBody>
            <a:bodyPr wrap="none" lIns="0" rIns="0" tIns="0" bIns="0" anchor="ctr">
              <a:spAutoFit/>
            </a:bodyPr>
            <a:lstStyle/>
            <a:p>
              <a:pPr algn="ctr">
                <a:lnSpc>
                  <a:spcPct val="100000"/>
                </a:lnSpc>
                <a:spcBef>
                  <a:spcPts val="0"/>
                </a:spcBef>
                <a:spcAft>
                  <a:spcPts val="0"/>
                </a:spcAft>
              </a:pPr>
              <a:r>
                <a:rPr sz="1200" b="0" i="1">
                  <a:solidFill>
                    <a:srgbClr val="637C9A"/>
                  </a:solidFill>
                  <a:latin typeface="Arial"/>
                </a:rPr>
                <a:t/>
              </a:r>
            </a:p>
          </p:txBody>
        </p:sp>
        <p:sp>
          <p:nvSpPr>
            <p:cNvPr id="284" name="Reconstruction path background"/>
            <p:cNvSpPr/>
            <p:nvPr/>
          </p:nvSpPr>
          <p:spPr>
            <a:xfrm>
              <a:off x="6177280" y="3860800"/>
              <a:ext cx="8188960" cy="3072384"/>
            </a:xfrm>
            <a:prstGeom prst="roundRect">
              <a:avLst>
                <a:gd name="adj" fmla="val 4545"/>
              </a:avLst>
            </a:prstGeom>
            <a:solidFill>
              <a:srgbClr val="F3F8FE"/>
            </a:solidFill>
            <a:ln w="12700">
              <a:solidFill>
                <a:srgbClr val="AED0F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5" name="Rectangle"/>
            <p:cNvSpPr/>
            <p:nvPr/>
          </p:nvSpPr>
          <p:spPr>
            <a:xfrm>
              <a:off x="6187440" y="3870960"/>
              <a:ext cx="8168640" cy="406400"/>
            </a:xfrm>
            <a:prstGeom prst="roundRect">
              <a:avLst>
                <a:gd name="adj" fmla="val 25000"/>
              </a:avLst>
            </a:prstGeom>
            <a:solidFill>
              <a:srgbClr val="E6F1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Rectangle"/>
            <p:cNvSpPr/>
            <p:nvPr/>
          </p:nvSpPr>
          <p:spPr>
            <a:xfrm>
              <a:off x="6187440" y="4175760"/>
              <a:ext cx="8168640" cy="111760"/>
            </a:xfrm>
            <a:prstGeom prst="rect">
              <a:avLst/>
            </a:prstGeom>
            <a:solidFill>
              <a:srgbClr val="E6F1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7" name="Text: Reconstruction path"/>
            <p:cNvSpPr txBox="1"/>
            <p:nvPr/>
          </p:nvSpPr>
          <p:spPr>
            <a:xfrm>
              <a:off x="6339840" y="3931920"/>
              <a:ext cx="2895600" cy="314960"/>
            </a:xfrm>
            <a:prstGeom prst="rect">
              <a:avLst/>
            </a:prstGeom>
            <a:noFill/>
          </p:spPr>
          <p:txBody>
            <a:bodyPr wrap="none" lIns="0" rIns="0" tIns="0" bIns="0" anchor="ctr">
              <a:spAutoFit/>
            </a:bodyPr>
            <a:lstStyle/>
            <a:p>
              <a:pPr algn="l">
                <a:lnSpc>
                  <a:spcPct val="103000"/>
                </a:lnSpc>
                <a:spcBef>
                  <a:spcPts val="0"/>
                </a:spcBef>
                <a:spcAft>
                  <a:spcPts val="0"/>
                </a:spcAft>
              </a:pPr>
              <a:r>
                <a:rPr sz="1920" b="1" i="0">
                  <a:solidFill>
                    <a:srgbClr val="337BCD"/>
                  </a:solidFill>
                  <a:latin typeface="Arial"/>
                </a:rPr>
                <a:t>Reconstruction path</a:t>
              </a:r>
            </a:p>
          </p:txBody>
        </p:sp>
        <p:sp>
          <p:nvSpPr>
            <p:cNvPr id="288" name="Text: Reinitialized · Propagated"/>
            <p:cNvSpPr txBox="1"/>
            <p:nvPr/>
          </p:nvSpPr>
          <p:spPr>
            <a:xfrm>
              <a:off x="9418320" y="3962400"/>
              <a:ext cx="4617720" cy="274320"/>
            </a:xfrm>
            <a:prstGeom prst="rect">
              <a:avLst/>
            </a:prstGeom>
            <a:noFill/>
          </p:spPr>
          <p:txBody>
            <a:bodyPr wrap="none" lIns="0" rIns="0" tIns="0" bIns="0" anchor="ctr">
              <a:spAutoFit/>
            </a:bodyPr>
            <a:lstStyle/>
            <a:p>
              <a:pPr algn="l">
                <a:lnSpc>
                  <a:spcPct val="100000"/>
                </a:lnSpc>
                <a:spcBef>
                  <a:spcPts val="0"/>
                </a:spcBef>
                <a:spcAft>
                  <a:spcPts val="0"/>
                </a:spcAft>
              </a:pPr>
              <a:r>
                <a:rPr sz="1500" b="0" i="0">
                  <a:solidFill>
                    <a:srgbClr val="3281DC"/>
                  </a:solidFill>
                  <a:latin typeface="Arial"/>
                </a:rPr>
                <a:t>Reset at cut · Updated within shot</a:t>
              </a:r>
            </a:p>
          </p:txBody>
        </p:sp>
        <p:sp>
          <p:nvSpPr>
            <p:cNvPr id="289" name="Independent initial state container"/>
            <p:cNvSpPr/>
            <p:nvPr/>
          </p:nvSpPr>
          <p:spPr>
            <a:xfrm>
              <a:off x="6339840" y="4511040"/>
              <a:ext cx="1198880" cy="1508760"/>
            </a:xfrm>
            <a:prstGeom prst="roundRect">
              <a:avLst>
                <a:gd name="adj" fmla="val 6779"/>
              </a:avLst>
            </a:prstGeom>
            <a:solidFill>
              <a:srgbClr val="FFFFFF"/>
            </a:solidFill>
            <a:ln w="10160">
              <a:solidFill>
                <a:srgbClr val="AED0F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0" name="Text: Initial state"/>
            <p:cNvSpPr txBox="1"/>
            <p:nvPr/>
          </p:nvSpPr>
          <p:spPr>
            <a:xfrm>
              <a:off x="6400800" y="4602480"/>
              <a:ext cx="1076960" cy="254000"/>
            </a:xfrm>
            <a:prstGeom prst="rect">
              <a:avLst/>
            </a:prstGeom>
            <a:noFill/>
          </p:spPr>
          <p:txBody>
            <a:bodyPr wrap="none" lIns="0" rIns="0" tIns="0" bIns="0" anchor="ctr">
              <a:spAutoFit/>
            </a:bodyPr>
            <a:lstStyle/>
            <a:p>
              <a:pPr algn="ctr">
                <a:lnSpc>
                  <a:spcPct val="103000"/>
                </a:lnSpc>
                <a:spcBef>
                  <a:spcPts val="0"/>
                </a:spcBef>
                <a:spcAft>
                  <a:spcPts val="0"/>
                </a:spcAft>
              </a:pPr>
              <a:r>
                <a:rPr sz="1440" b="0" i="0">
                  <a:solidFill>
                    <a:srgbClr val="23324A"/>
                  </a:solidFill>
                  <a:latin typeface="Arial"/>
                </a:rPr>
                <a:t>Initial state</a:t>
              </a:r>
            </a:p>
          </p:txBody>
        </p:sp>
        <p:sp>
          <p:nvSpPr>
            <p:cNvPr id="291" name="Math S_∅^"/>
            <p:cNvSpPr txBox="1"/>
            <p:nvPr/>
          </p:nvSpPr>
          <p:spPr>
            <a:xfrm>
              <a:off x="6604000" y="4907280"/>
              <a:ext cx="640080" cy="304800"/>
            </a:xfrm>
            <a:prstGeom prst="rect">
              <a:avLst/>
            </a:prstGeom>
            <a:noFill/>
          </p:spPr>
          <p:txBody>
            <a:bodyPr wrap="none" lIns="0" rIns="0" tIns="0" bIns="0" anchor="ctr">
              <a:spAutoFit/>
            </a:bodyPr>
            <a:lstStyle/>
            <a:p>
              <a:pPr algn="ctr">
                <a:lnSpc>
                  <a:spcPct val="103000"/>
                </a:lnSpc>
                <a:spcBef>
                  <a:spcPts val="0"/>
                </a:spcBef>
                <a:spcAft>
                  <a:spcPts val="0"/>
                </a:spcAft>
              </a:pPr>
              <a:r>
                <a:rPr sz="2240" b="0" i="1">
                  <a:solidFill>
                    <a:srgbClr val="23324A"/>
                  </a:solidFill>
                  <a:latin typeface="Times New Roman"/>
                </a:rPr>
                <a:t>S</a:t>
              </a:r>
              <a:r>
                <a:rPr sz="1523" b="0" i="0" baseline="-24000">
                  <a:solidFill>
                    <a:srgbClr val="23324A"/>
                  </a:solidFill>
                  <a:latin typeface="Times New Roman"/>
                </a:rPr>
                <a:t>∅</a:t>
              </a:r>
            </a:p>
          </p:txBody>
        </p:sp>
        <p:grpSp>
          <p:nvGrpSpPr>
            <p:cNvPr id="292" name="Independent initial state"/>
            <p:cNvGrpSpPr/>
            <p:nvPr/>
          </p:nvGrpSpPr>
          <p:grpSpPr>
            <a:xfrm>
              <a:off x="6593840" y="5334000"/>
              <a:ext cx="558800" cy="294640"/>
              <a:chOff x="6593840" y="5334000"/>
              <a:chExt cx="558800" cy="294640"/>
            </a:xfrm>
          </p:grpSpPr>
          <p:sp>
            <p:nvSpPr>
              <p:cNvPr id="293" name="Independent initial state 1"/>
              <p:cNvSpPr/>
              <p:nvPr/>
            </p:nvSpPr>
            <p:spPr>
              <a:xfrm>
                <a:off x="6593840" y="5334000"/>
                <a:ext cx="101600" cy="294640"/>
              </a:xfrm>
              <a:prstGeom prst="roundRect">
                <a:avLst>
                  <a:gd name="adj" fmla="val 20000"/>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Token highlight"/>
              <p:cNvSpPr/>
              <p:nvPr/>
            </p:nvSpPr>
            <p:spPr>
              <a:xfrm>
                <a:off x="6614160" y="5354320"/>
                <a:ext cx="21336" cy="254000"/>
              </a:xfrm>
              <a:prstGeom prst="roundRect">
                <a:avLst>
                  <a:gd name="adj" fmla="val 45000"/>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Independent initial state 2"/>
              <p:cNvSpPr/>
              <p:nvPr/>
            </p:nvSpPr>
            <p:spPr>
              <a:xfrm>
                <a:off x="6746240" y="5334000"/>
                <a:ext cx="101600" cy="294640"/>
              </a:xfrm>
              <a:prstGeom prst="roundRect">
                <a:avLst>
                  <a:gd name="adj" fmla="val 20000"/>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Token highlight"/>
              <p:cNvSpPr/>
              <p:nvPr/>
            </p:nvSpPr>
            <p:spPr>
              <a:xfrm>
                <a:off x="6766560" y="5354320"/>
                <a:ext cx="21336" cy="254000"/>
              </a:xfrm>
              <a:prstGeom prst="roundRect">
                <a:avLst>
                  <a:gd name="adj" fmla="val 45000"/>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Independent initial state 3"/>
              <p:cNvSpPr/>
              <p:nvPr/>
            </p:nvSpPr>
            <p:spPr>
              <a:xfrm>
                <a:off x="6898640" y="5334000"/>
                <a:ext cx="101600" cy="294640"/>
              </a:xfrm>
              <a:prstGeom prst="roundRect">
                <a:avLst>
                  <a:gd name="adj" fmla="val 20000"/>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Token highlight"/>
              <p:cNvSpPr/>
              <p:nvPr/>
            </p:nvSpPr>
            <p:spPr>
              <a:xfrm>
                <a:off x="6918960" y="5354320"/>
                <a:ext cx="21336" cy="254000"/>
              </a:xfrm>
              <a:prstGeom prst="roundRect">
                <a:avLst>
                  <a:gd name="adj" fmla="val 45000"/>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Independent initial state 4"/>
              <p:cNvSpPr/>
              <p:nvPr/>
            </p:nvSpPr>
            <p:spPr>
              <a:xfrm>
                <a:off x="7051040" y="5334000"/>
                <a:ext cx="101600" cy="294640"/>
              </a:xfrm>
              <a:prstGeom prst="roundRect">
                <a:avLst>
                  <a:gd name="adj" fmla="val 20000"/>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Token highlight"/>
              <p:cNvSpPr/>
              <p:nvPr/>
            </p:nvSpPr>
            <p:spPr>
              <a:xfrm>
                <a:off x="7071360" y="5354320"/>
                <a:ext cx="21336" cy="254000"/>
              </a:xfrm>
              <a:prstGeom prst="roundRect">
                <a:avLst>
                  <a:gd name="adj" fmla="val 45000"/>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301" name="Text: Native tokens"/>
            <p:cNvSpPr txBox="1"/>
            <p:nvPr/>
          </p:nvSpPr>
          <p:spPr>
            <a:xfrm>
              <a:off x="7711440" y="4714240"/>
              <a:ext cx="1320800" cy="314960"/>
            </a:xfrm>
            <a:prstGeom prst="rect">
              <a:avLst/>
            </a:prstGeom>
            <a:noFill/>
          </p:spPr>
          <p:txBody>
            <a:bodyPr wrap="none" lIns="0" rIns="0" tIns="0" bIns="0" anchor="ctr">
              <a:spAutoFit/>
            </a:bodyPr>
            <a:lstStyle/>
            <a:p>
              <a:pPr algn="ctr">
                <a:lnSpc>
                  <a:spcPct val="103000"/>
                </a:lnSpc>
                <a:spcBef>
                  <a:spcPts val="0"/>
                </a:spcBef>
                <a:spcAft>
                  <a:spcPts val="0"/>
                </a:spcAft>
              </a:pPr>
              <a:r>
                <a:rPr sz="1280" b="0" i="0">
                  <a:solidFill>
                    <a:srgbClr val="23324A"/>
                  </a:solidFill>
                  <a:latin typeface="Arial"/>
                </a:rPr>
                <a:t>Native tokens</a:t>
              </a:r>
            </a:p>
          </p:txBody>
        </p:sp>
        <p:grpSp>
          <p:nvGrpSpPr>
            <p:cNvPr id="302" name="New-shot native image tokens"/>
            <p:cNvGrpSpPr/>
            <p:nvPr/>
          </p:nvGrpSpPr>
          <p:grpSpPr>
            <a:xfrm>
              <a:off x="7874000" y="5130800"/>
              <a:ext cx="294640" cy="355600"/>
              <a:chOff x="7874000" y="5130800"/>
              <a:chExt cx="294640" cy="355600"/>
            </a:xfrm>
          </p:grpSpPr>
          <p:sp>
            <p:nvSpPr>
              <p:cNvPr id="303" name="New-shot native image tokens 1"/>
              <p:cNvSpPr/>
              <p:nvPr/>
            </p:nvSpPr>
            <p:spPr>
              <a:xfrm>
                <a:off x="7874000" y="5130800"/>
                <a:ext cx="121920" cy="355600"/>
              </a:xfrm>
              <a:prstGeom prst="roundRect">
                <a:avLst>
                  <a:gd name="adj" fmla="val 16666"/>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Token highlight"/>
              <p:cNvSpPr/>
              <p:nvPr/>
            </p:nvSpPr>
            <p:spPr>
              <a:xfrm>
                <a:off x="7894320" y="5151120"/>
                <a:ext cx="25603" cy="314960"/>
              </a:xfrm>
              <a:prstGeom prst="roundRect">
                <a:avLst>
                  <a:gd name="adj" fmla="val 39682"/>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New-shot native image tokens 2"/>
              <p:cNvSpPr/>
              <p:nvPr/>
            </p:nvSpPr>
            <p:spPr>
              <a:xfrm>
                <a:off x="8046720" y="5130800"/>
                <a:ext cx="121920" cy="355600"/>
              </a:xfrm>
              <a:prstGeom prst="roundRect">
                <a:avLst>
                  <a:gd name="adj" fmla="val 16666"/>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Token highlight"/>
              <p:cNvSpPr/>
              <p:nvPr/>
            </p:nvSpPr>
            <p:spPr>
              <a:xfrm>
                <a:off x="8067040" y="5151120"/>
                <a:ext cx="25603" cy="314960"/>
              </a:xfrm>
              <a:prstGeom prst="roundRect">
                <a:avLst>
                  <a:gd name="adj" fmla="val 39682"/>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07" name="New-shot native human prompt"/>
            <p:cNvGrpSpPr/>
            <p:nvPr/>
          </p:nvGrpSpPr>
          <p:grpSpPr>
            <a:xfrm>
              <a:off x="8219440" y="5130800"/>
              <a:ext cx="121920" cy="355600"/>
              <a:chOff x="8219440" y="5130800"/>
              <a:chExt cx="121920" cy="355600"/>
            </a:xfrm>
          </p:grpSpPr>
          <p:sp>
            <p:nvSpPr>
              <p:cNvPr id="308" name="New-shot native human prompt 1"/>
              <p:cNvSpPr/>
              <p:nvPr/>
            </p:nvSpPr>
            <p:spPr>
              <a:xfrm>
                <a:off x="8219440" y="5130800"/>
                <a:ext cx="121920" cy="355600"/>
              </a:xfrm>
              <a:prstGeom prst="roundRect">
                <a:avLst>
                  <a:gd name="adj" fmla="val 16666"/>
                </a:avLst>
              </a:prstGeom>
              <a:solidFill>
                <a:srgbClr val="D9CEF0"/>
              </a:solidFill>
              <a:ln w="9652">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Token highlight"/>
              <p:cNvSpPr/>
              <p:nvPr/>
            </p:nvSpPr>
            <p:spPr>
              <a:xfrm>
                <a:off x="8239760" y="5151120"/>
                <a:ext cx="25603" cy="314960"/>
              </a:xfrm>
              <a:prstGeom prst="roundRect">
                <a:avLst>
                  <a:gd name="adj" fmla="val 39682"/>
                </a:avLst>
              </a:prstGeom>
              <a:solidFill>
                <a:srgbClr val="EDE8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10" name="New-shot native camera token"/>
            <p:cNvGrpSpPr/>
            <p:nvPr/>
          </p:nvGrpSpPr>
          <p:grpSpPr>
            <a:xfrm>
              <a:off x="8392160" y="5130800"/>
              <a:ext cx="121920" cy="355600"/>
              <a:chOff x="8392160" y="5130800"/>
              <a:chExt cx="121920" cy="355600"/>
            </a:xfrm>
          </p:grpSpPr>
          <p:sp>
            <p:nvSpPr>
              <p:cNvPr id="311" name="New-shot native camera token 1"/>
              <p:cNvSpPr/>
              <p:nvPr/>
            </p:nvSpPr>
            <p:spPr>
              <a:xfrm>
                <a:off x="8392160" y="5130800"/>
                <a:ext cx="121920" cy="355600"/>
              </a:xfrm>
              <a:prstGeom prst="roundRect">
                <a:avLst>
                  <a:gd name="adj" fmla="val 16666"/>
                </a:avLst>
              </a:prstGeom>
              <a:solidFill>
                <a:srgbClr val="BFE0DD"/>
              </a:solidFill>
              <a:ln w="9652">
                <a:solidFill>
                  <a:srgbClr val="198F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Token highlight"/>
              <p:cNvSpPr/>
              <p:nvPr/>
            </p:nvSpPr>
            <p:spPr>
              <a:xfrm>
                <a:off x="8412480" y="5151120"/>
                <a:ext cx="25603" cy="314960"/>
              </a:xfrm>
              <a:prstGeom prst="roundRect">
                <a:avLst>
                  <a:gd name="adj" fmla="val 39682"/>
                </a:avLst>
              </a:prstGeom>
              <a:solidFill>
                <a:srgbClr val="E1F0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13" name="Shared-weight decoder"/>
            <p:cNvGrpSpPr/>
            <p:nvPr/>
          </p:nvGrpSpPr>
          <p:grpSpPr>
            <a:xfrm>
              <a:off x="9103360" y="4836160"/>
              <a:ext cx="1341120" cy="934720"/>
              <a:chOff x="9103360" y="4836160"/>
              <a:chExt cx="1341120" cy="934720"/>
            </a:xfrm>
          </p:grpSpPr>
          <p:sp>
            <p:nvSpPr>
              <p:cNvPr id="314" name="Shared decoder body"/>
              <p:cNvSpPr/>
              <p:nvPr/>
            </p:nvSpPr>
            <p:spPr>
              <a:xfrm>
                <a:off x="9103360" y="4836160"/>
                <a:ext cx="1341120" cy="934720"/>
              </a:xfrm>
              <a:custGeom>
                <a:avLst/>
                <a:gdLst/>
                <a:ahLst/>
                <a:cxnLst/>
                <a:rect l="l" t="t" r="r" b="b"/>
                <a:pathLst>
                  <a:path w="132" h="92">
                    <a:moveTo>
                      <a:pt x="0" y="0"/>
                    </a:moveTo>
                    <a:lnTo>
                      <a:pt x="66" y="11"/>
                    </a:lnTo>
                    <a:lnTo>
                      <a:pt x="132" y="0"/>
                    </a:lnTo>
                    <a:lnTo>
                      <a:pt x="132" y="92"/>
                    </a:lnTo>
                    <a:lnTo>
                      <a:pt x="66" y="81"/>
                    </a:lnTo>
                    <a:lnTo>
                      <a:pt x="0" y="92"/>
                    </a:lnTo>
                    <a:close/>
                  </a:path>
                </a:pathLst>
              </a:custGeom>
              <a:solidFill>
                <a:srgbClr val="E6EDF6"/>
              </a:solidFill>
              <a:ln w="12192">
                <a:solidFill>
                  <a:srgbClr val="91A5B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Text: Recurrent decoder"/>
              <p:cNvSpPr txBox="1"/>
              <p:nvPr/>
            </p:nvSpPr>
            <p:spPr>
              <a:xfrm>
                <a:off x="9174480" y="5029200"/>
                <a:ext cx="1198880" cy="568960"/>
              </a:xfrm>
              <a:prstGeom prst="rect">
                <a:avLst/>
              </a:prstGeom>
              <a:noFill/>
            </p:spPr>
            <p:txBody>
              <a:bodyPr wrap="none" lIns="0" rIns="0" tIns="0" bIns="0" anchor="ctr">
                <a:spAutoFit/>
              </a:bodyPr>
              <a:lstStyle/>
              <a:p>
                <a:pPr algn="ctr">
                  <a:lnSpc>
                    <a:spcPct val="103000"/>
                  </a:lnSpc>
                  <a:spcBef>
                    <a:spcPts val="0"/>
                  </a:spcBef>
                  <a:spcAft>
                    <a:spcPts val="0"/>
                  </a:spcAft>
                </a:pPr>
                <a:r>
                  <a:rPr sz="1520" b="1" i="0">
                    <a:solidFill>
                      <a:srgbClr val="23324A"/>
                    </a:solidFill>
                    <a:latin typeface="Arial"/>
                  </a:rPr>
                  <a:t>Recurrent</a:t>
                </a:r>
              </a:p>
              <a:p>
                <a:pPr algn="ctr">
                  <a:lnSpc>
                    <a:spcPct val="103000"/>
                  </a:lnSpc>
                  <a:spcBef>
                    <a:spcPts val="0"/>
                  </a:spcBef>
                  <a:spcAft>
                    <a:spcPts val="0"/>
                  </a:spcAft>
                </a:pPr>
                <a:r>
                  <a:rPr sz="1520" b="1" i="0">
                    <a:solidFill>
                      <a:srgbClr val="23324A"/>
                    </a:solidFill>
                    <a:latin typeface="Arial"/>
                  </a:rPr>
                  <a:t>decoder</a:t>
                </a:r>
              </a:p>
            </p:txBody>
          </p:sp>
          <p:grpSp>
            <p:nvGrpSpPr>
              <p:cNvPr id="316" name="Frozen symbol"/>
              <p:cNvGrpSpPr/>
              <p:nvPr/>
            </p:nvGrpSpPr>
            <p:grpSpPr>
              <a:xfrm>
                <a:off x="10281920" y="4925607"/>
                <a:ext cx="121920" cy="105586"/>
                <a:chOff x="10281920" y="4925607"/>
                <a:chExt cx="121920" cy="105586"/>
              </a:xfrm>
            </p:grpSpPr>
            <p:grpSp>
              <p:nvGrpSpPr>
                <p:cNvPr id="317" name="Connector"/>
                <p:cNvGrpSpPr/>
                <p:nvPr/>
              </p:nvGrpSpPr>
              <p:grpSpPr>
                <a:xfrm>
                  <a:off x="10281920" y="4978400"/>
                  <a:ext cx="121920" cy="0"/>
                  <a:chOff x="10281920" y="4978400"/>
                  <a:chExt cx="121920" cy="0"/>
                </a:xfrm>
              </p:grpSpPr>
              <p:cxnSp>
                <p:nvCxnSpPr>
                  <p:cNvPr id="318" name="Connector segment 1"/>
                  <p:cNvCxnSpPr/>
                  <p:nvPr/>
                </p:nvCxnSpPr>
                <p:spPr>
                  <a:xfrm>
                    <a:off x="10281920" y="4978400"/>
                    <a:ext cx="121920" cy="0"/>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19" name="Connector"/>
                <p:cNvGrpSpPr/>
                <p:nvPr/>
              </p:nvGrpSpPr>
              <p:grpSpPr>
                <a:xfrm>
                  <a:off x="10281920" y="4962905"/>
                  <a:ext cx="20382" cy="15495"/>
                  <a:chOff x="10281920" y="4962905"/>
                  <a:chExt cx="20382" cy="15495"/>
                </a:xfrm>
              </p:grpSpPr>
              <p:cxnSp>
                <p:nvCxnSpPr>
                  <p:cNvPr id="320" name="Connector segment 1"/>
                  <p:cNvCxnSpPr/>
                  <p:nvPr/>
                </p:nvCxnSpPr>
                <p:spPr>
                  <a:xfrm flipV="1">
                    <a:off x="10281920" y="4962905"/>
                    <a:ext cx="20382" cy="15495"/>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21" name="Connector"/>
                <p:cNvGrpSpPr/>
                <p:nvPr/>
              </p:nvGrpSpPr>
              <p:grpSpPr>
                <a:xfrm>
                  <a:off x="10281920" y="4978400"/>
                  <a:ext cx="20382" cy="15495"/>
                  <a:chOff x="10281920" y="4978400"/>
                  <a:chExt cx="20382" cy="15495"/>
                </a:xfrm>
              </p:grpSpPr>
              <p:cxnSp>
                <p:nvCxnSpPr>
                  <p:cNvPr id="322" name="Connector segment 1"/>
                  <p:cNvCxnSpPr/>
                  <p:nvPr/>
                </p:nvCxnSpPr>
                <p:spPr>
                  <a:xfrm>
                    <a:off x="10281920" y="4978400"/>
                    <a:ext cx="20382" cy="15495"/>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23" name="Connector"/>
                <p:cNvGrpSpPr/>
                <p:nvPr/>
              </p:nvGrpSpPr>
              <p:grpSpPr>
                <a:xfrm>
                  <a:off x="10383458" y="4978400"/>
                  <a:ext cx="20382" cy="15495"/>
                  <a:chOff x="10383458" y="4978400"/>
                  <a:chExt cx="20382" cy="15495"/>
                </a:xfrm>
              </p:grpSpPr>
              <p:cxnSp>
                <p:nvCxnSpPr>
                  <p:cNvPr id="324" name="Connector segment 1"/>
                  <p:cNvCxnSpPr/>
                  <p:nvPr/>
                </p:nvCxnSpPr>
                <p:spPr>
                  <a:xfrm flipH="1">
                    <a:off x="10383458" y="4978400"/>
                    <a:ext cx="20382" cy="15495"/>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25" name="Connector"/>
                <p:cNvGrpSpPr/>
                <p:nvPr/>
              </p:nvGrpSpPr>
              <p:grpSpPr>
                <a:xfrm>
                  <a:off x="10383458" y="4962905"/>
                  <a:ext cx="20382" cy="15495"/>
                  <a:chOff x="10383458" y="4962905"/>
                  <a:chExt cx="20382" cy="15495"/>
                </a:xfrm>
              </p:grpSpPr>
              <p:cxnSp>
                <p:nvCxnSpPr>
                  <p:cNvPr id="326" name="Connector segment 1"/>
                  <p:cNvCxnSpPr/>
                  <p:nvPr/>
                </p:nvCxnSpPr>
                <p:spPr>
                  <a:xfrm flipH="1" flipV="1">
                    <a:off x="10383458" y="4962905"/>
                    <a:ext cx="20382" cy="15495"/>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27" name="Connector"/>
                <p:cNvGrpSpPr/>
                <p:nvPr/>
              </p:nvGrpSpPr>
              <p:grpSpPr>
                <a:xfrm>
                  <a:off x="10312400" y="4925607"/>
                  <a:ext cx="60960" cy="105586"/>
                  <a:chOff x="10312400" y="4925607"/>
                  <a:chExt cx="60960" cy="105586"/>
                </a:xfrm>
              </p:grpSpPr>
              <p:cxnSp>
                <p:nvCxnSpPr>
                  <p:cNvPr id="328" name="Connector segment 1"/>
                  <p:cNvCxnSpPr/>
                  <p:nvPr/>
                </p:nvCxnSpPr>
                <p:spPr>
                  <a:xfrm>
                    <a:off x="10312400" y="4925607"/>
                    <a:ext cx="60960" cy="105586"/>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29" name="Connector"/>
                <p:cNvGrpSpPr/>
                <p:nvPr/>
              </p:nvGrpSpPr>
              <p:grpSpPr>
                <a:xfrm>
                  <a:off x="10312400" y="4925607"/>
                  <a:ext cx="23610" cy="9904"/>
                  <a:chOff x="10312400" y="4925607"/>
                  <a:chExt cx="23610" cy="9904"/>
                </a:xfrm>
              </p:grpSpPr>
              <p:cxnSp>
                <p:nvCxnSpPr>
                  <p:cNvPr id="330" name="Connector segment 1"/>
                  <p:cNvCxnSpPr/>
                  <p:nvPr/>
                </p:nvCxnSpPr>
                <p:spPr>
                  <a:xfrm>
                    <a:off x="10312400" y="4925607"/>
                    <a:ext cx="23610" cy="9904"/>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31" name="Connector"/>
                <p:cNvGrpSpPr/>
                <p:nvPr/>
              </p:nvGrpSpPr>
              <p:grpSpPr>
                <a:xfrm>
                  <a:off x="10309172" y="4925607"/>
                  <a:ext cx="3228" cy="25399"/>
                  <a:chOff x="10309172" y="4925607"/>
                  <a:chExt cx="3228" cy="25399"/>
                </a:xfrm>
              </p:grpSpPr>
              <p:cxnSp>
                <p:nvCxnSpPr>
                  <p:cNvPr id="332" name="Connector segment 1"/>
                  <p:cNvCxnSpPr/>
                  <p:nvPr/>
                </p:nvCxnSpPr>
                <p:spPr>
                  <a:xfrm flipH="1">
                    <a:off x="10309172" y="4925607"/>
                    <a:ext cx="3228" cy="2539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33" name="Connector"/>
                <p:cNvGrpSpPr/>
                <p:nvPr/>
              </p:nvGrpSpPr>
              <p:grpSpPr>
                <a:xfrm>
                  <a:off x="10349750" y="5021289"/>
                  <a:ext cx="23610" cy="9904"/>
                  <a:chOff x="10349750" y="5021289"/>
                  <a:chExt cx="23610" cy="9904"/>
                </a:xfrm>
              </p:grpSpPr>
              <p:cxnSp>
                <p:nvCxnSpPr>
                  <p:cNvPr id="334" name="Connector segment 1"/>
                  <p:cNvCxnSpPr/>
                  <p:nvPr/>
                </p:nvCxnSpPr>
                <p:spPr>
                  <a:xfrm flipH="1" flipV="1">
                    <a:off x="10349750" y="5021289"/>
                    <a:ext cx="23610" cy="9904"/>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35" name="Connector"/>
                <p:cNvGrpSpPr/>
                <p:nvPr/>
              </p:nvGrpSpPr>
              <p:grpSpPr>
                <a:xfrm>
                  <a:off x="10373360" y="5005794"/>
                  <a:ext cx="3228" cy="25399"/>
                  <a:chOff x="10373360" y="5005794"/>
                  <a:chExt cx="3228" cy="25399"/>
                </a:xfrm>
              </p:grpSpPr>
              <p:cxnSp>
                <p:nvCxnSpPr>
                  <p:cNvPr id="336" name="Connector segment 1"/>
                  <p:cNvCxnSpPr/>
                  <p:nvPr/>
                </p:nvCxnSpPr>
                <p:spPr>
                  <a:xfrm flipV="1">
                    <a:off x="10373360" y="5005794"/>
                    <a:ext cx="3228" cy="2539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37" name="Connector"/>
                <p:cNvGrpSpPr/>
                <p:nvPr/>
              </p:nvGrpSpPr>
              <p:grpSpPr>
                <a:xfrm>
                  <a:off x="10312400" y="4925607"/>
                  <a:ext cx="60960" cy="105586"/>
                  <a:chOff x="10312400" y="4925607"/>
                  <a:chExt cx="60960" cy="105586"/>
                </a:xfrm>
              </p:grpSpPr>
              <p:cxnSp>
                <p:nvCxnSpPr>
                  <p:cNvPr id="338" name="Connector segment 1"/>
                  <p:cNvCxnSpPr/>
                  <p:nvPr/>
                </p:nvCxnSpPr>
                <p:spPr>
                  <a:xfrm flipH="1">
                    <a:off x="10312400" y="4925607"/>
                    <a:ext cx="60960" cy="105586"/>
                  </a:xfrm>
                  <a:prstGeom prst="line">
                    <a:avLst/>
                  </a:prstGeom>
                  <a:ln w="11176">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39" name="Connector"/>
                <p:cNvGrpSpPr/>
                <p:nvPr/>
              </p:nvGrpSpPr>
              <p:grpSpPr>
                <a:xfrm>
                  <a:off x="10373360" y="4925607"/>
                  <a:ext cx="3228" cy="25399"/>
                  <a:chOff x="10373360" y="4925607"/>
                  <a:chExt cx="3228" cy="25399"/>
                </a:xfrm>
              </p:grpSpPr>
              <p:cxnSp>
                <p:nvCxnSpPr>
                  <p:cNvPr id="340" name="Connector segment 1"/>
                  <p:cNvCxnSpPr/>
                  <p:nvPr/>
                </p:nvCxnSpPr>
                <p:spPr>
                  <a:xfrm>
                    <a:off x="10373360" y="4925607"/>
                    <a:ext cx="3228" cy="2539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41" name="Connector"/>
                <p:cNvGrpSpPr/>
                <p:nvPr/>
              </p:nvGrpSpPr>
              <p:grpSpPr>
                <a:xfrm>
                  <a:off x="10349750" y="4925607"/>
                  <a:ext cx="23610" cy="9904"/>
                  <a:chOff x="10349750" y="4925607"/>
                  <a:chExt cx="23610" cy="9904"/>
                </a:xfrm>
              </p:grpSpPr>
              <p:cxnSp>
                <p:nvCxnSpPr>
                  <p:cNvPr id="342" name="Connector segment 1"/>
                  <p:cNvCxnSpPr/>
                  <p:nvPr/>
                </p:nvCxnSpPr>
                <p:spPr>
                  <a:xfrm flipH="1">
                    <a:off x="10349750" y="4925607"/>
                    <a:ext cx="23610" cy="9904"/>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43" name="Connector"/>
                <p:cNvGrpSpPr/>
                <p:nvPr/>
              </p:nvGrpSpPr>
              <p:grpSpPr>
                <a:xfrm>
                  <a:off x="10309172" y="5005794"/>
                  <a:ext cx="3228" cy="25399"/>
                  <a:chOff x="10309172" y="5005794"/>
                  <a:chExt cx="3228" cy="25399"/>
                </a:xfrm>
              </p:grpSpPr>
              <p:cxnSp>
                <p:nvCxnSpPr>
                  <p:cNvPr id="344" name="Connector segment 1"/>
                  <p:cNvCxnSpPr/>
                  <p:nvPr/>
                </p:nvCxnSpPr>
                <p:spPr>
                  <a:xfrm flipH="1" flipV="1">
                    <a:off x="10309172" y="5005794"/>
                    <a:ext cx="3228" cy="25399"/>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45" name="Connector"/>
                <p:cNvGrpSpPr/>
                <p:nvPr/>
              </p:nvGrpSpPr>
              <p:grpSpPr>
                <a:xfrm>
                  <a:off x="10312400" y="5021289"/>
                  <a:ext cx="23610" cy="9904"/>
                  <a:chOff x="10312400" y="5021289"/>
                  <a:chExt cx="23610" cy="9904"/>
                </a:xfrm>
              </p:grpSpPr>
              <p:cxnSp>
                <p:nvCxnSpPr>
                  <p:cNvPr id="346" name="Connector segment 1"/>
                  <p:cNvCxnSpPr/>
                  <p:nvPr/>
                </p:nvCxnSpPr>
                <p:spPr>
                  <a:xfrm flipV="1">
                    <a:off x="10312400" y="5021289"/>
                    <a:ext cx="23610" cy="9904"/>
                  </a:xfrm>
                  <a:prstGeom prst="line">
                    <a:avLst/>
                  </a:prstGeom>
                  <a:ln w="9652">
                    <a:solidFill>
                      <a:srgbClr val="337BCD"/>
                    </a:solidFill>
                  </a:ln>
                  <a:effectLst/>
                </p:spPr>
                <p:style>
                  <a:lnRef idx="2">
                    <a:schemeClr val="accent1"/>
                  </a:lnRef>
                  <a:fillRef idx="0">
                    <a:schemeClr val="accent1"/>
                  </a:fillRef>
                  <a:effectRef idx="0">
                    <a:schemeClr val="accent1"/>
                  </a:effectRef>
                  <a:fontRef idx="minor">
                    <a:schemeClr val="tx1"/>
                  </a:fontRef>
                </p:style>
              </p:cxnSp>
            </p:grpSp>
          </p:grpSp>
        </p:grpSp>
        <p:grpSp>
          <p:nvGrpSpPr>
            <p:cNvPr id="347" name="Independent state to reconstruction decoder"/>
            <p:cNvGrpSpPr/>
            <p:nvPr/>
          </p:nvGrpSpPr>
          <p:grpSpPr>
            <a:xfrm>
              <a:off x="7538720" y="4500880"/>
              <a:ext cx="2235200" cy="528320"/>
              <a:chOff x="7538720" y="4500880"/>
              <a:chExt cx="2235200" cy="528320"/>
            </a:xfrm>
          </p:grpSpPr>
          <p:cxnSp>
            <p:nvCxnSpPr>
              <p:cNvPr id="348" name="Independent state to reconstruction decoder segment 1"/>
              <p:cNvCxnSpPr/>
              <p:nvPr/>
            </p:nvCxnSpPr>
            <p:spPr>
              <a:xfrm>
                <a:off x="7538720" y="5029200"/>
                <a:ext cx="101600" cy="0"/>
              </a:xfrm>
              <a:prstGeom prst="line">
                <a:avLst/>
              </a:prstGeom>
              <a:ln w="16256">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349" name="Independent state to reconstruction decoder segment 2"/>
              <p:cNvCxnSpPr/>
              <p:nvPr/>
            </p:nvCxnSpPr>
            <p:spPr>
              <a:xfrm flipV="1">
                <a:off x="7640320" y="4500880"/>
                <a:ext cx="0" cy="528320"/>
              </a:xfrm>
              <a:prstGeom prst="line">
                <a:avLst/>
              </a:prstGeom>
              <a:ln w="16256">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350" name="Independent state to reconstruction decoder segment 3"/>
              <p:cNvCxnSpPr/>
              <p:nvPr/>
            </p:nvCxnSpPr>
            <p:spPr>
              <a:xfrm>
                <a:off x="7640320" y="4500880"/>
                <a:ext cx="2133600" cy="0"/>
              </a:xfrm>
              <a:prstGeom prst="line">
                <a:avLst/>
              </a:prstGeom>
              <a:ln w="16256">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351" name="Independent state to reconstruction decoder segment 4"/>
              <p:cNvCxnSpPr/>
              <p:nvPr/>
            </p:nvCxnSpPr>
            <p:spPr>
              <a:xfrm>
                <a:off x="9773920" y="4500880"/>
                <a:ext cx="0" cy="335280"/>
              </a:xfrm>
              <a:prstGeom prst="line">
                <a:avLst/>
              </a:prstGeom>
              <a:ln w="16256">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352" name="Native tokens into reconstruction decoder"/>
            <p:cNvGrpSpPr/>
            <p:nvPr/>
          </p:nvGrpSpPr>
          <p:grpSpPr>
            <a:xfrm>
              <a:off x="8524240" y="5313680"/>
              <a:ext cx="579120" cy="0"/>
              <a:chOff x="8524240" y="5313680"/>
              <a:chExt cx="579120" cy="0"/>
            </a:xfrm>
          </p:grpSpPr>
          <p:cxnSp>
            <p:nvCxnSpPr>
              <p:cNvPr id="353" name="Native tokens into reconstruction decoder segment 1"/>
              <p:cNvCxnSpPr/>
              <p:nvPr/>
            </p:nvCxnSpPr>
            <p:spPr>
              <a:xfrm>
                <a:off x="8524240" y="5313680"/>
                <a:ext cx="579120" cy="0"/>
              </a:xfrm>
              <a:prstGeom prst="line">
                <a:avLst/>
              </a:prstGeom>
              <a:ln w="19304">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354" name="Native input tokens into reconstruction path"/>
            <p:cNvGrpSpPr/>
            <p:nvPr/>
          </p:nvGrpSpPr>
          <p:grpSpPr>
            <a:xfrm>
              <a:off x="6075680" y="5496560"/>
              <a:ext cx="2204720" cy="538480"/>
              <a:chOff x="6075680" y="5496560"/>
              <a:chExt cx="2204720" cy="538480"/>
            </a:xfrm>
          </p:grpSpPr>
          <p:cxnSp>
            <p:nvCxnSpPr>
              <p:cNvPr id="355" name="Native input tokens into reconstruction path segment 1"/>
              <p:cNvCxnSpPr/>
              <p:nvPr/>
            </p:nvCxnSpPr>
            <p:spPr>
              <a:xfrm>
                <a:off x="6075680" y="6035040"/>
                <a:ext cx="2204720" cy="0"/>
              </a:xfrm>
              <a:prstGeom prst="line">
                <a:avLst/>
              </a:prstGeom>
              <a:ln w="16764">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356" name="Native input tokens into reconstruction path segment 2"/>
              <p:cNvCxnSpPr/>
              <p:nvPr/>
            </p:nvCxnSpPr>
            <p:spPr>
              <a:xfrm flipV="1">
                <a:off x="8280400" y="5496560"/>
                <a:ext cx="0" cy="538480"/>
              </a:xfrm>
              <a:prstGeom prst="line">
                <a:avLst/>
              </a:prstGeom>
              <a:ln w="16764">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357" name="New-shot prediction and state outputs"/>
            <p:cNvSpPr/>
            <p:nvPr/>
          </p:nvSpPr>
          <p:spPr>
            <a:xfrm>
              <a:off x="10749280" y="4399280"/>
              <a:ext cx="2479040" cy="1849120"/>
            </a:xfrm>
            <a:prstGeom prst="roundRect">
              <a:avLst>
                <a:gd name="adj" fmla="val 4395"/>
              </a:avLst>
            </a:prstGeom>
            <a:solidFill>
              <a:srgbClr val="FFFFFF"/>
            </a:solidFill>
            <a:ln w="10668">
              <a:solidFill>
                <a:srgbClr val="AED0F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58" name="Output row separator one"/>
            <p:cNvGrpSpPr/>
            <p:nvPr/>
          </p:nvGrpSpPr>
          <p:grpSpPr>
            <a:xfrm>
              <a:off x="10759440" y="4998720"/>
              <a:ext cx="2458720" cy="0"/>
              <a:chOff x="10759440" y="4998720"/>
              <a:chExt cx="2458720" cy="0"/>
            </a:xfrm>
          </p:grpSpPr>
          <p:cxnSp>
            <p:nvCxnSpPr>
              <p:cNvPr id="359" name="Output row separator one segment 1"/>
              <p:cNvCxnSpPr/>
              <p:nvPr/>
            </p:nvCxnSpPr>
            <p:spPr>
              <a:xfrm>
                <a:off x="10759440" y="4998720"/>
                <a:ext cx="2458720" cy="0"/>
              </a:xfrm>
              <a:prstGeom prst="line">
                <a:avLst/>
              </a:prstGeom>
              <a:ln w="9144">
                <a:solidFill>
                  <a:srgbClr val="AED0F0"/>
                </a:solidFill>
              </a:ln>
              <a:effectLst/>
            </p:spPr>
            <p:style>
              <a:lnRef idx="2">
                <a:schemeClr val="accent1"/>
              </a:lnRef>
              <a:fillRef idx="0">
                <a:schemeClr val="accent1"/>
              </a:fillRef>
              <a:effectRef idx="0">
                <a:schemeClr val="accent1"/>
              </a:effectRef>
              <a:fontRef idx="minor">
                <a:schemeClr val="tx1"/>
              </a:fontRef>
            </p:style>
          </p:cxnSp>
        </p:grpSp>
        <p:grpSp>
          <p:nvGrpSpPr>
            <p:cNvPr id="360" name="Output row separator two"/>
            <p:cNvGrpSpPr/>
            <p:nvPr/>
          </p:nvGrpSpPr>
          <p:grpSpPr>
            <a:xfrm>
              <a:off x="10759440" y="5628640"/>
              <a:ext cx="2458720" cy="0"/>
              <a:chOff x="10759440" y="5628640"/>
              <a:chExt cx="2458720" cy="0"/>
            </a:xfrm>
          </p:grpSpPr>
          <p:cxnSp>
            <p:nvCxnSpPr>
              <p:cNvPr id="361" name="Output row separator two segment 1"/>
              <p:cNvCxnSpPr/>
              <p:nvPr/>
            </p:nvCxnSpPr>
            <p:spPr>
              <a:xfrm>
                <a:off x="10759440" y="5628640"/>
                <a:ext cx="2458720" cy="0"/>
              </a:xfrm>
              <a:prstGeom prst="line">
                <a:avLst/>
              </a:prstGeom>
              <a:ln w="9144">
                <a:solidFill>
                  <a:srgbClr val="AED0F0"/>
                </a:solidFill>
              </a:ln>
              <a:effectLst/>
            </p:spPr>
            <p:style>
              <a:lnRef idx="2">
                <a:schemeClr val="accent1"/>
              </a:lnRef>
              <a:fillRef idx="0">
                <a:schemeClr val="accent1"/>
              </a:fillRef>
              <a:effectRef idx="0">
                <a:schemeClr val="accent1"/>
              </a:effectRef>
              <a:fontRef idx="minor">
                <a:schemeClr val="tx1"/>
              </a:fontRef>
            </p:style>
          </p:cxnSp>
        </p:grpSp>
        <p:grpSp>
          <p:nvGrpSpPr>
            <p:cNvPr id="362" name="Camera output branch"/>
            <p:cNvGrpSpPr/>
            <p:nvPr/>
          </p:nvGrpSpPr>
          <p:grpSpPr>
            <a:xfrm>
              <a:off x="10444480" y="4704080"/>
              <a:ext cx="304800" cy="609600"/>
              <a:chOff x="10444480" y="4704080"/>
              <a:chExt cx="304800" cy="609600"/>
            </a:xfrm>
          </p:grpSpPr>
          <p:cxnSp>
            <p:nvCxnSpPr>
              <p:cNvPr id="363" name="Camera output branch segment 1"/>
              <p:cNvCxnSpPr/>
              <p:nvPr/>
            </p:nvCxnSpPr>
            <p:spPr>
              <a:xfrm>
                <a:off x="10444480" y="5313680"/>
                <a:ext cx="162560" cy="0"/>
              </a:xfrm>
              <a:prstGeom prst="line">
                <a:avLst/>
              </a:prstGeom>
              <a:ln w="16256">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364" name="Camera output branch segment 2"/>
              <p:cNvCxnSpPr/>
              <p:nvPr/>
            </p:nvCxnSpPr>
            <p:spPr>
              <a:xfrm flipV="1">
                <a:off x="10607040" y="4704080"/>
                <a:ext cx="0" cy="609600"/>
              </a:xfrm>
              <a:prstGeom prst="line">
                <a:avLst/>
              </a:prstGeom>
              <a:ln w="16256">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365" name="Camera output branch segment 3"/>
              <p:cNvCxnSpPr/>
              <p:nvPr/>
            </p:nvCxnSpPr>
            <p:spPr>
              <a:xfrm>
                <a:off x="10607040" y="4704080"/>
                <a:ext cx="142240" cy="0"/>
              </a:xfrm>
              <a:prstGeom prst="line">
                <a:avLst/>
              </a:prstGeom>
              <a:ln w="16256">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366" name="Human output branch"/>
            <p:cNvGrpSpPr/>
            <p:nvPr/>
          </p:nvGrpSpPr>
          <p:grpSpPr>
            <a:xfrm>
              <a:off x="10607040" y="5313680"/>
              <a:ext cx="142240" cy="0"/>
              <a:chOff x="10607040" y="5313680"/>
              <a:chExt cx="142240" cy="0"/>
            </a:xfrm>
          </p:grpSpPr>
          <p:cxnSp>
            <p:nvCxnSpPr>
              <p:cNvPr id="367" name="Human output branch segment 1"/>
              <p:cNvCxnSpPr/>
              <p:nvPr/>
            </p:nvCxnSpPr>
            <p:spPr>
              <a:xfrm>
                <a:off x="10607040" y="5313680"/>
                <a:ext cx="142240" cy="0"/>
              </a:xfrm>
              <a:prstGeom prst="line">
                <a:avLst/>
              </a:prstGeom>
              <a:ln w="16256">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368" name="Recurrent state output branch"/>
            <p:cNvGrpSpPr/>
            <p:nvPr/>
          </p:nvGrpSpPr>
          <p:grpSpPr>
            <a:xfrm>
              <a:off x="10607040" y="5313680"/>
              <a:ext cx="142240" cy="629920"/>
              <a:chOff x="10607040" y="5313680"/>
              <a:chExt cx="142240" cy="629920"/>
            </a:xfrm>
          </p:grpSpPr>
          <p:cxnSp>
            <p:nvCxnSpPr>
              <p:cNvPr id="369" name="Recurrent state output branch segment 1"/>
              <p:cNvCxnSpPr/>
              <p:nvPr/>
            </p:nvCxnSpPr>
            <p:spPr>
              <a:xfrm>
                <a:off x="10607040" y="5313680"/>
                <a:ext cx="0" cy="629920"/>
              </a:xfrm>
              <a:prstGeom prst="line">
                <a:avLst/>
              </a:prstGeom>
              <a:ln w="16256">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370" name="Recurrent state output branch segment 2"/>
              <p:cNvCxnSpPr/>
              <p:nvPr/>
            </p:nvCxnSpPr>
            <p:spPr>
              <a:xfrm>
                <a:off x="10607040" y="5943600"/>
                <a:ext cx="142240" cy="0"/>
              </a:xfrm>
              <a:prstGeom prst="line">
                <a:avLst/>
              </a:prstGeom>
              <a:ln w="16256">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371" name="Text: Camera"/>
            <p:cNvSpPr txBox="1"/>
            <p:nvPr/>
          </p:nvSpPr>
          <p:spPr>
            <a:xfrm>
              <a:off x="10881360" y="4541520"/>
              <a:ext cx="762000" cy="274320"/>
            </a:xfrm>
            <a:prstGeom prst="rect">
              <a:avLst/>
            </a:prstGeom>
            <a:noFill/>
          </p:spPr>
          <p:txBody>
            <a:bodyPr wrap="none" lIns="0" rIns="0" tIns="0" bIns="0" anchor="ctr">
              <a:spAutoFit/>
            </a:bodyPr>
            <a:lstStyle/>
            <a:p>
              <a:pPr algn="l">
                <a:lnSpc>
                  <a:spcPct val="103000"/>
                </a:lnSpc>
                <a:spcBef>
                  <a:spcPts val="0"/>
                </a:spcBef>
                <a:spcAft>
                  <a:spcPts val="0"/>
                </a:spcAft>
              </a:pPr>
              <a:r>
                <a:rPr sz="1440" b="0" i="0">
                  <a:solidFill>
                    <a:srgbClr val="23324A"/>
                  </a:solidFill>
                  <a:latin typeface="Arial"/>
                </a:rPr>
                <a:t>Camera</a:t>
              </a:r>
            </a:p>
          </p:txBody>
        </p:sp>
        <p:sp>
          <p:nvSpPr>
            <p:cNvPr id="372" name="Math C_b^r"/>
            <p:cNvSpPr txBox="1"/>
            <p:nvPr/>
          </p:nvSpPr>
          <p:spPr>
            <a:xfrm>
              <a:off x="11582400" y="4521200"/>
              <a:ext cx="660400" cy="355600"/>
            </a:xfrm>
            <a:prstGeom prst="rect">
              <a:avLst/>
            </a:prstGeom>
            <a:noFill/>
          </p:spPr>
          <p:txBody>
            <a:bodyPr wrap="none" lIns="0" rIns="0" tIns="0" bIns="0" anchor="ctr">
              <a:spAutoFit/>
            </a:bodyPr>
            <a:lstStyle/>
            <a:p>
              <a:pPr algn="ctr">
                <a:lnSpc>
                  <a:spcPct val="103000"/>
                </a:lnSpc>
                <a:spcBef>
                  <a:spcPts val="0"/>
                </a:spcBef>
                <a:spcAft>
                  <a:spcPts val="0"/>
                </a:spcAft>
              </a:pPr>
              <a:r>
                <a:rPr sz="2320" b="0" i="1">
                  <a:solidFill>
                    <a:srgbClr val="23324A"/>
                  </a:solidFill>
                  <a:latin typeface="Times New Roman"/>
                </a:rPr>
                <a:t>C</a:t>
              </a:r>
              <a:r>
                <a:rPr sz="1577" b="0" i="0" baseline="-24000">
                  <a:solidFill>
                    <a:srgbClr val="23324A"/>
                  </a:solidFill>
                  <a:latin typeface="Times New Roman"/>
                </a:rPr>
                <a:t>b</a:t>
              </a:r>
              <a:r>
                <a:rPr sz="1508" b="0" i="0" baseline="35000">
                  <a:solidFill>
                    <a:srgbClr val="23324A"/>
                  </a:solidFill>
                  <a:latin typeface="Times New Roman"/>
                </a:rPr>
                <a:t>r</a:t>
              </a:r>
            </a:p>
          </p:txBody>
        </p:sp>
        <p:grpSp>
          <p:nvGrpSpPr>
            <p:cNvPr id="373" name="New-shot local camera"/>
            <p:cNvGrpSpPr/>
            <p:nvPr/>
          </p:nvGrpSpPr>
          <p:grpSpPr>
            <a:xfrm>
              <a:off x="12527280" y="4567631"/>
              <a:ext cx="457200" cy="289459"/>
              <a:chOff x="12527280" y="4567631"/>
              <a:chExt cx="457200" cy="289459"/>
            </a:xfrm>
          </p:grpSpPr>
          <p:sp>
            <p:nvSpPr>
              <p:cNvPr id="374" name="Image plane"/>
              <p:cNvSpPr/>
              <p:nvPr/>
            </p:nvSpPr>
            <p:spPr>
              <a:xfrm>
                <a:off x="12832080" y="4572000"/>
                <a:ext cx="152400" cy="284480"/>
              </a:xfrm>
              <a:custGeom>
                <a:avLst/>
                <a:gdLst/>
                <a:ahLst/>
                <a:cxnLst/>
                <a:rect l="l" t="t" r="r" b="b"/>
                <a:pathLst>
                  <a:path w="15" h="28">
                    <a:moveTo>
                      <a:pt x="8" y="0"/>
                    </a:moveTo>
                    <a:lnTo>
                      <a:pt x="15" y="15"/>
                    </a:lnTo>
                    <a:lnTo>
                      <a:pt x="6" y="28"/>
                    </a:lnTo>
                    <a:lnTo>
                      <a:pt x="0" y="12"/>
                    </a:lnTo>
                    <a:close/>
                  </a:path>
                </a:pathLst>
              </a:custGeom>
              <a:solidFill>
                <a:srgbClr val="EFF4FB"/>
              </a:solidFill>
              <a:ln w="14223">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75" name="Connector"/>
              <p:cNvGrpSpPr/>
              <p:nvPr/>
            </p:nvGrpSpPr>
            <p:grpSpPr>
              <a:xfrm>
                <a:off x="12584989" y="4567631"/>
                <a:ext cx="330809" cy="187960"/>
                <a:chOff x="12584989" y="4567631"/>
                <a:chExt cx="330809" cy="187960"/>
              </a:xfrm>
            </p:grpSpPr>
            <p:cxnSp>
              <p:nvCxnSpPr>
                <p:cNvPr id="376" name="Connector segment 1"/>
                <p:cNvCxnSpPr/>
                <p:nvPr/>
              </p:nvCxnSpPr>
              <p:spPr>
                <a:xfrm flipV="1">
                  <a:off x="12584989" y="4567631"/>
                  <a:ext cx="330809" cy="187960"/>
                </a:xfrm>
                <a:prstGeom prst="line">
                  <a:avLst/>
                </a:prstGeom>
                <a:ln w="14223">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77" name="Connector"/>
              <p:cNvGrpSpPr/>
              <p:nvPr/>
            </p:nvGrpSpPr>
            <p:grpSpPr>
              <a:xfrm>
                <a:off x="12584989" y="4729277"/>
                <a:ext cx="398475" cy="26314"/>
                <a:chOff x="12584989" y="4729277"/>
                <a:chExt cx="398475" cy="26314"/>
              </a:xfrm>
            </p:grpSpPr>
            <p:cxnSp>
              <p:nvCxnSpPr>
                <p:cNvPr id="378" name="Connector segment 1"/>
                <p:cNvCxnSpPr/>
                <p:nvPr/>
              </p:nvCxnSpPr>
              <p:spPr>
                <a:xfrm flipV="1">
                  <a:off x="12584989" y="4729277"/>
                  <a:ext cx="398475" cy="26314"/>
                </a:xfrm>
                <a:prstGeom prst="line">
                  <a:avLst/>
                </a:prstGeom>
                <a:ln w="14223">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79" name="Connector"/>
              <p:cNvGrpSpPr/>
              <p:nvPr/>
            </p:nvGrpSpPr>
            <p:grpSpPr>
              <a:xfrm>
                <a:off x="12584989" y="4755591"/>
                <a:ext cx="304495" cy="101499"/>
                <a:chOff x="12584989" y="4755591"/>
                <a:chExt cx="304495" cy="101499"/>
              </a:xfrm>
            </p:grpSpPr>
            <p:cxnSp>
              <p:nvCxnSpPr>
                <p:cNvPr id="380" name="Connector segment 1"/>
                <p:cNvCxnSpPr/>
                <p:nvPr/>
              </p:nvCxnSpPr>
              <p:spPr>
                <a:xfrm>
                  <a:off x="12584989" y="4755591"/>
                  <a:ext cx="304495" cy="101499"/>
                </a:xfrm>
                <a:prstGeom prst="line">
                  <a:avLst/>
                </a:prstGeom>
                <a:ln w="14223">
                  <a:solidFill>
                    <a:srgbClr val="337BCD"/>
                  </a:solidFill>
                </a:ln>
                <a:effectLst/>
              </p:spPr>
              <p:style>
                <a:lnRef idx="2">
                  <a:schemeClr val="accent1"/>
                </a:lnRef>
                <a:fillRef idx="0">
                  <a:schemeClr val="accent1"/>
                </a:fillRef>
                <a:effectRef idx="0">
                  <a:schemeClr val="accent1"/>
                </a:effectRef>
                <a:fontRef idx="minor">
                  <a:schemeClr val="tx1"/>
                </a:fontRef>
              </p:style>
            </p:cxnSp>
          </p:grpSp>
          <p:grpSp>
            <p:nvGrpSpPr>
              <p:cNvPr id="381" name="Connector"/>
              <p:cNvGrpSpPr/>
              <p:nvPr/>
            </p:nvGrpSpPr>
            <p:grpSpPr>
              <a:xfrm>
                <a:off x="12584989" y="4691685"/>
                <a:ext cx="244348" cy="63906"/>
                <a:chOff x="12584989" y="4691685"/>
                <a:chExt cx="244348" cy="63906"/>
              </a:xfrm>
            </p:grpSpPr>
            <p:cxnSp>
              <p:nvCxnSpPr>
                <p:cNvPr id="382" name="Connector segment 1"/>
                <p:cNvCxnSpPr/>
                <p:nvPr/>
              </p:nvCxnSpPr>
              <p:spPr>
                <a:xfrm flipV="1">
                  <a:off x="12584989" y="4691685"/>
                  <a:ext cx="244348" cy="63906"/>
                </a:xfrm>
                <a:prstGeom prst="line">
                  <a:avLst/>
                </a:prstGeom>
                <a:ln w="14223">
                  <a:solidFill>
                    <a:srgbClr val="337BCD"/>
                  </a:solidFill>
                </a:ln>
                <a:effectLst/>
              </p:spPr>
              <p:style>
                <a:lnRef idx="2">
                  <a:schemeClr val="accent1"/>
                </a:lnRef>
                <a:fillRef idx="0">
                  <a:schemeClr val="accent1"/>
                </a:fillRef>
                <a:effectRef idx="0">
                  <a:schemeClr val="accent1"/>
                </a:effectRef>
                <a:fontRef idx="minor">
                  <a:schemeClr val="tx1"/>
                </a:fontRef>
              </p:style>
            </p:cxnSp>
          </p:grpSp>
          <p:sp>
            <p:nvSpPr>
              <p:cNvPr id="383" name="Camera body"/>
              <p:cNvSpPr/>
              <p:nvPr/>
            </p:nvSpPr>
            <p:spPr>
              <a:xfrm>
                <a:off x="12527280" y="4673600"/>
                <a:ext cx="121920" cy="142240"/>
              </a:xfrm>
              <a:custGeom>
                <a:avLst/>
                <a:gdLst/>
                <a:ahLst/>
                <a:cxnLst/>
                <a:rect l="l" t="t" r="r" b="b"/>
                <a:pathLst>
                  <a:path w="12" h="14">
                    <a:moveTo>
                      <a:pt x="0" y="3"/>
                    </a:moveTo>
                    <a:lnTo>
                      <a:pt x="10" y="0"/>
                    </a:lnTo>
                    <a:lnTo>
                      <a:pt x="12" y="11"/>
                    </a:lnTo>
                    <a:lnTo>
                      <a:pt x="2" y="14"/>
                    </a:lnTo>
                    <a:close/>
                  </a:path>
                </a:pathLst>
              </a:custGeom>
              <a:solidFill>
                <a:srgbClr val="337BC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Lens"/>
              <p:cNvSpPr/>
              <p:nvPr/>
            </p:nvSpPr>
            <p:spPr>
              <a:xfrm>
                <a:off x="12569576" y="4721382"/>
                <a:ext cx="37592" cy="48870"/>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385" name="Text: Humans"/>
            <p:cNvSpPr txBox="1"/>
            <p:nvPr/>
          </p:nvSpPr>
          <p:spPr>
            <a:xfrm>
              <a:off x="10881360" y="5161280"/>
              <a:ext cx="762000" cy="294640"/>
            </a:xfrm>
            <a:prstGeom prst="rect">
              <a:avLst/>
            </a:prstGeom>
            <a:noFill/>
          </p:spPr>
          <p:txBody>
            <a:bodyPr wrap="none" lIns="0" rIns="0" tIns="0" bIns="0" anchor="ctr">
              <a:spAutoFit/>
            </a:bodyPr>
            <a:lstStyle/>
            <a:p>
              <a:pPr algn="l">
                <a:lnSpc>
                  <a:spcPct val="103000"/>
                </a:lnSpc>
                <a:spcBef>
                  <a:spcPts val="0"/>
                </a:spcBef>
                <a:spcAft>
                  <a:spcPts val="0"/>
                </a:spcAft>
              </a:pPr>
              <a:r>
                <a:rPr sz="1440" b="0" i="0">
                  <a:solidFill>
                    <a:srgbClr val="23324A"/>
                  </a:solidFill>
                  <a:latin typeface="Arial"/>
                </a:rPr>
                <a:t>Humans</a:t>
              </a:r>
            </a:p>
          </p:txBody>
        </p:sp>
        <p:sp>
          <p:nvSpPr>
            <p:cNvPr id="386" name="Math ℋ_b^r"/>
            <p:cNvSpPr txBox="1"/>
            <p:nvPr/>
          </p:nvSpPr>
          <p:spPr>
            <a:xfrm>
              <a:off x="11582400" y="5171440"/>
              <a:ext cx="660400" cy="355600"/>
            </a:xfrm>
            <a:prstGeom prst="rect">
              <a:avLst/>
            </a:prstGeom>
            <a:noFill/>
          </p:spPr>
          <p:txBody>
            <a:bodyPr wrap="none" lIns="0" rIns="0" tIns="0" bIns="0" anchor="ctr">
              <a:spAutoFit/>
            </a:bodyPr>
            <a:lstStyle/>
            <a:p>
              <a:pPr algn="ctr">
                <a:lnSpc>
                  <a:spcPct val="103000"/>
                </a:lnSpc>
                <a:spcBef>
                  <a:spcPts val="0"/>
                </a:spcBef>
                <a:spcAft>
                  <a:spcPts val="0"/>
                </a:spcAft>
              </a:pPr>
              <a:r>
                <a:rPr sz="2160" b="0" i="1">
                  <a:solidFill>
                    <a:srgbClr val="23324A"/>
                  </a:solidFill>
                  <a:latin typeface="Times New Roman"/>
                </a:rPr>
                <a:t>ℋ</a:t>
              </a:r>
              <a:r>
                <a:rPr sz="1468" b="0" i="0" baseline="-24000">
                  <a:solidFill>
                    <a:srgbClr val="23324A"/>
                  </a:solidFill>
                  <a:latin typeface="Times New Roman"/>
                </a:rPr>
                <a:t>b</a:t>
              </a:r>
              <a:r>
                <a:rPr sz="1404" b="0" i="0" baseline="35000">
                  <a:solidFill>
                    <a:srgbClr val="23324A"/>
                  </a:solidFill>
                  <a:latin typeface="Times New Roman"/>
                </a:rPr>
                <a:t>r</a:t>
              </a:r>
            </a:p>
          </p:txBody>
        </p:sp>
        <p:sp>
          <p:nvSpPr>
            <p:cNvPr id="387" name="Text: State"/>
            <p:cNvSpPr txBox="1"/>
            <p:nvPr/>
          </p:nvSpPr>
          <p:spPr>
            <a:xfrm>
              <a:off x="10881360" y="5791200"/>
              <a:ext cx="589280" cy="294640"/>
            </a:xfrm>
            <a:prstGeom prst="rect">
              <a:avLst/>
            </a:prstGeom>
            <a:noFill/>
          </p:spPr>
          <p:txBody>
            <a:bodyPr wrap="none" lIns="0" rIns="0" tIns="0" bIns="0" anchor="ctr">
              <a:spAutoFit/>
            </a:bodyPr>
            <a:lstStyle/>
            <a:p>
              <a:pPr algn="l">
                <a:lnSpc>
                  <a:spcPct val="103000"/>
                </a:lnSpc>
                <a:spcBef>
                  <a:spcPts val="0"/>
                </a:spcBef>
                <a:spcAft>
                  <a:spcPts val="0"/>
                </a:spcAft>
              </a:pPr>
              <a:r>
                <a:rPr sz="1440" b="0" i="0">
                  <a:solidFill>
                    <a:srgbClr val="23324A"/>
                  </a:solidFill>
                  <a:latin typeface="Arial"/>
                </a:rPr>
                <a:t>State</a:t>
              </a:r>
            </a:p>
          </p:txBody>
        </p:sp>
        <p:sp>
          <p:nvSpPr>
            <p:cNvPr id="388" name="Math S_b^r"/>
            <p:cNvSpPr txBox="1"/>
            <p:nvPr/>
          </p:nvSpPr>
          <p:spPr>
            <a:xfrm>
              <a:off x="11399520" y="5770880"/>
              <a:ext cx="548640" cy="355600"/>
            </a:xfrm>
            <a:prstGeom prst="rect">
              <a:avLst/>
            </a:prstGeom>
            <a:noFill/>
          </p:spPr>
          <p:txBody>
            <a:bodyPr wrap="none" lIns="0" rIns="0" tIns="0" bIns="0" anchor="ctr">
              <a:spAutoFit/>
            </a:bodyPr>
            <a:lstStyle/>
            <a:p>
              <a:pPr algn="ctr">
                <a:lnSpc>
                  <a:spcPct val="103000"/>
                </a:lnSpc>
                <a:spcBef>
                  <a:spcPts val="0"/>
                </a:spcBef>
                <a:spcAft>
                  <a:spcPts val="0"/>
                </a:spcAft>
              </a:pPr>
              <a:r>
                <a:rPr sz="2240" b="0" i="1">
                  <a:solidFill>
                    <a:srgbClr val="23324A"/>
                  </a:solidFill>
                  <a:latin typeface="Times New Roman"/>
                </a:rPr>
                <a:t>S</a:t>
              </a:r>
              <a:r>
                <a:rPr sz="1523" b="0" i="0" baseline="-24000">
                  <a:solidFill>
                    <a:srgbClr val="23324A"/>
                  </a:solidFill>
                  <a:latin typeface="Times New Roman"/>
                </a:rPr>
                <a:t>b</a:t>
              </a:r>
              <a:r>
                <a:rPr sz="1456" b="0" i="0" baseline="35000">
                  <a:solidFill>
                    <a:srgbClr val="23324A"/>
                  </a:solidFill>
                  <a:latin typeface="Times New Roman"/>
                </a:rPr>
                <a:t>r</a:t>
              </a:r>
            </a:p>
          </p:txBody>
        </p:sp>
        <p:grpSp>
          <p:nvGrpSpPr>
            <p:cNvPr id="389" name="Sole propagated recurrent state"/>
            <p:cNvGrpSpPr/>
            <p:nvPr/>
          </p:nvGrpSpPr>
          <p:grpSpPr>
            <a:xfrm>
              <a:off x="12029440" y="5821680"/>
              <a:ext cx="853440" cy="304800"/>
              <a:chOff x="12029440" y="5821680"/>
              <a:chExt cx="853440" cy="304800"/>
            </a:xfrm>
          </p:grpSpPr>
          <p:sp>
            <p:nvSpPr>
              <p:cNvPr id="390" name="Sole propagated recurrent state 1"/>
              <p:cNvSpPr/>
              <p:nvPr/>
            </p:nvSpPr>
            <p:spPr>
              <a:xfrm>
                <a:off x="12029440" y="5821680"/>
                <a:ext cx="121920" cy="304800"/>
              </a:xfrm>
              <a:prstGeom prst="roundRect">
                <a:avLst>
                  <a:gd name="adj" fmla="val 16666"/>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1" name="Token highlight"/>
              <p:cNvSpPr/>
              <p:nvPr/>
            </p:nvSpPr>
            <p:spPr>
              <a:xfrm>
                <a:off x="12049760" y="5842000"/>
                <a:ext cx="25603" cy="264160"/>
              </a:xfrm>
              <a:prstGeom prst="roundRect">
                <a:avLst>
                  <a:gd name="adj" fmla="val 39682"/>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Sole propagated recurrent state 2"/>
              <p:cNvSpPr/>
              <p:nvPr/>
            </p:nvSpPr>
            <p:spPr>
              <a:xfrm>
                <a:off x="12212320" y="5821680"/>
                <a:ext cx="121920" cy="304800"/>
              </a:xfrm>
              <a:prstGeom prst="roundRect">
                <a:avLst>
                  <a:gd name="adj" fmla="val 16666"/>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Token highlight"/>
              <p:cNvSpPr/>
              <p:nvPr/>
            </p:nvSpPr>
            <p:spPr>
              <a:xfrm>
                <a:off x="12232640" y="5842000"/>
                <a:ext cx="25603" cy="264160"/>
              </a:xfrm>
              <a:prstGeom prst="roundRect">
                <a:avLst>
                  <a:gd name="adj" fmla="val 39682"/>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Sole propagated recurrent state 3"/>
              <p:cNvSpPr/>
              <p:nvPr/>
            </p:nvSpPr>
            <p:spPr>
              <a:xfrm>
                <a:off x="12395200" y="5821680"/>
                <a:ext cx="121920" cy="304800"/>
              </a:xfrm>
              <a:prstGeom prst="roundRect">
                <a:avLst>
                  <a:gd name="adj" fmla="val 16666"/>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Token highlight"/>
              <p:cNvSpPr/>
              <p:nvPr/>
            </p:nvSpPr>
            <p:spPr>
              <a:xfrm>
                <a:off x="12415520" y="5842000"/>
                <a:ext cx="25603" cy="264160"/>
              </a:xfrm>
              <a:prstGeom prst="roundRect">
                <a:avLst>
                  <a:gd name="adj" fmla="val 39682"/>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6" name="Sole propagated recurrent state 4"/>
              <p:cNvSpPr/>
              <p:nvPr/>
            </p:nvSpPr>
            <p:spPr>
              <a:xfrm>
                <a:off x="12578080" y="5821680"/>
                <a:ext cx="121920" cy="304800"/>
              </a:xfrm>
              <a:prstGeom prst="roundRect">
                <a:avLst>
                  <a:gd name="adj" fmla="val 16666"/>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7" name="Token highlight"/>
              <p:cNvSpPr/>
              <p:nvPr/>
            </p:nvSpPr>
            <p:spPr>
              <a:xfrm>
                <a:off x="12598400" y="5842000"/>
                <a:ext cx="25603" cy="264160"/>
              </a:xfrm>
              <a:prstGeom prst="roundRect">
                <a:avLst>
                  <a:gd name="adj" fmla="val 39682"/>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Sole propagated recurrent state 5"/>
              <p:cNvSpPr/>
              <p:nvPr/>
            </p:nvSpPr>
            <p:spPr>
              <a:xfrm>
                <a:off x="12760960" y="5821680"/>
                <a:ext cx="121920" cy="304800"/>
              </a:xfrm>
              <a:prstGeom prst="roundRect">
                <a:avLst>
                  <a:gd name="adj" fmla="val 16666"/>
                </a:avLst>
              </a:prstGeom>
              <a:solidFill>
                <a:srgbClr val="C6DAF1"/>
              </a:solidFill>
              <a:ln w="9652">
                <a:solidFill>
                  <a:srgbClr val="337B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Token highlight"/>
              <p:cNvSpPr/>
              <p:nvPr/>
            </p:nvSpPr>
            <p:spPr>
              <a:xfrm>
                <a:off x="12781280" y="5842000"/>
                <a:ext cx="25603" cy="264160"/>
              </a:xfrm>
              <a:prstGeom prst="roundRect">
                <a:avLst>
                  <a:gd name="adj" fmla="val 39682"/>
                </a:avLst>
              </a:prstGeom>
              <a:solidFill>
                <a:srgbClr val="E4EEF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00" name="Camera and human predictions bus"/>
            <p:cNvGrpSpPr/>
            <p:nvPr/>
          </p:nvGrpSpPr>
          <p:grpSpPr>
            <a:xfrm>
              <a:off x="13228320" y="4704080"/>
              <a:ext cx="1046480" cy="629920"/>
              <a:chOff x="13228320" y="4704080"/>
              <a:chExt cx="1046480" cy="629920"/>
            </a:xfrm>
          </p:grpSpPr>
          <p:cxnSp>
            <p:nvCxnSpPr>
              <p:cNvPr id="401" name="Camera and human predictions bus segment 1"/>
              <p:cNvCxnSpPr/>
              <p:nvPr/>
            </p:nvCxnSpPr>
            <p:spPr>
              <a:xfrm>
                <a:off x="13228320" y="4704080"/>
                <a:ext cx="1046480" cy="0"/>
              </a:xfrm>
              <a:prstGeom prst="line">
                <a:avLst/>
              </a:prstGeom>
              <a:ln w="14731">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402" name="Camera and human predictions bus segment 2"/>
              <p:cNvCxnSpPr/>
              <p:nvPr/>
            </p:nvCxnSpPr>
            <p:spPr>
              <a:xfrm>
                <a:off x="14274800" y="4704080"/>
                <a:ext cx="0" cy="629920"/>
              </a:xfrm>
              <a:prstGeom prst="line">
                <a:avLst/>
              </a:prstGeom>
              <a:ln w="14731">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403" name="Camera and human predictions bus segment 3"/>
              <p:cNvCxnSpPr/>
              <p:nvPr/>
            </p:nvCxnSpPr>
            <p:spPr>
              <a:xfrm flipH="1">
                <a:off x="13228320" y="5334000"/>
                <a:ext cx="1046480" cy="0"/>
              </a:xfrm>
              <a:prstGeom prst="line">
                <a:avLst/>
              </a:prstGeom>
              <a:ln w="14731">
                <a:solidFill>
                  <a:srgbClr val="337BCD"/>
                </a:solidFill>
              </a:ln>
              <a:effectLst/>
            </p:spPr>
            <p:style>
              <a:lnRef idx="2">
                <a:schemeClr val="accent1"/>
              </a:lnRef>
              <a:fillRef idx="0">
                <a:schemeClr val="accent1"/>
              </a:fillRef>
              <a:effectRef idx="0">
                <a:schemeClr val="accent1"/>
              </a:effectRef>
              <a:fontRef idx="minor">
                <a:schemeClr val="tx1"/>
              </a:fontRef>
            </p:style>
          </p:cxnSp>
        </p:grpSp>
        <p:sp>
          <p:nvSpPr>
            <p:cNvPr id="404" name="Text: New-shot outputs"/>
            <p:cNvSpPr txBox="1"/>
            <p:nvPr/>
          </p:nvSpPr>
          <p:spPr>
            <a:xfrm>
              <a:off x="13289280" y="4368800"/>
              <a:ext cx="1026160" cy="254000"/>
            </a:xfrm>
            <a:prstGeom prst="rect">
              <a:avLst/>
            </a:prstGeom>
            <a:noFill/>
          </p:spPr>
          <p:txBody>
            <a:bodyPr wrap="none" lIns="0" rIns="0" tIns="0" bIns="0" anchor="ctr">
              <a:spAutoFit/>
            </a:bodyPr>
            <a:lstStyle/>
            <a:p>
              <a:pPr algn="ctr">
                <a:lnSpc>
                  <a:spcPct val="103000"/>
                </a:lnSpc>
                <a:spcBef>
                  <a:spcPts val="0"/>
                </a:spcBef>
                <a:spcAft>
                  <a:spcPts val="0"/>
                </a:spcAft>
              </a:pPr>
              <a:r>
                <a:rPr sz="920" b="0" i="0">
                  <a:solidFill>
                    <a:srgbClr val="66778D"/>
                  </a:solidFill>
                  <a:latin typeface="Arial"/>
                </a:rPr>
                <a:t>New-shot outputs</a:t>
              </a:r>
            </a:p>
          </p:txBody>
        </p:sp>
        <p:pic>
          <p:nvPicPr>
            <p:cNvPr id="405" name="Real human prediction | ID 0" descr="Real frame-50 mesh pictogram, independently display-centered; two main subjects shown."/>
            <p:cNvPicPr>
              <a:picLocks noChangeAspect="1"/>
            </p:cNvPicPr>
            <p:nvPr/>
          </p:nvPicPr>
          <p:blipFill>
            <a:blip r:embed="rId30"/>
            <a:stretch>
              <a:fillRect/>
            </a:stretch>
          </p:blipFill>
          <p:spPr>
            <a:xfrm>
              <a:off x="12438042" y="5090160"/>
              <a:ext cx="213915" cy="458114"/>
            </a:xfrm>
            <a:prstGeom prst="rect">
              <a:avLst/>
            </a:prstGeom>
          </p:spPr>
        </p:pic>
        <p:pic>
          <p:nvPicPr>
            <p:cNvPr id="406" name="Real human prediction | ID 1" descr="Real frame-50 mesh pictogram, independently display-centered; two main subjects shown."/>
            <p:cNvPicPr>
              <a:picLocks noChangeAspect="1"/>
            </p:cNvPicPr>
            <p:nvPr/>
          </p:nvPicPr>
          <p:blipFill>
            <a:blip r:embed="rId31"/>
            <a:stretch>
              <a:fillRect/>
            </a:stretch>
          </p:blipFill>
          <p:spPr>
            <a:xfrm>
              <a:off x="12874474" y="5090160"/>
              <a:ext cx="141051" cy="458114"/>
            </a:xfrm>
            <a:prstGeom prst="rect">
              <a:avLst/>
            </a:prstGeom>
          </p:spPr>
        </p:pic>
        <p:sp>
          <p:nvSpPr>
            <p:cNvPr id="407" name="Boundary lifecycle | Repeated at each detected transition"/>
            <p:cNvSpPr txBox="1"/>
            <p:nvPr/>
          </p:nvSpPr>
          <p:spPr>
            <a:xfrm>
              <a:off x="10607040" y="356616"/>
              <a:ext cx="3630168" cy="246888"/>
            </a:xfrm>
            <a:prstGeom prst="rect">
              <a:avLst/>
            </a:prstGeom>
            <a:noFill/>
            <a:effectLst/>
          </p:spPr>
          <p:txBody>
            <a:bodyPr wrap="none" lIns="0" rIns="0" tIns="0" bIns="0" anchor="ctr">
              <a:spAutoFit/>
            </a:bodyPr>
            <a:lstStyle/>
            <a:p>
              <a:pPr algn="r">
                <a:lnSpc>
                  <a:spcPct val="100000"/>
                </a:lnSpc>
                <a:spcBef>
                  <a:spcPts val="0"/>
                </a:spcBef>
                <a:spcAft>
                  <a:spcPts val="0"/>
                </a:spcAft>
              </a:pPr>
              <a:r>
                <a:rPr sz="1250" b="0" i="0">
                  <a:solidFill>
                    <a:srgbClr val="8055D5"/>
                  </a:solidFill>
                  <a:latin typeface="Arial"/>
                </a:rPr>
                <a:t>Repeated at each detected transition</a:t>
              </a:r>
            </a:p>
          </p:txBody>
        </p:sp>
        <p:sp>
          <p:nvSpPr>
            <p:cNvPr id="408" name="Reset lifecycle | Initial state used at the boundary only"/>
            <p:cNvSpPr txBox="1"/>
            <p:nvPr/>
          </p:nvSpPr>
          <p:spPr>
            <a:xfrm>
              <a:off x="6409944" y="5737860"/>
              <a:ext cx="1060704" cy="192024"/>
            </a:xfrm>
            <a:prstGeom prst="rect">
              <a:avLst/>
            </a:prstGeom>
            <a:noFill/>
            <a:effectLst/>
          </p:spPr>
          <p:txBody>
            <a:bodyPr wrap="none" lIns="0" rIns="0" tIns="0" bIns="0" anchor="ctr">
              <a:spAutoFit/>
            </a:bodyPr>
            <a:lstStyle/>
            <a:p>
              <a:pPr algn="ctr">
                <a:lnSpc>
                  <a:spcPct val="100000"/>
                </a:lnSpc>
                <a:spcBef>
                  <a:spcPts val="0"/>
                </a:spcBef>
                <a:spcAft>
                  <a:spcPts val="0"/>
                </a:spcAft>
              </a:pPr>
              <a:r>
                <a:rPr sz="1180" b="1" i="0">
                  <a:solidFill>
                    <a:srgbClr val="3281DC"/>
                  </a:solidFill>
                  <a:latin typeface="Arial"/>
                </a:rPr>
                <a:t>At cut only</a:t>
              </a:r>
            </a:p>
          </p:txBody>
        </p:sp>
        <p:sp>
          <p:nvSpPr>
            <p:cNvPr id="409" name="Subsequent-frame input | Native tokens for t &gt; b"/>
            <p:cNvSpPr/>
            <p:nvPr/>
          </p:nvSpPr>
          <p:spPr>
            <a:xfrm>
              <a:off x="7644383" y="6368796"/>
              <a:ext cx="1572768" cy="438912"/>
            </a:xfrm>
            <a:prstGeom prst="roundRect">
              <a:avLst>
                <a:gd name="adj" fmla="val 9375"/>
              </a:avLst>
            </a:prstGeom>
            <a:solidFill>
              <a:srgbClr val="FFFFFF"/>
            </a:solidFill>
            <a:ln w="8890">
              <a:solidFill>
                <a:srgbClr val="AFCB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Label | Later-frame tokens t &gt; b"/>
            <p:cNvSpPr txBox="1"/>
            <p:nvPr/>
          </p:nvSpPr>
          <p:spPr>
            <a:xfrm>
              <a:off x="7699248" y="6391656"/>
              <a:ext cx="1463040" cy="384048"/>
            </a:xfrm>
            <a:prstGeom prst="rect">
              <a:avLst/>
            </a:prstGeom>
            <a:noFill/>
            <a:effectLst/>
          </p:spPr>
          <p:txBody>
            <a:bodyPr wrap="none" lIns="0" rIns="0" tIns="0" bIns="0" anchor="ctr">
              <a:spAutoFit/>
            </a:bodyPr>
            <a:lstStyle/>
            <a:p>
              <a:pPr algn="ctr">
                <a:lnSpc>
                  <a:spcPct val="100000"/>
                </a:lnSpc>
                <a:spcBef>
                  <a:spcPts val="0"/>
                </a:spcBef>
                <a:spcAft>
                  <a:spcPts val="0"/>
                </a:spcAft>
              </a:pPr>
              <a:r>
                <a:rPr sz="1190" b="0" i="0">
                  <a:solidFill>
                    <a:srgbClr val="3281DC"/>
                  </a:solidFill>
                  <a:latin typeface="Arial"/>
                </a:rPr>
                <a:t>Later-frame tokens</a:t>
              </a:r>
            </a:p>
            <a:p>
              <a:pPr algn="ctr">
                <a:lnSpc>
                  <a:spcPct val="100000"/>
                </a:lnSpc>
                <a:spcBef>
                  <a:spcPts val="0"/>
                </a:spcBef>
                <a:spcAft>
                  <a:spcPts val="0"/>
                </a:spcAft>
              </a:pPr>
              <a:r>
                <a:rPr sz="1190" b="0" i="0">
                  <a:solidFill>
                    <a:srgbClr val="3281DC"/>
                  </a:solidFill>
                  <a:latin typeface="Arial"/>
                </a:rPr>
                <a:t>t &gt; b</a:t>
              </a:r>
            </a:p>
          </p:txBody>
        </p:sp>
        <p:cxnSp>
          <p:nvCxnSpPr>
            <p:cNvPr id="411" name="Later-frame tokens to the same recurrent decoder | 1"/>
            <p:cNvCxnSpPr/>
            <p:nvPr/>
          </p:nvCxnSpPr>
          <p:spPr>
            <a:xfrm>
              <a:off x="9217152" y="6588252"/>
              <a:ext cx="192024" cy="0"/>
            </a:xfrm>
            <a:prstGeom prst="line">
              <a:avLst/>
            </a:prstGeom>
            <a:ln w="1333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412" name="Later-frame tokens to the same recurrent decoder | 2"/>
            <p:cNvCxnSpPr/>
            <p:nvPr/>
          </p:nvCxnSpPr>
          <p:spPr>
            <a:xfrm flipV="1">
              <a:off x="9409176" y="5742432"/>
              <a:ext cx="0" cy="845820"/>
            </a:xfrm>
            <a:prstGeom prst="line">
              <a:avLst/>
            </a:prstGeom>
            <a:ln w="13335">
              <a:solidFill>
                <a:srgbClr val="3281D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13" name="Within-shot recurrence | State reused for the next frame | 1"/>
            <p:cNvCxnSpPr/>
            <p:nvPr/>
          </p:nvCxnSpPr>
          <p:spPr>
            <a:xfrm>
              <a:off x="12920472" y="5983833"/>
              <a:ext cx="1133856" cy="0"/>
            </a:xfrm>
            <a:prstGeom prst="line">
              <a:avLst/>
            </a:prstGeom>
            <a:ln w="1587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414" name="Within-shot recurrence | State reused for the next frame | 2"/>
            <p:cNvCxnSpPr/>
            <p:nvPr/>
          </p:nvCxnSpPr>
          <p:spPr>
            <a:xfrm>
              <a:off x="14054328" y="5983833"/>
              <a:ext cx="0" cy="567843"/>
            </a:xfrm>
            <a:prstGeom prst="line">
              <a:avLst/>
            </a:prstGeom>
            <a:ln w="1587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415" name="Within-shot recurrence | State reused for the next frame | 3"/>
            <p:cNvCxnSpPr/>
            <p:nvPr/>
          </p:nvCxnSpPr>
          <p:spPr>
            <a:xfrm flipH="1">
              <a:off x="9884664" y="6551676"/>
              <a:ext cx="4169664" cy="0"/>
            </a:xfrm>
            <a:prstGeom prst="line">
              <a:avLst/>
            </a:prstGeom>
            <a:ln w="15875">
              <a:solidFill>
                <a:srgbClr val="3281DC"/>
              </a:solidFill>
            </a:ln>
            <a:effectLst/>
          </p:spPr>
          <p:style>
            <a:lnRef idx="2">
              <a:schemeClr val="accent1"/>
            </a:lnRef>
            <a:fillRef idx="0">
              <a:schemeClr val="accent1"/>
            </a:fillRef>
            <a:effectRef idx="0">
              <a:schemeClr val="accent1"/>
            </a:effectRef>
            <a:fontRef idx="minor">
              <a:schemeClr val="tx1"/>
            </a:fontRef>
          </p:style>
        </p:cxnSp>
        <p:cxnSp>
          <p:nvCxnSpPr>
            <p:cNvPr id="416" name="Within-shot recurrence | State reused for the next frame | 4"/>
            <p:cNvCxnSpPr/>
            <p:nvPr/>
          </p:nvCxnSpPr>
          <p:spPr>
            <a:xfrm flipV="1">
              <a:off x="9884664" y="5747004"/>
              <a:ext cx="0" cy="804672"/>
            </a:xfrm>
            <a:prstGeom prst="line">
              <a:avLst/>
            </a:prstGeom>
            <a:ln w="15875">
              <a:solidFill>
                <a:srgbClr val="3281D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7" name="Label | Recurrent state update for t &gt; b"/>
            <p:cNvSpPr txBox="1"/>
            <p:nvPr/>
          </p:nvSpPr>
          <p:spPr>
            <a:xfrm>
              <a:off x="10003536" y="6240780"/>
              <a:ext cx="3950208" cy="242316"/>
            </a:xfrm>
            <a:prstGeom prst="rect">
              <a:avLst/>
            </a:prstGeom>
            <a:noFill/>
            <a:effectLst/>
          </p:spPr>
          <p:txBody>
            <a:bodyPr wrap="none" lIns="0" rIns="0" tIns="0" bIns="0" anchor="ctr">
              <a:spAutoFit/>
            </a:bodyPr>
            <a:lstStyle/>
            <a:p>
              <a:pPr algn="ctr">
                <a:lnSpc>
                  <a:spcPct val="100000"/>
                </a:lnSpc>
                <a:spcBef>
                  <a:spcPts val="0"/>
                </a:spcBef>
                <a:spcAft>
                  <a:spcPts val="0"/>
                </a:spcAft>
              </a:pPr>
              <a:r>
                <a:rPr sz="1300" b="1" i="0">
                  <a:solidFill>
                    <a:srgbClr val="3281DC"/>
                  </a:solidFill>
                  <a:latin typeface="Arial"/>
                </a:rPr>
                <a:t>Recurrent state update for t &gt; b</a:t>
              </a:r>
            </a:p>
          </p:txBody>
        </p:sp>
      </p:grpSp>
      <p:grpSp>
        <p:nvGrpSpPr>
          <p:cNvPr id="418" name="04 Camera–human consistency"/>
          <p:cNvGrpSpPr/>
          <p:nvPr/>
        </p:nvGrpSpPr>
        <p:grpSpPr>
          <a:xfrm>
            <a:off x="14671040" y="142240"/>
            <a:ext cx="4003040" cy="6995160"/>
            <a:chOff x="14671040" y="142240"/>
            <a:chExt cx="4003040" cy="6995160"/>
          </a:xfrm>
        </p:grpSpPr>
        <p:sp>
          <p:nvSpPr>
            <p:cNvPr id="419" name="Panel Camera–human consistency"/>
            <p:cNvSpPr/>
            <p:nvPr/>
          </p:nvSpPr>
          <p:spPr>
            <a:xfrm>
              <a:off x="14671040" y="142240"/>
              <a:ext cx="4003040" cy="6995160"/>
            </a:xfrm>
            <a:prstGeom prst="roundRect">
              <a:avLst>
                <a:gd name="adj" fmla="val 3299"/>
              </a:avLst>
            </a:prstGeom>
            <a:solidFill>
              <a:srgbClr val="F3FBF8"/>
            </a:solidFill>
            <a:ln w="14223">
              <a:solidFill>
                <a:srgbClr val="A9DA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0" name="Header Camera–human consistency"/>
            <p:cNvSpPr/>
            <p:nvPr/>
          </p:nvSpPr>
          <p:spPr>
            <a:xfrm>
              <a:off x="14691360" y="162560"/>
              <a:ext cx="3962400" cy="619760"/>
            </a:xfrm>
            <a:prstGeom prst="roundRect">
              <a:avLst>
                <a:gd name="adj" fmla="val 18032"/>
              </a:avLst>
            </a:prstGeom>
            <a:solidFill>
              <a:srgbClr val="E1F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Header band base"/>
            <p:cNvSpPr/>
            <p:nvPr/>
          </p:nvSpPr>
          <p:spPr>
            <a:xfrm>
              <a:off x="14691360" y="650240"/>
              <a:ext cx="3962400" cy="121920"/>
            </a:xfrm>
            <a:prstGeom prst="rect">
              <a:avLst/>
            </a:prstGeom>
            <a:solidFill>
              <a:srgbClr val="E1F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Text: Camera–human consistency"/>
            <p:cNvSpPr txBox="1"/>
            <p:nvPr/>
          </p:nvSpPr>
          <p:spPr>
            <a:xfrm>
              <a:off x="14843760" y="264160"/>
              <a:ext cx="3657600" cy="457200"/>
            </a:xfrm>
            <a:prstGeom prst="rect">
              <a:avLst/>
            </a:prstGeom>
            <a:noFill/>
          </p:spPr>
          <p:txBody>
            <a:bodyPr wrap="none" lIns="0" rIns="0" tIns="0" bIns="0" anchor="ctr">
              <a:spAutoFit/>
            </a:bodyPr>
            <a:lstStyle/>
            <a:p>
              <a:pPr algn="l">
                <a:lnSpc>
                  <a:spcPct val="103000"/>
                </a:lnSpc>
                <a:spcBef>
                  <a:spcPts val="0"/>
                </a:spcBef>
                <a:spcAft>
                  <a:spcPts val="0"/>
                </a:spcAft>
              </a:pPr>
              <a:r>
                <a:rPr sz="1920" b="1" i="0">
                  <a:solidFill>
                    <a:srgbClr val="23324A"/>
                  </a:solidFill>
                  <a:latin typeface="Arial"/>
                </a:rPr>
                <a:t>Camera–human consistency</a:t>
              </a:r>
            </a:p>
          </p:txBody>
        </p:sp>
        <p:sp>
          <p:nvSpPr>
            <p:cNvPr id="423" name="Subpanel Camera alignment"/>
            <p:cNvSpPr/>
            <p:nvPr/>
          </p:nvSpPr>
          <p:spPr>
            <a:xfrm>
              <a:off x="14813280" y="965200"/>
              <a:ext cx="3718560" cy="1757680"/>
            </a:xfrm>
            <a:prstGeom prst="roundRect">
              <a:avLst>
                <a:gd name="adj" fmla="val 6358"/>
              </a:avLst>
            </a:prstGeom>
            <a:solidFill>
              <a:srgbClr val="FAFEFC"/>
            </a:solidFill>
            <a:ln w="12700">
              <a:solidFill>
                <a:srgbClr val="A9DA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Subpanel header"/>
            <p:cNvSpPr/>
            <p:nvPr/>
          </p:nvSpPr>
          <p:spPr>
            <a:xfrm>
              <a:off x="14823440" y="975360"/>
              <a:ext cx="3698240" cy="426720"/>
            </a:xfrm>
            <a:prstGeom prst="roundRect">
              <a:avLst>
                <a:gd name="adj" fmla="val 23809"/>
              </a:avLst>
            </a:prstGeom>
            <a:solidFill>
              <a:srgbClr val="E1F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Header flat edge"/>
            <p:cNvSpPr/>
            <p:nvPr/>
          </p:nvSpPr>
          <p:spPr>
            <a:xfrm>
              <a:off x="14823440" y="1270000"/>
              <a:ext cx="3698240" cy="132080"/>
            </a:xfrm>
            <a:prstGeom prst="rect">
              <a:avLst/>
            </a:prstGeom>
            <a:solidFill>
              <a:srgbClr val="E1F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6" name="Text: Camera alignment"/>
            <p:cNvSpPr txBox="1"/>
            <p:nvPr/>
          </p:nvSpPr>
          <p:spPr>
            <a:xfrm>
              <a:off x="14955520" y="1016000"/>
              <a:ext cx="3434080" cy="335280"/>
            </a:xfrm>
            <a:prstGeom prst="rect">
              <a:avLst/>
            </a:prstGeom>
            <a:noFill/>
          </p:spPr>
          <p:txBody>
            <a:bodyPr wrap="none" lIns="0" rIns="0" tIns="0" bIns="0" anchor="ctr">
              <a:spAutoFit/>
            </a:bodyPr>
            <a:lstStyle/>
            <a:p>
              <a:pPr algn="l">
                <a:lnSpc>
                  <a:spcPct val="103000"/>
                </a:lnSpc>
                <a:spcBef>
                  <a:spcPts val="0"/>
                </a:spcBef>
                <a:spcAft>
                  <a:spcPts val="0"/>
                </a:spcAft>
              </a:pPr>
              <a:r>
                <a:rPr sz="1840" b="1" i="0">
                  <a:solidFill>
                    <a:srgbClr val="198F84"/>
                  </a:solidFill>
                  <a:latin typeface="Arial"/>
                </a:rPr>
                <a:t>Camera alignment</a:t>
              </a:r>
            </a:p>
          </p:txBody>
        </p:sp>
        <p:sp>
          <p:nvSpPr>
            <p:cNvPr id="427" name="Editable camera alignment equation"/>
            <p:cNvSpPr txBox="1"/>
            <p:nvPr/>
          </p:nvSpPr>
          <p:spPr>
            <a:xfrm>
              <a:off x="14945360" y="1422400"/>
              <a:ext cx="3454400" cy="386080"/>
            </a:xfrm>
            <a:prstGeom prst="rect">
              <a:avLst/>
            </a:prstGeom>
            <a:noFill/>
          </p:spPr>
          <p:txBody>
            <a:bodyPr wrap="none" lIns="0" rIns="0" tIns="0" bIns="0" anchor="ctr">
              <a:spAutoFit/>
            </a:bodyPr>
            <a:lstStyle/>
            <a:p>
              <a:pPr algn="ctr">
                <a:lnSpc>
                  <a:spcPct val="103000"/>
                </a:lnSpc>
                <a:spcBef>
                  <a:spcPts val="0"/>
                </a:spcBef>
                <a:spcAft>
                  <a:spcPts val="0"/>
                </a:spcAft>
              </a:pPr>
              <a:r>
                <a:rPr sz="2320" b="0" i="1">
                  <a:solidFill>
                    <a:srgbClr val="23324A"/>
                  </a:solidFill>
                  <a:latin typeface="Times New Roman"/>
                </a:rPr>
                <a:t>T</a:t>
              </a:r>
              <a:r>
                <a:rPr sz="1440" b="0" i="0" baseline="-24000">
                  <a:solidFill>
                    <a:srgbClr val="23324A"/>
                  </a:solidFill>
                  <a:latin typeface="Times New Roman"/>
                </a:rPr>
                <a:t>b</a:t>
              </a:r>
              <a:r>
                <a:rPr sz="1440" b="0" i="0" baseline="35000">
                  <a:solidFill>
                    <a:srgbClr val="23324A"/>
                  </a:solidFill>
                  <a:latin typeface="Times New Roman"/>
                </a:rPr>
                <a:t>align</a:t>
              </a:r>
              <a:r>
                <a:rPr sz="2320" b="0" i="1">
                  <a:solidFill>
                    <a:srgbClr val="23324A"/>
                  </a:solidFill>
                  <a:latin typeface="Times New Roman"/>
                </a:rPr>
                <a:t> = C̃</a:t>
              </a:r>
              <a:r>
                <a:rPr sz="1440" b="0" i="0" baseline="-24000">
                  <a:solidFill>
                    <a:srgbClr val="23324A"/>
                  </a:solidFill>
                  <a:latin typeface="Times New Roman"/>
                </a:rPr>
                <a:t>b</a:t>
              </a:r>
              <a:r>
                <a:rPr sz="2320" b="0" i="1">
                  <a:solidFill>
                    <a:srgbClr val="23324A"/>
                  </a:solidFill>
                  <a:latin typeface="Times New Roman"/>
                </a:rPr>
                <a:t> (C</a:t>
              </a:r>
              <a:r>
                <a:rPr sz="1440" b="0" i="0" baseline="-24000">
                  <a:solidFill>
                    <a:srgbClr val="23324A"/>
                  </a:solidFill>
                  <a:latin typeface="Times New Roman"/>
                </a:rPr>
                <a:t>b</a:t>
              </a:r>
              <a:r>
                <a:rPr sz="1440" b="0" i="0" baseline="35000">
                  <a:solidFill>
                    <a:srgbClr val="23324A"/>
                  </a:solidFill>
                  <a:latin typeface="Times New Roman"/>
                </a:rPr>
                <a:t>r</a:t>
              </a:r>
              <a:r>
                <a:rPr sz="2320" b="0" i="0">
                  <a:solidFill>
                    <a:srgbClr val="23324A"/>
                  </a:solidFill>
                  <a:latin typeface="Times New Roman"/>
                </a:rPr>
                <a:t>)</a:t>
              </a:r>
              <a:r>
                <a:rPr sz="1440" b="0" i="0" baseline="35000">
                  <a:solidFill>
                    <a:srgbClr val="23324A"/>
                  </a:solidFill>
                  <a:latin typeface="Times New Roman"/>
                </a:rPr>
                <a:t>−1</a:t>
              </a:r>
            </a:p>
          </p:txBody>
        </p:sp>
        <p:grpSp>
          <p:nvGrpSpPr>
            <p:cNvPr id="428" name="Camera in preceding reference"/>
            <p:cNvGrpSpPr/>
            <p:nvPr/>
          </p:nvGrpSpPr>
          <p:grpSpPr>
            <a:xfrm>
              <a:off x="15077440" y="2032000"/>
              <a:ext cx="629920" cy="400101"/>
              <a:chOff x="15077440" y="2032000"/>
              <a:chExt cx="629920" cy="400101"/>
            </a:xfrm>
          </p:grpSpPr>
          <p:sp>
            <p:nvSpPr>
              <p:cNvPr id="429" name="Image plane"/>
              <p:cNvSpPr/>
              <p:nvPr/>
            </p:nvSpPr>
            <p:spPr>
              <a:xfrm>
                <a:off x="15494000" y="2032000"/>
                <a:ext cx="213360" cy="396240"/>
              </a:xfrm>
              <a:custGeom>
                <a:avLst/>
                <a:gdLst/>
                <a:ahLst/>
                <a:cxnLst/>
                <a:rect l="l" t="t" r="r" b="b"/>
                <a:pathLst>
                  <a:path w="21" h="39">
                    <a:moveTo>
                      <a:pt x="12" y="0"/>
                    </a:moveTo>
                    <a:lnTo>
                      <a:pt x="21" y="22"/>
                    </a:lnTo>
                    <a:lnTo>
                      <a:pt x="8" y="39"/>
                    </a:lnTo>
                    <a:lnTo>
                      <a:pt x="0" y="17"/>
                    </a:lnTo>
                    <a:close/>
                  </a:path>
                </a:pathLst>
              </a:custGeom>
              <a:solidFill>
                <a:srgbClr val="F4F1FB"/>
              </a:solidFill>
              <a:ln w="14223">
                <a:solidFill>
                  <a:srgbClr val="7851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30" name="Connector"/>
              <p:cNvGrpSpPr/>
              <p:nvPr/>
            </p:nvGrpSpPr>
            <p:grpSpPr>
              <a:xfrm>
                <a:off x="15155062" y="2033118"/>
                <a:ext cx="455981" cy="259080"/>
                <a:chOff x="15155062" y="2033118"/>
                <a:chExt cx="455981" cy="259080"/>
              </a:xfrm>
            </p:grpSpPr>
            <p:cxnSp>
              <p:nvCxnSpPr>
                <p:cNvPr id="431" name="Connector segment 1"/>
                <p:cNvCxnSpPr/>
                <p:nvPr/>
              </p:nvCxnSpPr>
              <p:spPr>
                <a:xfrm flipV="1">
                  <a:off x="15155062" y="2033118"/>
                  <a:ext cx="455981" cy="259080"/>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grpSp>
          <p:grpSp>
            <p:nvGrpSpPr>
              <p:cNvPr id="432" name="Connector"/>
              <p:cNvGrpSpPr/>
              <p:nvPr/>
            </p:nvGrpSpPr>
            <p:grpSpPr>
              <a:xfrm>
                <a:off x="15155062" y="2255926"/>
                <a:ext cx="549250" cy="36272"/>
                <a:chOff x="15155062" y="2255926"/>
                <a:chExt cx="549250" cy="36272"/>
              </a:xfrm>
            </p:grpSpPr>
            <p:cxnSp>
              <p:nvCxnSpPr>
                <p:cNvPr id="433" name="Connector segment 1"/>
                <p:cNvCxnSpPr/>
                <p:nvPr/>
              </p:nvCxnSpPr>
              <p:spPr>
                <a:xfrm flipV="1">
                  <a:off x="15155062" y="2255926"/>
                  <a:ext cx="549250" cy="36272"/>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grpSp>
          <p:grpSp>
            <p:nvGrpSpPr>
              <p:cNvPr id="434" name="Connector"/>
              <p:cNvGrpSpPr/>
              <p:nvPr/>
            </p:nvGrpSpPr>
            <p:grpSpPr>
              <a:xfrm>
                <a:off x="15155062" y="2292198"/>
                <a:ext cx="419710" cy="139903"/>
                <a:chOff x="15155062" y="2292198"/>
                <a:chExt cx="419710" cy="139903"/>
              </a:xfrm>
            </p:grpSpPr>
            <p:cxnSp>
              <p:nvCxnSpPr>
                <p:cNvPr id="435" name="Connector segment 1"/>
                <p:cNvCxnSpPr/>
                <p:nvPr/>
              </p:nvCxnSpPr>
              <p:spPr>
                <a:xfrm>
                  <a:off x="15155062" y="2292198"/>
                  <a:ext cx="419710" cy="139903"/>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grpSp>
          <p:grpSp>
            <p:nvGrpSpPr>
              <p:cNvPr id="436" name="Connector"/>
              <p:cNvGrpSpPr/>
              <p:nvPr/>
            </p:nvGrpSpPr>
            <p:grpSpPr>
              <a:xfrm>
                <a:off x="15155062" y="2204110"/>
                <a:ext cx="336804" cy="88088"/>
                <a:chOff x="15155062" y="2204110"/>
                <a:chExt cx="336804" cy="88088"/>
              </a:xfrm>
            </p:grpSpPr>
            <p:cxnSp>
              <p:nvCxnSpPr>
                <p:cNvPr id="437" name="Connector segment 1"/>
                <p:cNvCxnSpPr/>
                <p:nvPr/>
              </p:nvCxnSpPr>
              <p:spPr>
                <a:xfrm flipV="1">
                  <a:off x="15155062" y="2204110"/>
                  <a:ext cx="336804" cy="88088"/>
                </a:xfrm>
                <a:prstGeom prst="line">
                  <a:avLst/>
                </a:prstGeom>
                <a:ln w="14223">
                  <a:solidFill>
                    <a:srgbClr val="7851C8"/>
                  </a:solidFill>
                </a:ln>
                <a:effectLst/>
              </p:spPr>
              <p:style>
                <a:lnRef idx="2">
                  <a:schemeClr val="accent1"/>
                </a:lnRef>
                <a:fillRef idx="0">
                  <a:schemeClr val="accent1"/>
                </a:fillRef>
                <a:effectRef idx="0">
                  <a:schemeClr val="accent1"/>
                </a:effectRef>
                <a:fontRef idx="minor">
                  <a:schemeClr val="tx1"/>
                </a:fontRef>
              </p:style>
            </p:cxnSp>
          </p:grpSp>
          <p:sp>
            <p:nvSpPr>
              <p:cNvPr id="438" name="Camera body"/>
              <p:cNvSpPr/>
              <p:nvPr/>
            </p:nvSpPr>
            <p:spPr>
              <a:xfrm>
                <a:off x="15077440" y="2174240"/>
                <a:ext cx="162560" cy="203200"/>
              </a:xfrm>
              <a:custGeom>
                <a:avLst/>
                <a:gdLst/>
                <a:ahLst/>
                <a:cxnLst/>
                <a:rect l="l" t="t" r="r" b="b"/>
                <a:pathLst>
                  <a:path w="16" h="20">
                    <a:moveTo>
                      <a:pt x="0" y="5"/>
                    </a:moveTo>
                    <a:lnTo>
                      <a:pt x="14" y="0"/>
                    </a:lnTo>
                    <a:lnTo>
                      <a:pt x="16" y="15"/>
                    </a:lnTo>
                    <a:lnTo>
                      <a:pt x="3" y="20"/>
                    </a:lnTo>
                    <a:close/>
                  </a:path>
                </a:pathLst>
              </a:custGeom>
              <a:solidFill>
                <a:srgbClr val="7851C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Lens"/>
              <p:cNvSpPr/>
              <p:nvPr/>
            </p:nvSpPr>
            <p:spPr>
              <a:xfrm>
                <a:off x="15133818" y="2245045"/>
                <a:ext cx="51816" cy="67361"/>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40" name="Camera in new-shot reference"/>
            <p:cNvGrpSpPr/>
            <p:nvPr/>
          </p:nvGrpSpPr>
          <p:grpSpPr>
            <a:xfrm>
              <a:off x="17536160" y="2052320"/>
              <a:ext cx="629920" cy="428681"/>
              <a:chOff x="17536160" y="2052320"/>
              <a:chExt cx="629920" cy="428681"/>
            </a:xfrm>
          </p:grpSpPr>
          <p:sp>
            <p:nvSpPr>
              <p:cNvPr id="441" name="Image plane"/>
              <p:cNvSpPr/>
              <p:nvPr/>
            </p:nvSpPr>
            <p:spPr>
              <a:xfrm>
                <a:off x="17536160" y="2082800"/>
                <a:ext cx="223520" cy="396240"/>
              </a:xfrm>
              <a:custGeom>
                <a:avLst/>
                <a:gdLst/>
                <a:ahLst/>
                <a:cxnLst/>
                <a:rect l="l" t="t" r="r" b="b"/>
                <a:pathLst>
                  <a:path w="22" h="39">
                    <a:moveTo>
                      <a:pt x="13" y="39"/>
                    </a:moveTo>
                    <a:lnTo>
                      <a:pt x="0" y="19"/>
                    </a:lnTo>
                    <a:lnTo>
                      <a:pt x="10" y="0"/>
                    </a:lnTo>
                    <a:lnTo>
                      <a:pt x="22" y="21"/>
                    </a:lnTo>
                    <a:close/>
                  </a:path>
                </a:pathLst>
              </a:custGeom>
              <a:solidFill>
                <a:srgbClr val="EDF6F5"/>
              </a:solidFill>
              <a:ln w="14223">
                <a:solidFill>
                  <a:srgbClr val="198F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42" name="Connector"/>
              <p:cNvGrpSpPr/>
              <p:nvPr/>
            </p:nvGrpSpPr>
            <p:grpSpPr>
              <a:xfrm>
                <a:off x="17671661" y="2146676"/>
                <a:ext cx="404065" cy="334325"/>
                <a:chOff x="17671661" y="2146676"/>
                <a:chExt cx="404065" cy="334325"/>
              </a:xfrm>
            </p:grpSpPr>
            <p:cxnSp>
              <p:nvCxnSpPr>
                <p:cNvPr id="443" name="Connector segment 1"/>
                <p:cNvCxnSpPr/>
                <p:nvPr/>
              </p:nvCxnSpPr>
              <p:spPr>
                <a:xfrm flipH="1">
                  <a:off x="17671661" y="2146676"/>
                  <a:ext cx="404065" cy="334325"/>
                </a:xfrm>
                <a:prstGeom prst="line">
                  <a:avLst/>
                </a:prstGeom>
                <a:ln w="14223">
                  <a:solidFill>
                    <a:srgbClr val="198F84"/>
                  </a:solidFill>
                </a:ln>
                <a:effectLst/>
              </p:spPr>
              <p:style>
                <a:lnRef idx="2">
                  <a:schemeClr val="accent1"/>
                </a:lnRef>
                <a:fillRef idx="0">
                  <a:schemeClr val="accent1"/>
                </a:fillRef>
                <a:effectRef idx="0">
                  <a:schemeClr val="accent1"/>
                </a:effectRef>
                <a:fontRef idx="minor">
                  <a:schemeClr val="tx1"/>
                </a:fontRef>
              </p:style>
            </p:cxnSp>
          </p:grpSp>
          <p:grpSp>
            <p:nvGrpSpPr>
              <p:cNvPr id="444" name="Connector"/>
              <p:cNvGrpSpPr/>
              <p:nvPr/>
            </p:nvGrpSpPr>
            <p:grpSpPr>
              <a:xfrm>
                <a:off x="17541119" y="2146676"/>
                <a:ext cx="534607" cy="131097"/>
                <a:chOff x="17541119" y="2146676"/>
                <a:chExt cx="534607" cy="131097"/>
              </a:xfrm>
            </p:grpSpPr>
            <p:cxnSp>
              <p:nvCxnSpPr>
                <p:cNvPr id="445" name="Connector segment 1"/>
                <p:cNvCxnSpPr/>
                <p:nvPr/>
              </p:nvCxnSpPr>
              <p:spPr>
                <a:xfrm flipH="1">
                  <a:off x="17541119" y="2146676"/>
                  <a:ext cx="534607" cy="131097"/>
                </a:xfrm>
                <a:prstGeom prst="line">
                  <a:avLst/>
                </a:prstGeom>
                <a:ln w="14223">
                  <a:solidFill>
                    <a:srgbClr val="198F84"/>
                  </a:solidFill>
                </a:ln>
                <a:effectLst/>
              </p:spPr>
              <p:style>
                <a:lnRef idx="2">
                  <a:schemeClr val="accent1"/>
                </a:lnRef>
                <a:fillRef idx="0">
                  <a:schemeClr val="accent1"/>
                </a:fillRef>
                <a:effectRef idx="0">
                  <a:schemeClr val="accent1"/>
                </a:effectRef>
                <a:fontRef idx="minor">
                  <a:schemeClr val="tx1"/>
                </a:fontRef>
              </p:style>
            </p:cxnSp>
          </p:grpSp>
          <p:grpSp>
            <p:nvGrpSpPr>
              <p:cNvPr id="446" name="Connector"/>
              <p:cNvGrpSpPr/>
              <p:nvPr/>
            </p:nvGrpSpPr>
            <p:grpSpPr>
              <a:xfrm>
                <a:off x="17638099" y="2081780"/>
                <a:ext cx="437627" cy="64896"/>
                <a:chOff x="17638099" y="2081780"/>
                <a:chExt cx="437627" cy="64896"/>
              </a:xfrm>
            </p:grpSpPr>
            <p:cxnSp>
              <p:nvCxnSpPr>
                <p:cNvPr id="447" name="Connector segment 1"/>
                <p:cNvCxnSpPr/>
                <p:nvPr/>
              </p:nvCxnSpPr>
              <p:spPr>
                <a:xfrm flipH="1" flipV="1">
                  <a:off x="17638099" y="2081780"/>
                  <a:ext cx="437627" cy="64896"/>
                </a:xfrm>
                <a:prstGeom prst="line">
                  <a:avLst/>
                </a:prstGeom>
                <a:ln w="14223">
                  <a:solidFill>
                    <a:srgbClr val="198F84"/>
                  </a:solidFill>
                </a:ln>
                <a:effectLst/>
              </p:spPr>
              <p:style>
                <a:lnRef idx="2">
                  <a:schemeClr val="accent1"/>
                </a:lnRef>
                <a:fillRef idx="0">
                  <a:schemeClr val="accent1"/>
                </a:fillRef>
                <a:effectRef idx="0">
                  <a:schemeClr val="accent1"/>
                </a:effectRef>
                <a:fontRef idx="minor">
                  <a:schemeClr val="tx1"/>
                </a:fontRef>
              </p:style>
            </p:cxnSp>
          </p:grpSp>
          <p:grpSp>
            <p:nvGrpSpPr>
              <p:cNvPr id="448" name="Connector"/>
              <p:cNvGrpSpPr/>
              <p:nvPr/>
            </p:nvGrpSpPr>
            <p:grpSpPr>
              <a:xfrm>
                <a:off x="17759335" y="2146676"/>
                <a:ext cx="316391" cy="145235"/>
                <a:chOff x="17759335" y="2146676"/>
                <a:chExt cx="316391" cy="145235"/>
              </a:xfrm>
            </p:grpSpPr>
            <p:cxnSp>
              <p:nvCxnSpPr>
                <p:cNvPr id="449" name="Connector segment 1"/>
                <p:cNvCxnSpPr/>
                <p:nvPr/>
              </p:nvCxnSpPr>
              <p:spPr>
                <a:xfrm flipH="1">
                  <a:off x="17759335" y="2146676"/>
                  <a:ext cx="316391" cy="145235"/>
                </a:xfrm>
                <a:prstGeom prst="line">
                  <a:avLst/>
                </a:prstGeom>
                <a:ln w="14223">
                  <a:solidFill>
                    <a:srgbClr val="198F84"/>
                  </a:solidFill>
                </a:ln>
                <a:effectLst/>
              </p:spPr>
              <p:style>
                <a:lnRef idx="2">
                  <a:schemeClr val="accent1"/>
                </a:lnRef>
                <a:fillRef idx="0">
                  <a:schemeClr val="accent1"/>
                </a:fillRef>
                <a:effectRef idx="0">
                  <a:schemeClr val="accent1"/>
                </a:effectRef>
                <a:fontRef idx="minor">
                  <a:schemeClr val="tx1"/>
                </a:fontRef>
              </p:style>
            </p:cxnSp>
          </p:grpSp>
          <p:sp>
            <p:nvSpPr>
              <p:cNvPr id="450" name="Camera body"/>
              <p:cNvSpPr/>
              <p:nvPr/>
            </p:nvSpPr>
            <p:spPr>
              <a:xfrm>
                <a:off x="17983200" y="2052320"/>
                <a:ext cx="182880" cy="223520"/>
              </a:xfrm>
              <a:custGeom>
                <a:avLst/>
                <a:gdLst/>
                <a:ahLst/>
                <a:cxnLst/>
                <a:rect l="l" t="t" r="r" b="b"/>
                <a:pathLst>
                  <a:path w="18" h="22">
                    <a:moveTo>
                      <a:pt x="18" y="14"/>
                    </a:moveTo>
                    <a:lnTo>
                      <a:pt x="5" y="22"/>
                    </a:lnTo>
                    <a:lnTo>
                      <a:pt x="0" y="7"/>
                    </a:lnTo>
                    <a:lnTo>
                      <a:pt x="12" y="0"/>
                    </a:lnTo>
                    <a:close/>
                  </a:path>
                </a:pathLst>
              </a:custGeom>
              <a:solidFill>
                <a:srgbClr val="198F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Lens"/>
              <p:cNvSpPr/>
              <p:nvPr/>
            </p:nvSpPr>
            <p:spPr>
              <a:xfrm>
                <a:off x="18057901" y="2138605"/>
                <a:ext cx="51816" cy="67361"/>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52" name="Explicit camera coordinate transform"/>
            <p:cNvGrpSpPr/>
            <p:nvPr/>
          </p:nvGrpSpPr>
          <p:grpSpPr>
            <a:xfrm>
              <a:off x="15798800" y="2245360"/>
              <a:ext cx="1615440" cy="0"/>
              <a:chOff x="15798800" y="2245360"/>
              <a:chExt cx="1615440" cy="0"/>
            </a:xfrm>
          </p:grpSpPr>
          <p:cxnSp>
            <p:nvCxnSpPr>
              <p:cNvPr id="453" name="Explicit camera coordinate transform segment 1"/>
              <p:cNvCxnSpPr/>
              <p:nvPr/>
            </p:nvCxnSpPr>
            <p:spPr>
              <a:xfrm>
                <a:off x="15798800" y="2245360"/>
                <a:ext cx="1615440" cy="0"/>
              </a:xfrm>
              <a:prstGeom prst="line">
                <a:avLst/>
              </a:prstGeom>
              <a:ln w="17272">
                <a:solidFill>
                  <a:srgbClr val="198F84"/>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454" name="Math T_b^align"/>
            <p:cNvSpPr txBox="1"/>
            <p:nvPr/>
          </p:nvSpPr>
          <p:spPr>
            <a:xfrm>
              <a:off x="16154400" y="1930400"/>
              <a:ext cx="894080" cy="304800"/>
            </a:xfrm>
            <a:prstGeom prst="rect">
              <a:avLst/>
            </a:prstGeom>
            <a:noFill/>
          </p:spPr>
          <p:txBody>
            <a:bodyPr wrap="none" lIns="0" rIns="0" tIns="0" bIns="0" anchor="ctr">
              <a:spAutoFit/>
            </a:bodyPr>
            <a:lstStyle/>
            <a:p>
              <a:pPr algn="ctr">
                <a:lnSpc>
                  <a:spcPct val="103000"/>
                </a:lnSpc>
                <a:spcBef>
                  <a:spcPts val="0"/>
                </a:spcBef>
                <a:spcAft>
                  <a:spcPts val="0"/>
                </a:spcAft>
              </a:pPr>
              <a:r>
                <a:rPr sz="2000" b="0" i="1">
                  <a:solidFill>
                    <a:srgbClr val="198F84"/>
                  </a:solidFill>
                  <a:latin typeface="Times New Roman"/>
                </a:rPr>
                <a:t>T</a:t>
              </a:r>
              <a:r>
                <a:rPr sz="1360" b="0" i="0" baseline="-24000">
                  <a:solidFill>
                    <a:srgbClr val="198F84"/>
                  </a:solidFill>
                  <a:latin typeface="Times New Roman"/>
                </a:rPr>
                <a:t>b</a:t>
              </a:r>
              <a:r>
                <a:rPr sz="1300" b="0" i="0" baseline="35000">
                  <a:solidFill>
                    <a:srgbClr val="198F84"/>
                  </a:solidFill>
                  <a:latin typeface="Times New Roman"/>
                </a:rPr>
                <a:t>align</a:t>
              </a:r>
            </a:p>
          </p:txBody>
        </p:sp>
        <p:sp>
          <p:nvSpPr>
            <p:cNvPr id="455" name="Subpanel Prediction-based person association"/>
            <p:cNvSpPr/>
            <p:nvPr/>
          </p:nvSpPr>
          <p:spPr>
            <a:xfrm>
              <a:off x="14813280" y="2885440"/>
              <a:ext cx="3718560" cy="2089404"/>
            </a:xfrm>
            <a:prstGeom prst="roundRect">
              <a:avLst>
                <a:gd name="adj" fmla="val 6077"/>
              </a:avLst>
            </a:prstGeom>
            <a:solidFill>
              <a:srgbClr val="FAFEFC"/>
            </a:solidFill>
            <a:ln w="12700">
              <a:solidFill>
                <a:srgbClr val="A9DA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Subpanel header"/>
            <p:cNvSpPr/>
            <p:nvPr/>
          </p:nvSpPr>
          <p:spPr>
            <a:xfrm>
              <a:off x="14823440" y="2895600"/>
              <a:ext cx="3698240" cy="426720"/>
            </a:xfrm>
            <a:prstGeom prst="roundRect">
              <a:avLst>
                <a:gd name="adj" fmla="val 23809"/>
              </a:avLst>
            </a:prstGeom>
            <a:solidFill>
              <a:srgbClr val="E1F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Header flat edge"/>
            <p:cNvSpPr/>
            <p:nvPr/>
          </p:nvSpPr>
          <p:spPr>
            <a:xfrm>
              <a:off x="14823440" y="3190240"/>
              <a:ext cx="3698240" cy="132080"/>
            </a:xfrm>
            <a:prstGeom prst="rect">
              <a:avLst/>
            </a:prstGeom>
            <a:solidFill>
              <a:srgbClr val="E1F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Text: Prediction-based person association"/>
            <p:cNvSpPr txBox="1"/>
            <p:nvPr/>
          </p:nvSpPr>
          <p:spPr>
            <a:xfrm>
              <a:off x="14955520" y="2936240"/>
              <a:ext cx="3434080" cy="335280"/>
            </a:xfrm>
            <a:prstGeom prst="rect">
              <a:avLst/>
            </a:prstGeom>
            <a:noFill/>
          </p:spPr>
          <p:txBody>
            <a:bodyPr wrap="none" lIns="0" rIns="0" tIns="0" bIns="0" anchor="ctr">
              <a:spAutoFit/>
            </a:bodyPr>
            <a:lstStyle/>
            <a:p>
              <a:pPr algn="l">
                <a:lnSpc>
                  <a:spcPct val="103000"/>
                </a:lnSpc>
                <a:spcBef>
                  <a:spcPts val="0"/>
                </a:spcBef>
                <a:spcAft>
                  <a:spcPts val="0"/>
                </a:spcAft>
              </a:pPr>
              <a:r>
                <a:rPr sz="1480" b="1" i="0">
                  <a:solidFill>
                    <a:srgbClr val="198F84"/>
                  </a:solidFill>
                  <a:latin typeface="Arial"/>
                </a:rPr>
                <a:t>Geometry-based person association</a:t>
              </a:r>
            </a:p>
          </p:txBody>
        </p:sp>
        <p:sp>
          <p:nvSpPr>
            <p:cNvPr id="459" name="Text: Previous shot"/>
            <p:cNvSpPr txBox="1"/>
            <p:nvPr/>
          </p:nvSpPr>
          <p:spPr>
            <a:xfrm>
              <a:off x="14932151" y="3364992"/>
              <a:ext cx="1508760" cy="205740"/>
            </a:xfrm>
            <a:prstGeom prst="rect">
              <a:avLst/>
            </a:prstGeom>
            <a:noFill/>
          </p:spPr>
          <p:txBody>
            <a:bodyPr wrap="none" lIns="0" rIns="0" tIns="0" bIns="0" anchor="ctr">
              <a:spAutoFit/>
            </a:bodyPr>
            <a:lstStyle/>
            <a:p>
              <a:pPr algn="ctr">
                <a:lnSpc>
                  <a:spcPct val="100000"/>
                </a:lnSpc>
                <a:spcBef>
                  <a:spcPts val="0"/>
                </a:spcBef>
                <a:spcAft>
                  <a:spcPts val="0"/>
                </a:spcAft>
              </a:pPr>
              <a:r>
                <a:rPr sz="1290" b="1" i="0">
                  <a:solidFill>
                    <a:srgbClr val="253750"/>
                  </a:solidFill>
                  <a:latin typeface="Arial"/>
                </a:rPr>
                <a:t>Previous shot</a:t>
              </a:r>
            </a:p>
          </p:txBody>
        </p:sp>
        <p:sp>
          <p:nvSpPr>
            <p:cNvPr id="460" name="Text: New shot (aligned)"/>
            <p:cNvSpPr txBox="1"/>
            <p:nvPr/>
          </p:nvSpPr>
          <p:spPr>
            <a:xfrm>
              <a:off x="16888968" y="3364992"/>
              <a:ext cx="1563624" cy="205740"/>
            </a:xfrm>
            <a:prstGeom prst="rect">
              <a:avLst/>
            </a:prstGeom>
            <a:noFill/>
          </p:spPr>
          <p:txBody>
            <a:bodyPr wrap="none" lIns="0" rIns="0" tIns="0" bIns="0" anchor="ctr">
              <a:spAutoFit/>
            </a:bodyPr>
            <a:lstStyle/>
            <a:p>
              <a:pPr algn="ctr">
                <a:lnSpc>
                  <a:spcPct val="100000"/>
                </a:lnSpc>
                <a:spcBef>
                  <a:spcPts val="0"/>
                </a:spcBef>
                <a:spcAft>
                  <a:spcPts val="0"/>
                </a:spcAft>
              </a:pPr>
              <a:r>
                <a:rPr sz="1290" b="1" i="0">
                  <a:solidFill>
                    <a:srgbClr val="253750"/>
                  </a:solidFill>
                  <a:latin typeface="Arial"/>
                </a:rPr>
                <a:t>New shot (aligned)</a:t>
              </a:r>
            </a:p>
          </p:txBody>
        </p:sp>
        <p:pic>
          <p:nvPicPr>
            <p:cNvPr id="461" name="Real mesh | previous shot | predicted ID 0" descr="Actual Shot3R predicted mesh: Harmony4D case_01, f049, persistent ID 0. Display-centered individual thumbnail, not a spatial layout or GT identity claim. Mesh source: /data/wangzheng/iJCV-CODE/Movie3R/publication/shot3r_teaser_v1_20260906/assets/case_01/meshes/f049/id00_slot00.ply"/>
            <p:cNvPicPr>
              <a:picLocks noChangeAspect="1"/>
            </p:cNvPicPr>
            <p:nvPr/>
          </p:nvPicPr>
          <p:blipFill>
            <a:blip r:embed="rId20"/>
            <a:stretch>
              <a:fillRect/>
            </a:stretch>
          </p:blipFill>
          <p:spPr>
            <a:xfrm>
              <a:off x="15073435" y="3895039"/>
              <a:ext cx="343130" cy="631179"/>
            </a:xfrm>
            <a:prstGeom prst="rect">
              <a:avLst/>
            </a:prstGeom>
          </p:spPr>
        </p:pic>
        <p:pic>
          <p:nvPicPr>
            <p:cNvPr id="462" name="Real mesh | previous shot | predicted ID 1" descr="Actual Shot3R predicted mesh: Harmony4D case_01, f049, persistent ID 1. Display-centered individual thumbnail, not a spatial layout or GT identity claim. Mesh source: /data/wangzheng/iJCV-CODE/Movie3R/publication/shot3r_teaser_v1_20260906/assets/case_01/meshes/f049/id01_slot01.ply"/>
            <p:cNvPicPr>
              <a:picLocks noChangeAspect="1"/>
            </p:cNvPicPr>
            <p:nvPr/>
          </p:nvPicPr>
          <p:blipFill>
            <a:blip r:embed="rId21"/>
            <a:stretch>
              <a:fillRect/>
            </a:stretch>
          </p:blipFill>
          <p:spPr>
            <a:xfrm>
              <a:off x="15682291" y="3895039"/>
              <a:ext cx="205418" cy="631179"/>
            </a:xfrm>
            <a:prstGeom prst="rect">
              <a:avLst/>
            </a:prstGeom>
          </p:spPr>
        </p:pic>
        <p:pic>
          <p:nvPicPr>
            <p:cNvPr id="463" name="Real mesh | new shot | predicted ID 1" descr="Actual Shot3R predicted mesh: Harmony4D case_01, f050, persistent ID 1. Display-centered individual thumbnail, not a spatial layout or GT identity claim. Mesh source: /data/wangzheng/iJCV-CODE/Movie3R/publication/shot3r_teaser_v1_20260906/assets/case_01/meshes/f050/id01_slot00.ply"/>
            <p:cNvPicPr>
              <a:picLocks noChangeAspect="1"/>
            </p:cNvPicPr>
            <p:nvPr/>
          </p:nvPicPr>
          <p:blipFill>
            <a:blip r:embed="rId22"/>
            <a:stretch>
              <a:fillRect/>
            </a:stretch>
          </p:blipFill>
          <p:spPr>
            <a:xfrm>
              <a:off x="17237832" y="3895039"/>
              <a:ext cx="194337" cy="631179"/>
            </a:xfrm>
            <a:prstGeom prst="rect">
              <a:avLst/>
            </a:prstGeom>
          </p:spPr>
        </p:pic>
        <p:pic>
          <p:nvPicPr>
            <p:cNvPr id="464" name="Real mesh | new shot | predicted ID 0" descr="Actual Shot3R predicted mesh: Harmony4D case_01, f050, persistent ID 0. Display-centered individual thumbnail, not a spatial layout or GT identity claim. Mesh source: /data/wangzheng/iJCV-CODE/Movie3R/publication/shot3r_teaser_v1_20260906/assets/case_01/meshes/f050/id00_slot02.ply"/>
            <p:cNvPicPr>
              <a:picLocks noChangeAspect="1"/>
            </p:cNvPicPr>
            <p:nvPr/>
          </p:nvPicPr>
          <p:blipFill>
            <a:blip r:embed="rId23"/>
            <a:stretch>
              <a:fillRect/>
            </a:stretch>
          </p:blipFill>
          <p:spPr>
            <a:xfrm>
              <a:off x="17727636" y="3895039"/>
              <a:ext cx="294728" cy="631179"/>
            </a:xfrm>
            <a:prstGeom prst="rect">
              <a:avLst/>
            </a:prstGeom>
          </p:spPr>
        </p:pic>
        <p:grpSp>
          <p:nvGrpSpPr>
            <p:cNvPr id="465" name="Cross-shot association two"/>
            <p:cNvGrpSpPr/>
            <p:nvPr/>
          </p:nvGrpSpPr>
          <p:grpSpPr>
            <a:xfrm>
              <a:off x="16185000" y="4017919"/>
              <a:ext cx="750000" cy="330000"/>
              <a:chOff x="16185000" y="4017919"/>
              <a:chExt cx="750000" cy="330000"/>
            </a:xfrm>
          </p:grpSpPr>
          <p:cxnSp>
            <p:nvCxnSpPr>
              <p:cNvPr id="466" name="Cross-shot association two segment 1"/>
              <p:cNvCxnSpPr/>
              <p:nvPr/>
            </p:nvCxnSpPr>
            <p:spPr>
              <a:xfrm>
                <a:off x="16185000" y="4017919"/>
                <a:ext cx="750000" cy="330000"/>
              </a:xfrm>
              <a:prstGeom prst="line">
                <a:avLst/>
              </a:prstGeom>
              <a:ln w="15240">
                <a:solidFill>
                  <a:srgbClr val="E6A168"/>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467" name="Cross-shot association three"/>
            <p:cNvGrpSpPr/>
            <p:nvPr/>
          </p:nvGrpSpPr>
          <p:grpSpPr>
            <a:xfrm>
              <a:off x="16185000" y="4017919"/>
              <a:ext cx="750000" cy="330000"/>
              <a:chOff x="16185000" y="4017919"/>
              <a:chExt cx="750000" cy="330000"/>
            </a:xfrm>
          </p:grpSpPr>
          <p:cxnSp>
            <p:nvCxnSpPr>
              <p:cNvPr id="468" name="Cross-shot association three segment 1"/>
              <p:cNvCxnSpPr/>
              <p:nvPr/>
            </p:nvCxnSpPr>
            <p:spPr>
              <a:xfrm flipV="1">
                <a:off x="16185000" y="4017919"/>
                <a:ext cx="750000" cy="330000"/>
              </a:xfrm>
              <a:prstGeom prst="line">
                <a:avLst/>
              </a:prstGeom>
              <a:ln w="15240">
                <a:solidFill>
                  <a:srgbClr val="4CB39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469" name="Text: Association cues"/>
            <p:cNvSpPr txBox="1"/>
            <p:nvPr/>
          </p:nvSpPr>
          <p:spPr>
            <a:xfrm>
              <a:off x="14975840" y="4590288"/>
              <a:ext cx="3393440" cy="329184"/>
            </a:xfrm>
            <a:prstGeom prst="rect">
              <a:avLst/>
            </a:prstGeom>
            <a:noFill/>
          </p:spPr>
          <p:txBody>
            <a:bodyPr wrap="none" lIns="0" rIns="0" tIns="0" bIns="0" anchor="ctr">
              <a:spAutoFit/>
            </a:bodyPr>
            <a:lstStyle/>
            <a:p>
              <a:pPr algn="ctr">
                <a:lnSpc>
                  <a:spcPct val="100000"/>
                </a:lnSpc>
                <a:spcBef>
                  <a:spcPts val="0"/>
                </a:spcBef>
                <a:spcAft>
                  <a:spcPts val="0"/>
                </a:spcAft>
              </a:pPr>
              <a:r>
                <a:rPr sz="1150" b="0" i="0">
                  <a:solidFill>
                    <a:srgbClr val="637C9A"/>
                  </a:solidFill>
                  <a:latin typeface="Arial"/>
                </a:rPr>
                <a:t>Pelvis position · Torso orientation</a:t>
              </a:r>
            </a:p>
            <a:p>
              <a:pPr algn="ctr">
                <a:lnSpc>
                  <a:spcPct val="100000"/>
                </a:lnSpc>
                <a:spcBef>
                  <a:spcPts val="0"/>
                </a:spcBef>
                <a:spcAft>
                  <a:spcPts val="0"/>
                </a:spcAft>
              </a:pPr>
              <a:r>
                <a:rPr sz="1150" b="0" i="0">
                  <a:solidFill>
                    <a:srgbClr val="637C9A"/>
                  </a:solidFill>
                  <a:latin typeface="Arial"/>
                </a:rPr>
                <a:t>Root-centered joint configuration</a:t>
              </a:r>
            </a:p>
          </p:txBody>
        </p:sp>
        <p:sp>
          <p:nvSpPr>
            <p:cNvPr id="470" name="Subpanel Person-guided translation"/>
            <p:cNvSpPr/>
            <p:nvPr/>
          </p:nvSpPr>
          <p:spPr>
            <a:xfrm>
              <a:off x="14813280" y="5537200"/>
              <a:ext cx="3718560" cy="1472184"/>
            </a:xfrm>
            <a:prstGeom prst="roundRect">
              <a:avLst>
                <a:gd name="adj" fmla="val 7857"/>
              </a:avLst>
            </a:prstGeom>
            <a:solidFill>
              <a:srgbClr val="FAFEFC"/>
            </a:solidFill>
            <a:ln w="12700">
              <a:solidFill>
                <a:srgbClr val="A9DA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1" name="Subpanel header"/>
            <p:cNvSpPr/>
            <p:nvPr/>
          </p:nvSpPr>
          <p:spPr>
            <a:xfrm>
              <a:off x="14823440" y="5547360"/>
              <a:ext cx="3698240" cy="426720"/>
            </a:xfrm>
            <a:prstGeom prst="roundRect">
              <a:avLst>
                <a:gd name="adj" fmla="val 23809"/>
              </a:avLst>
            </a:prstGeom>
            <a:solidFill>
              <a:srgbClr val="E1F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2" name="Header flat edge"/>
            <p:cNvSpPr/>
            <p:nvPr/>
          </p:nvSpPr>
          <p:spPr>
            <a:xfrm>
              <a:off x="14823440" y="5842000"/>
              <a:ext cx="3698240" cy="132080"/>
            </a:xfrm>
            <a:prstGeom prst="rect">
              <a:avLst/>
            </a:prstGeom>
            <a:solidFill>
              <a:srgbClr val="E1F5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3" name="Text: Person-guided translation"/>
            <p:cNvSpPr txBox="1"/>
            <p:nvPr/>
          </p:nvSpPr>
          <p:spPr>
            <a:xfrm>
              <a:off x="14955520" y="5588000"/>
              <a:ext cx="3434080" cy="335280"/>
            </a:xfrm>
            <a:prstGeom prst="rect">
              <a:avLst/>
            </a:prstGeom>
            <a:noFill/>
          </p:spPr>
          <p:txBody>
            <a:bodyPr wrap="none" lIns="0" rIns="0" tIns="0" bIns="0" anchor="ctr">
              <a:spAutoFit/>
            </a:bodyPr>
            <a:lstStyle/>
            <a:p>
              <a:pPr algn="l">
                <a:lnSpc>
                  <a:spcPct val="103000"/>
                </a:lnSpc>
                <a:spcBef>
                  <a:spcPts val="0"/>
                </a:spcBef>
                <a:spcAft>
                  <a:spcPts val="0"/>
                </a:spcAft>
              </a:pPr>
              <a:r>
                <a:rPr sz="1760" b="1" i="0">
                  <a:solidFill>
                    <a:srgbClr val="198F84"/>
                  </a:solidFill>
                  <a:latin typeface="Arial"/>
                </a:rPr>
                <a:t>Person-guided translation</a:t>
              </a:r>
            </a:p>
          </p:txBody>
        </p:sp>
        <p:sp>
          <p:nvSpPr>
            <p:cNvPr id="474" name="Text: Shared translation"/>
            <p:cNvSpPr txBox="1"/>
            <p:nvPr/>
          </p:nvSpPr>
          <p:spPr>
            <a:xfrm>
              <a:off x="15270480" y="5987491"/>
              <a:ext cx="2761488" cy="243840"/>
            </a:xfrm>
            <a:prstGeom prst="rect">
              <a:avLst/>
            </a:prstGeom>
            <a:noFill/>
          </p:spPr>
          <p:txBody>
            <a:bodyPr wrap="none" lIns="0" rIns="0" tIns="0" bIns="0" anchor="ctr">
              <a:spAutoFit/>
            </a:bodyPr>
            <a:lstStyle/>
            <a:p>
              <a:pPr algn="ctr">
                <a:lnSpc>
                  <a:spcPct val="100000"/>
                </a:lnSpc>
                <a:spcBef>
                  <a:spcPts val="0"/>
                </a:spcBef>
                <a:spcAft>
                  <a:spcPts val="0"/>
                </a:spcAft>
              </a:pPr>
              <a:r>
                <a:rPr sz="1400" b="0" i="0">
                  <a:solidFill>
                    <a:srgbClr val="253750"/>
                  </a:solidFill>
                  <a:latin typeface="Arial"/>
                </a:rPr>
                <a:t>One shared translation</a:t>
              </a:r>
            </a:p>
          </p:txBody>
        </p:sp>
        <p:grpSp>
          <p:nvGrpSpPr>
            <p:cNvPr id="475" name="One shared translation for cameras and all people"/>
            <p:cNvGrpSpPr/>
            <p:nvPr/>
          </p:nvGrpSpPr>
          <p:grpSpPr>
            <a:xfrm>
              <a:off x="16164560" y="6502400"/>
              <a:ext cx="701040" cy="0"/>
              <a:chOff x="16164560" y="6502400"/>
              <a:chExt cx="701040" cy="0"/>
            </a:xfrm>
          </p:grpSpPr>
          <p:cxnSp>
            <p:nvCxnSpPr>
              <p:cNvPr id="476" name="One shared translation for cameras and all people segment 1"/>
              <p:cNvCxnSpPr/>
              <p:nvPr/>
            </p:nvCxnSpPr>
            <p:spPr>
              <a:xfrm>
                <a:off x="16164560" y="6502400"/>
                <a:ext cx="701040" cy="0"/>
              </a:xfrm>
              <a:prstGeom prst="line">
                <a:avLst/>
              </a:prstGeom>
              <a:ln w="19304">
                <a:solidFill>
                  <a:srgbClr val="198F84"/>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477" name="Math Δ_b^"/>
            <p:cNvSpPr txBox="1"/>
            <p:nvPr/>
          </p:nvSpPr>
          <p:spPr>
            <a:xfrm>
              <a:off x="16235680" y="6207760"/>
              <a:ext cx="558800" cy="264160"/>
            </a:xfrm>
            <a:prstGeom prst="rect">
              <a:avLst/>
            </a:prstGeom>
            <a:noFill/>
          </p:spPr>
          <p:txBody>
            <a:bodyPr wrap="none" lIns="0" rIns="0" tIns="0" bIns="0" anchor="ctr">
              <a:spAutoFit/>
            </a:bodyPr>
            <a:lstStyle/>
            <a:p>
              <a:pPr algn="ctr">
                <a:lnSpc>
                  <a:spcPct val="103000"/>
                </a:lnSpc>
                <a:spcBef>
                  <a:spcPts val="0"/>
                </a:spcBef>
                <a:spcAft>
                  <a:spcPts val="0"/>
                </a:spcAft>
              </a:pPr>
              <a:r>
                <a:rPr sz="1760" b="0" i="1">
                  <a:solidFill>
                    <a:srgbClr val="198F84"/>
                  </a:solidFill>
                  <a:latin typeface="Times New Roman"/>
                </a:rPr>
                <a:t>Δ</a:t>
              </a:r>
              <a:r>
                <a:rPr sz="1196" b="0" i="0" baseline="-24000">
                  <a:solidFill>
                    <a:srgbClr val="198F84"/>
                  </a:solidFill>
                  <a:latin typeface="Times New Roman"/>
                </a:rPr>
                <a:t>b</a:t>
              </a:r>
            </a:p>
          </p:txBody>
        </p:sp>
        <p:sp>
          <p:nvSpPr>
            <p:cNvPr id="478" name="Text: Shared camera–human transform"/>
            <p:cNvSpPr txBox="1"/>
            <p:nvPr/>
          </p:nvSpPr>
          <p:spPr>
            <a:xfrm>
              <a:off x="14959584" y="6761988"/>
              <a:ext cx="3438144" cy="228600"/>
            </a:xfrm>
            <a:prstGeom prst="rect">
              <a:avLst/>
            </a:prstGeom>
            <a:noFill/>
          </p:spPr>
          <p:txBody>
            <a:bodyPr wrap="none" lIns="0" rIns="0" tIns="0" bIns="0" anchor="ctr">
              <a:spAutoFit/>
            </a:bodyPr>
            <a:lstStyle/>
            <a:p>
              <a:pPr algn="ctr">
                <a:lnSpc>
                  <a:spcPct val="100000"/>
                </a:lnSpc>
                <a:spcBef>
                  <a:spcPts val="0"/>
                </a:spcBef>
                <a:spcAft>
                  <a:spcPts val="0"/>
                </a:spcAft>
              </a:pPr>
              <a:r>
                <a:rPr sz="1065" b="0" i="0">
                  <a:solidFill>
                    <a:srgbClr val="637C9A"/>
                  </a:solidFill>
                  <a:latin typeface="Arial"/>
                </a:rPr>
                <a:t>Camera + all humans · relative geometry preserved</a:t>
              </a:r>
            </a:p>
          </p:txBody>
        </p:sp>
        <p:grpSp>
          <p:nvGrpSpPr>
            <p:cNvPr id="479" name="Before shared translation"/>
            <p:cNvGrpSpPr/>
            <p:nvPr/>
          </p:nvGrpSpPr>
          <p:grpSpPr>
            <a:xfrm>
              <a:off x="14925000" y="6230080"/>
              <a:ext cx="1240000" cy="496000"/>
              <a:chOff x="14925000" y="6230080"/>
              <a:chExt cx="1240000" cy="496000"/>
            </a:xfrm>
          </p:grpSpPr>
          <p:cxnSp>
            <p:nvCxnSpPr>
              <p:cNvPr id="480" name="Display grid | Before shared translation | 0"/>
              <p:cNvCxnSpPr/>
              <p:nvPr/>
            </p:nvCxnSpPr>
            <p:spPr>
              <a:xfrm flipH="1">
                <a:off x="14943600" y="6636118"/>
                <a:ext cx="5460" cy="16178"/>
              </a:xfrm>
              <a:prstGeom prst="line">
                <a:avLst/>
              </a:prstGeom>
              <a:ln w="6000">
                <a:solidFill>
                  <a:srgbClr val="E3E8EC"/>
                </a:solidFill>
              </a:ln>
            </p:spPr>
          </p:cxnSp>
          <p:cxnSp>
            <p:nvCxnSpPr>
              <p:cNvPr id="481" name="Display grid | Before shared translation | 1"/>
              <p:cNvCxnSpPr/>
              <p:nvPr/>
            </p:nvCxnSpPr>
            <p:spPr>
              <a:xfrm flipH="1">
                <a:off x="15224461" y="6638359"/>
                <a:ext cx="27093" cy="80281"/>
              </a:xfrm>
              <a:prstGeom prst="line">
                <a:avLst/>
              </a:prstGeom>
              <a:ln w="6000">
                <a:solidFill>
                  <a:srgbClr val="E3E8EC"/>
                </a:solidFill>
              </a:ln>
            </p:spPr>
          </p:cxnSp>
          <p:cxnSp>
            <p:nvCxnSpPr>
              <p:cNvPr id="482" name="Display grid | Before shared translation | 2"/>
              <p:cNvCxnSpPr/>
              <p:nvPr/>
            </p:nvCxnSpPr>
            <p:spPr>
              <a:xfrm flipH="1">
                <a:off x="15527711" y="6640600"/>
                <a:ext cx="26337" cy="78040"/>
              </a:xfrm>
              <a:prstGeom prst="line">
                <a:avLst/>
              </a:prstGeom>
              <a:ln w="6000">
                <a:solidFill>
                  <a:srgbClr val="E3E8EC"/>
                </a:solidFill>
              </a:ln>
            </p:spPr>
          </p:cxnSp>
          <p:cxnSp>
            <p:nvCxnSpPr>
              <p:cNvPr id="483" name="Display grid | Before shared translation | 3"/>
              <p:cNvCxnSpPr/>
              <p:nvPr/>
            </p:nvCxnSpPr>
            <p:spPr>
              <a:xfrm flipH="1">
                <a:off x="15830961" y="6642841"/>
                <a:ext cx="25580" cy="75799"/>
              </a:xfrm>
              <a:prstGeom prst="line">
                <a:avLst/>
              </a:prstGeom>
              <a:ln w="6000">
                <a:solidFill>
                  <a:srgbClr val="E3E8EC"/>
                </a:solidFill>
              </a:ln>
            </p:spPr>
          </p:cxnSp>
          <p:cxnSp>
            <p:nvCxnSpPr>
              <p:cNvPr id="484" name="Display grid | Before shared translation | 4"/>
              <p:cNvCxnSpPr/>
              <p:nvPr/>
            </p:nvCxnSpPr>
            <p:spPr>
              <a:xfrm>
                <a:off x="14949060" y="6636118"/>
                <a:ext cx="1188368" cy="8803"/>
              </a:xfrm>
              <a:prstGeom prst="line">
                <a:avLst/>
              </a:prstGeom>
              <a:ln w="6000">
                <a:solidFill>
                  <a:srgbClr val="E3E8EC"/>
                </a:solidFill>
              </a:ln>
            </p:spPr>
          </p:cxnSp>
          <p:cxnSp>
            <p:nvCxnSpPr>
              <p:cNvPr id="485" name="Display grid | Before shared translation | 5"/>
              <p:cNvCxnSpPr/>
              <p:nvPr/>
            </p:nvCxnSpPr>
            <p:spPr>
              <a:xfrm>
                <a:off x="14943600" y="6681007"/>
                <a:ext cx="1178703" cy="8732"/>
              </a:xfrm>
              <a:prstGeom prst="line">
                <a:avLst/>
              </a:prstGeom>
              <a:ln w="6000">
                <a:solidFill>
                  <a:srgbClr val="E3E8EC"/>
                </a:solidFill>
              </a:ln>
            </p:spPr>
          </p:cxnSp>
          <p:pic>
            <p:nvPicPr>
              <p:cNvPr id="486" name="Real predicted humans | Before shared translation" descr="Jointly rendered real cached meshes, common world scale and projection. See asset_provenance.json."/>
              <p:cNvPicPr>
                <a:picLocks noChangeAspect="1"/>
              </p:cNvPicPr>
              <p:nvPr/>
            </p:nvPicPr>
            <p:blipFill>
              <a:blip r:embed="rId32"/>
              <a:stretch>
                <a:fillRect/>
              </a:stretch>
            </p:blipFill>
            <p:spPr>
              <a:xfrm>
                <a:off x="14925000" y="6230080"/>
                <a:ext cx="1240000" cy="496000"/>
              </a:xfrm>
              <a:prstGeom prst="rect">
                <a:avLst/>
              </a:prstGeom>
            </p:spPr>
          </p:pic>
          <p:cxnSp>
            <p:nvCxnSpPr>
              <p:cNvPr id="487" name="Predicted camera | Before shared translation |  | 0"/>
              <p:cNvCxnSpPr/>
              <p:nvPr/>
            </p:nvCxnSpPr>
            <p:spPr>
              <a:xfrm flipV="1">
                <a:off x="15841455" y="6402206"/>
                <a:ext cx="55108" cy="36761"/>
              </a:xfrm>
              <a:prstGeom prst="line">
                <a:avLst/>
              </a:prstGeom>
              <a:ln w="11000">
                <a:solidFill>
                  <a:srgbClr val="9CAAB7"/>
                </a:solidFill>
              </a:ln>
            </p:spPr>
          </p:cxnSp>
          <p:cxnSp>
            <p:nvCxnSpPr>
              <p:cNvPr id="488" name="Predicted camera | Before shared translation |  | 1"/>
              <p:cNvCxnSpPr/>
              <p:nvPr/>
            </p:nvCxnSpPr>
            <p:spPr>
              <a:xfrm flipH="1" flipV="1">
                <a:off x="15766006" y="6402776"/>
                <a:ext cx="75449" cy="36191"/>
              </a:xfrm>
              <a:prstGeom prst="line">
                <a:avLst/>
              </a:prstGeom>
              <a:ln w="11000">
                <a:solidFill>
                  <a:srgbClr val="9CAAB7"/>
                </a:solidFill>
              </a:ln>
            </p:spPr>
          </p:cxnSp>
          <p:cxnSp>
            <p:nvCxnSpPr>
              <p:cNvPr id="489" name="Predicted camera | Before shared translation |  | 2"/>
              <p:cNvCxnSpPr/>
              <p:nvPr/>
            </p:nvCxnSpPr>
            <p:spPr>
              <a:xfrm flipH="1">
                <a:off x="15766381" y="6438967"/>
                <a:ext cx="75075" cy="37794"/>
              </a:xfrm>
              <a:prstGeom prst="line">
                <a:avLst/>
              </a:prstGeom>
              <a:ln w="11000">
                <a:solidFill>
                  <a:srgbClr val="9CAAB7"/>
                </a:solidFill>
              </a:ln>
            </p:spPr>
          </p:cxnSp>
          <p:cxnSp>
            <p:nvCxnSpPr>
              <p:cNvPr id="490" name="Predicted camera | Before shared translation |  | 3"/>
              <p:cNvCxnSpPr/>
              <p:nvPr/>
            </p:nvCxnSpPr>
            <p:spPr>
              <a:xfrm>
                <a:off x="15841455" y="6438967"/>
                <a:ext cx="55483" cy="37224"/>
              </a:xfrm>
              <a:prstGeom prst="line">
                <a:avLst/>
              </a:prstGeom>
              <a:ln w="11000">
                <a:solidFill>
                  <a:srgbClr val="9CAAB7"/>
                </a:solidFill>
              </a:ln>
            </p:spPr>
          </p:cxnSp>
          <p:cxnSp>
            <p:nvCxnSpPr>
              <p:cNvPr id="491" name="Predicted camera | Before shared translation |  | 4"/>
              <p:cNvCxnSpPr/>
              <p:nvPr/>
            </p:nvCxnSpPr>
            <p:spPr>
              <a:xfrm flipH="1">
                <a:off x="15766006" y="6402206"/>
                <a:ext cx="130558" cy="570"/>
              </a:xfrm>
              <a:prstGeom prst="line">
                <a:avLst/>
              </a:prstGeom>
              <a:ln w="11000">
                <a:solidFill>
                  <a:srgbClr val="9CAAB7"/>
                </a:solidFill>
              </a:ln>
            </p:spPr>
          </p:cxnSp>
          <p:cxnSp>
            <p:nvCxnSpPr>
              <p:cNvPr id="492" name="Predicted camera | Before shared translation |  | 5"/>
              <p:cNvCxnSpPr/>
              <p:nvPr/>
            </p:nvCxnSpPr>
            <p:spPr>
              <a:xfrm>
                <a:off x="15766006" y="6402776"/>
                <a:ext cx="375" cy="73985"/>
              </a:xfrm>
              <a:prstGeom prst="line">
                <a:avLst/>
              </a:prstGeom>
              <a:ln w="11000">
                <a:solidFill>
                  <a:srgbClr val="9CAAB7"/>
                </a:solidFill>
              </a:ln>
            </p:spPr>
          </p:cxnSp>
          <p:cxnSp>
            <p:nvCxnSpPr>
              <p:cNvPr id="493" name="Predicted camera | Before shared translation |  | 6"/>
              <p:cNvCxnSpPr/>
              <p:nvPr/>
            </p:nvCxnSpPr>
            <p:spPr>
              <a:xfrm flipV="1">
                <a:off x="15766381" y="6476191"/>
                <a:ext cx="130558" cy="570"/>
              </a:xfrm>
              <a:prstGeom prst="line">
                <a:avLst/>
              </a:prstGeom>
              <a:ln w="11000">
                <a:solidFill>
                  <a:srgbClr val="9CAAB7"/>
                </a:solidFill>
              </a:ln>
            </p:spPr>
          </p:cxnSp>
          <p:cxnSp>
            <p:nvCxnSpPr>
              <p:cNvPr id="494" name="Predicted camera | Before shared translation |  | 7"/>
              <p:cNvCxnSpPr/>
              <p:nvPr/>
            </p:nvCxnSpPr>
            <p:spPr>
              <a:xfrm flipH="1" flipV="1">
                <a:off x="15896564" y="6402206"/>
                <a:ext cx="375" cy="73985"/>
              </a:xfrm>
              <a:prstGeom prst="line">
                <a:avLst/>
              </a:prstGeom>
              <a:ln w="11000">
                <a:solidFill>
                  <a:srgbClr val="9CAAB7"/>
                </a:solidFill>
              </a:ln>
            </p:spPr>
          </p:cxnSp>
        </p:grpSp>
        <p:grpSp>
          <p:nvGrpSpPr>
            <p:cNvPr id="495" name="After shared translation"/>
            <p:cNvGrpSpPr/>
            <p:nvPr/>
          </p:nvGrpSpPr>
          <p:grpSpPr>
            <a:xfrm>
              <a:off x="16975000" y="6230080"/>
              <a:ext cx="1240000" cy="496000"/>
              <a:chOff x="16975000" y="6230080"/>
              <a:chExt cx="1240000" cy="496000"/>
            </a:xfrm>
          </p:grpSpPr>
          <p:cxnSp>
            <p:nvCxnSpPr>
              <p:cNvPr id="496" name="Display grid | After shared translation | 0"/>
              <p:cNvCxnSpPr/>
              <p:nvPr/>
            </p:nvCxnSpPr>
            <p:spPr>
              <a:xfrm flipH="1">
                <a:off x="16993600" y="6636118"/>
                <a:ext cx="5460" cy="16178"/>
              </a:xfrm>
              <a:prstGeom prst="line">
                <a:avLst/>
              </a:prstGeom>
              <a:ln w="6000">
                <a:solidFill>
                  <a:srgbClr val="E3E8EC"/>
                </a:solidFill>
              </a:ln>
            </p:spPr>
          </p:cxnSp>
          <p:cxnSp>
            <p:nvCxnSpPr>
              <p:cNvPr id="497" name="Display grid | After shared translation | 1"/>
              <p:cNvCxnSpPr/>
              <p:nvPr/>
            </p:nvCxnSpPr>
            <p:spPr>
              <a:xfrm flipH="1">
                <a:off x="17274461" y="6638359"/>
                <a:ext cx="27093" cy="80281"/>
              </a:xfrm>
              <a:prstGeom prst="line">
                <a:avLst/>
              </a:prstGeom>
              <a:ln w="6000">
                <a:solidFill>
                  <a:srgbClr val="E3E8EC"/>
                </a:solidFill>
              </a:ln>
            </p:spPr>
          </p:cxnSp>
          <p:cxnSp>
            <p:nvCxnSpPr>
              <p:cNvPr id="498" name="Display grid | After shared translation | 2"/>
              <p:cNvCxnSpPr/>
              <p:nvPr/>
            </p:nvCxnSpPr>
            <p:spPr>
              <a:xfrm flipH="1">
                <a:off x="17577711" y="6640600"/>
                <a:ext cx="26337" cy="78040"/>
              </a:xfrm>
              <a:prstGeom prst="line">
                <a:avLst/>
              </a:prstGeom>
              <a:ln w="6000">
                <a:solidFill>
                  <a:srgbClr val="E3E8EC"/>
                </a:solidFill>
              </a:ln>
            </p:spPr>
          </p:cxnSp>
          <p:cxnSp>
            <p:nvCxnSpPr>
              <p:cNvPr id="499" name="Display grid | After shared translation | 3"/>
              <p:cNvCxnSpPr/>
              <p:nvPr/>
            </p:nvCxnSpPr>
            <p:spPr>
              <a:xfrm flipH="1">
                <a:off x="17880961" y="6642841"/>
                <a:ext cx="25580" cy="75799"/>
              </a:xfrm>
              <a:prstGeom prst="line">
                <a:avLst/>
              </a:prstGeom>
              <a:ln w="6000">
                <a:solidFill>
                  <a:srgbClr val="E3E8EC"/>
                </a:solidFill>
              </a:ln>
            </p:spPr>
          </p:cxnSp>
          <p:cxnSp>
            <p:nvCxnSpPr>
              <p:cNvPr id="500" name="Display grid | After shared translation | 4"/>
              <p:cNvCxnSpPr/>
              <p:nvPr/>
            </p:nvCxnSpPr>
            <p:spPr>
              <a:xfrm>
                <a:off x="16999060" y="6636118"/>
                <a:ext cx="1188368" cy="8803"/>
              </a:xfrm>
              <a:prstGeom prst="line">
                <a:avLst/>
              </a:prstGeom>
              <a:ln w="6000">
                <a:solidFill>
                  <a:srgbClr val="E3E8EC"/>
                </a:solidFill>
              </a:ln>
            </p:spPr>
          </p:cxnSp>
          <p:cxnSp>
            <p:nvCxnSpPr>
              <p:cNvPr id="501" name="Display grid | After shared translation | 5"/>
              <p:cNvCxnSpPr/>
              <p:nvPr/>
            </p:nvCxnSpPr>
            <p:spPr>
              <a:xfrm>
                <a:off x="16993600" y="6681007"/>
                <a:ext cx="1178703" cy="8732"/>
              </a:xfrm>
              <a:prstGeom prst="line">
                <a:avLst/>
              </a:prstGeom>
              <a:ln w="6000">
                <a:solidFill>
                  <a:srgbClr val="E3E8EC"/>
                </a:solidFill>
              </a:ln>
            </p:spPr>
          </p:cxnSp>
          <p:pic>
            <p:nvPicPr>
              <p:cNvPr id="502" name="Real predicted humans | After shared translation" descr="Jointly rendered real cached meshes, common world scale and projection. See asset_provenance.json."/>
              <p:cNvPicPr>
                <a:picLocks noChangeAspect="1"/>
              </p:cNvPicPr>
              <p:nvPr/>
            </p:nvPicPr>
            <p:blipFill>
              <a:blip r:embed="rId33"/>
              <a:stretch>
                <a:fillRect/>
              </a:stretch>
            </p:blipFill>
            <p:spPr>
              <a:xfrm>
                <a:off x="16975000" y="6230080"/>
                <a:ext cx="1240000" cy="496000"/>
              </a:xfrm>
              <a:prstGeom prst="rect">
                <a:avLst/>
              </a:prstGeom>
            </p:spPr>
          </p:pic>
          <p:cxnSp>
            <p:nvCxnSpPr>
              <p:cNvPr id="503" name="Predicted camera | After shared translation |  | 0"/>
              <p:cNvCxnSpPr/>
              <p:nvPr/>
            </p:nvCxnSpPr>
            <p:spPr>
              <a:xfrm flipV="1">
                <a:off x="18083028" y="6422898"/>
                <a:ext cx="55108" cy="36761"/>
              </a:xfrm>
              <a:prstGeom prst="line">
                <a:avLst/>
              </a:prstGeom>
              <a:ln w="11000">
                <a:solidFill>
                  <a:srgbClr val="159E91"/>
                </a:solidFill>
              </a:ln>
            </p:spPr>
          </p:cxnSp>
          <p:cxnSp>
            <p:nvCxnSpPr>
              <p:cNvPr id="504" name="Predicted camera | After shared translation |  | 1"/>
              <p:cNvCxnSpPr/>
              <p:nvPr/>
            </p:nvCxnSpPr>
            <p:spPr>
              <a:xfrm flipH="1" flipV="1">
                <a:off x="18007578" y="6423468"/>
                <a:ext cx="75449" cy="36191"/>
              </a:xfrm>
              <a:prstGeom prst="line">
                <a:avLst/>
              </a:prstGeom>
              <a:ln w="11000">
                <a:solidFill>
                  <a:srgbClr val="159E91"/>
                </a:solidFill>
              </a:ln>
            </p:spPr>
          </p:cxnSp>
          <p:cxnSp>
            <p:nvCxnSpPr>
              <p:cNvPr id="505" name="Predicted camera | After shared translation |  | 2"/>
              <p:cNvCxnSpPr/>
              <p:nvPr/>
            </p:nvCxnSpPr>
            <p:spPr>
              <a:xfrm flipH="1">
                <a:off x="18007953" y="6459659"/>
                <a:ext cx="75075" cy="37794"/>
              </a:xfrm>
              <a:prstGeom prst="line">
                <a:avLst/>
              </a:prstGeom>
              <a:ln w="11000">
                <a:solidFill>
                  <a:srgbClr val="159E91"/>
                </a:solidFill>
              </a:ln>
            </p:spPr>
          </p:cxnSp>
          <p:cxnSp>
            <p:nvCxnSpPr>
              <p:cNvPr id="506" name="Predicted camera | After shared translation |  | 3"/>
              <p:cNvCxnSpPr/>
              <p:nvPr/>
            </p:nvCxnSpPr>
            <p:spPr>
              <a:xfrm>
                <a:off x="18083028" y="6459659"/>
                <a:ext cx="55483" cy="37224"/>
              </a:xfrm>
              <a:prstGeom prst="line">
                <a:avLst/>
              </a:prstGeom>
              <a:ln w="11000">
                <a:solidFill>
                  <a:srgbClr val="159E91"/>
                </a:solidFill>
              </a:ln>
            </p:spPr>
          </p:cxnSp>
          <p:cxnSp>
            <p:nvCxnSpPr>
              <p:cNvPr id="507" name="Predicted camera | After shared translation |  | 4"/>
              <p:cNvCxnSpPr/>
              <p:nvPr/>
            </p:nvCxnSpPr>
            <p:spPr>
              <a:xfrm flipH="1">
                <a:off x="18007578" y="6422898"/>
                <a:ext cx="130558" cy="570"/>
              </a:xfrm>
              <a:prstGeom prst="line">
                <a:avLst/>
              </a:prstGeom>
              <a:ln w="11000">
                <a:solidFill>
                  <a:srgbClr val="159E91"/>
                </a:solidFill>
              </a:ln>
            </p:spPr>
          </p:cxnSp>
          <p:cxnSp>
            <p:nvCxnSpPr>
              <p:cNvPr id="508" name="Predicted camera | After shared translation |  | 5"/>
              <p:cNvCxnSpPr/>
              <p:nvPr/>
            </p:nvCxnSpPr>
            <p:spPr>
              <a:xfrm>
                <a:off x="18007578" y="6423468"/>
                <a:ext cx="375" cy="73985"/>
              </a:xfrm>
              <a:prstGeom prst="line">
                <a:avLst/>
              </a:prstGeom>
              <a:ln w="11000">
                <a:solidFill>
                  <a:srgbClr val="159E91"/>
                </a:solidFill>
              </a:ln>
            </p:spPr>
          </p:cxnSp>
          <p:cxnSp>
            <p:nvCxnSpPr>
              <p:cNvPr id="509" name="Predicted camera | After shared translation |  | 6"/>
              <p:cNvCxnSpPr/>
              <p:nvPr/>
            </p:nvCxnSpPr>
            <p:spPr>
              <a:xfrm flipV="1">
                <a:off x="18007953" y="6496883"/>
                <a:ext cx="130558" cy="570"/>
              </a:xfrm>
              <a:prstGeom prst="line">
                <a:avLst/>
              </a:prstGeom>
              <a:ln w="11000">
                <a:solidFill>
                  <a:srgbClr val="159E91"/>
                </a:solidFill>
              </a:ln>
            </p:spPr>
          </p:cxnSp>
          <p:cxnSp>
            <p:nvCxnSpPr>
              <p:cNvPr id="510" name="Predicted camera | After shared translation |  | 7"/>
              <p:cNvCxnSpPr/>
              <p:nvPr/>
            </p:nvCxnSpPr>
            <p:spPr>
              <a:xfrm flipH="1" flipV="1">
                <a:off x="18138136" y="6422898"/>
                <a:ext cx="375" cy="73985"/>
              </a:xfrm>
              <a:prstGeom prst="line">
                <a:avLst/>
              </a:prstGeom>
              <a:ln w="11000">
                <a:solidFill>
                  <a:srgbClr val="159E91"/>
                </a:solidFill>
              </a:ln>
            </p:spPr>
          </p:cxnSp>
        </p:grpSp>
        <p:sp>
          <p:nvSpPr>
            <p:cNvPr id="511" name="Association input A | Previous-shot last-frame human predictions"/>
            <p:cNvSpPr txBox="1"/>
            <p:nvPr/>
          </p:nvSpPr>
          <p:spPr>
            <a:xfrm>
              <a:off x="14886432" y="3579876"/>
              <a:ext cx="1627632" cy="201168"/>
            </a:xfrm>
            <a:prstGeom prst="rect">
              <a:avLst/>
            </a:prstGeom>
            <a:noFill/>
            <a:effectLst/>
          </p:spPr>
          <p:txBody>
            <a:bodyPr wrap="none" lIns="0" rIns="0" tIns="0" bIns="0" anchor="ctr">
              <a:spAutoFit/>
            </a:bodyPr>
            <a:lstStyle/>
            <a:p>
              <a:pPr algn="ctr">
                <a:lnSpc>
                  <a:spcPct val="100000"/>
                </a:lnSpc>
                <a:spcBef>
                  <a:spcPts val="0"/>
                </a:spcBef>
                <a:spcAft>
                  <a:spcPts val="0"/>
                </a:spcAft>
              </a:pPr>
              <a:r>
                <a:rPr sz="1150" b="0" i="0">
                  <a:solidFill>
                    <a:srgbClr val="637C9A"/>
                  </a:solidFill>
                  <a:latin typeface="Arial"/>
                </a:rPr>
                <a:t>Last-frame predictions</a:t>
              </a:r>
            </a:p>
          </p:txBody>
        </p:sp>
        <p:sp>
          <p:nvSpPr>
            <p:cNvPr id="512" name="Association input B | Initially aligned new-shot first-frame human predictions"/>
            <p:cNvSpPr txBox="1"/>
            <p:nvPr/>
          </p:nvSpPr>
          <p:spPr>
            <a:xfrm>
              <a:off x="16815816" y="3579876"/>
              <a:ext cx="1709928" cy="201168"/>
            </a:xfrm>
            <a:prstGeom prst="rect">
              <a:avLst/>
            </a:prstGeom>
            <a:noFill/>
            <a:effectLst/>
          </p:spPr>
          <p:txBody>
            <a:bodyPr wrap="none" lIns="0" rIns="0" tIns="0" bIns="0" anchor="ctr">
              <a:spAutoFit/>
            </a:bodyPr>
            <a:lstStyle/>
            <a:p>
              <a:pPr algn="ctr">
                <a:lnSpc>
                  <a:spcPct val="100000"/>
                </a:lnSpc>
                <a:spcBef>
                  <a:spcPts val="0"/>
                </a:spcBef>
                <a:spcAft>
                  <a:spcPts val="0"/>
                </a:spcAft>
              </a:pPr>
              <a:r>
                <a:rPr sz="1150" b="0" i="0">
                  <a:solidFill>
                    <a:srgbClr val="637C9A"/>
                  </a:solidFill>
                  <a:latin typeface="Arial"/>
                </a:rPr>
                <a:t>First-frame predictions</a:t>
              </a:r>
            </a:p>
          </p:txBody>
        </p:sp>
        <p:cxnSp>
          <p:nvCxnSpPr>
            <p:cNvPr id="513" name="Historical predictions to person association"/>
            <p:cNvCxnSpPr/>
            <p:nvPr/>
          </p:nvCxnSpPr>
          <p:spPr>
            <a:xfrm>
              <a:off x="15663672" y="3781044"/>
              <a:ext cx="0" cy="100584"/>
            </a:xfrm>
            <a:prstGeom prst="line">
              <a:avLst/>
            </a:prstGeom>
            <a:ln w="10795">
              <a:solidFill>
                <a:srgbClr val="78899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514" name="Initially aligned predictions to person association"/>
            <p:cNvCxnSpPr/>
            <p:nvPr/>
          </p:nvCxnSpPr>
          <p:spPr>
            <a:xfrm>
              <a:off x="17666208" y="3781044"/>
              <a:ext cx="0" cy="100584"/>
            </a:xfrm>
            <a:prstGeom prst="line">
              <a:avLst/>
            </a:prstGeom>
            <a:ln w="10795">
              <a:solidFill>
                <a:srgbClr val="0B9B9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515" name="Initial alignment to new-shot first-frame predictions | 1"/>
            <p:cNvCxnSpPr/>
            <p:nvPr/>
          </p:nvCxnSpPr>
          <p:spPr>
            <a:xfrm>
              <a:off x="18525744" y="2359152"/>
              <a:ext cx="82296" cy="0"/>
            </a:xfrm>
            <a:prstGeom prst="line">
              <a:avLst/>
            </a:prstGeom>
            <a:ln w="12065">
              <a:solidFill>
                <a:srgbClr val="0B9B90"/>
              </a:solidFill>
            </a:ln>
            <a:effectLst/>
          </p:spPr>
          <p:style>
            <a:lnRef idx="2">
              <a:schemeClr val="accent1"/>
            </a:lnRef>
            <a:fillRef idx="0">
              <a:schemeClr val="accent1"/>
            </a:fillRef>
            <a:effectRef idx="0">
              <a:schemeClr val="accent1"/>
            </a:effectRef>
            <a:fontRef idx="minor">
              <a:schemeClr val="tx1"/>
            </a:fontRef>
          </p:style>
        </p:cxnSp>
        <p:cxnSp>
          <p:nvCxnSpPr>
            <p:cNvPr id="516" name="Initial alignment to new-shot first-frame predictions | 2"/>
            <p:cNvCxnSpPr/>
            <p:nvPr/>
          </p:nvCxnSpPr>
          <p:spPr>
            <a:xfrm>
              <a:off x="18608040" y="2359152"/>
              <a:ext cx="0" cy="1106424"/>
            </a:xfrm>
            <a:prstGeom prst="line">
              <a:avLst/>
            </a:prstGeom>
            <a:ln w="12065">
              <a:solidFill>
                <a:srgbClr val="0B9B90"/>
              </a:solidFill>
            </a:ln>
            <a:effectLst/>
          </p:spPr>
          <p:style>
            <a:lnRef idx="2">
              <a:schemeClr val="accent1"/>
            </a:lnRef>
            <a:fillRef idx="0">
              <a:schemeClr val="accent1"/>
            </a:fillRef>
            <a:effectRef idx="0">
              <a:schemeClr val="accent1"/>
            </a:effectRef>
            <a:fontRef idx="minor">
              <a:schemeClr val="tx1"/>
            </a:fontRef>
          </p:style>
        </p:cxnSp>
        <p:cxnSp>
          <p:nvCxnSpPr>
            <p:cNvPr id="517" name="Initial alignment to new-shot first-frame predictions | 3"/>
            <p:cNvCxnSpPr/>
            <p:nvPr/>
          </p:nvCxnSpPr>
          <p:spPr>
            <a:xfrm flipH="1">
              <a:off x="18452592" y="3465576"/>
              <a:ext cx="155448" cy="0"/>
            </a:xfrm>
            <a:prstGeom prst="line">
              <a:avLst/>
            </a:prstGeom>
            <a:ln w="12065">
              <a:solidFill>
                <a:srgbClr val="0B9B9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518" name="Association output | Matched human pairs for shared translation | 1"/>
            <p:cNvCxnSpPr/>
            <p:nvPr/>
          </p:nvCxnSpPr>
          <p:spPr>
            <a:xfrm>
              <a:off x="16672255" y="4975250"/>
              <a:ext cx="0" cy="76810"/>
            </a:xfrm>
            <a:prstGeom prst="line">
              <a:avLst/>
            </a:prstGeom>
            <a:ln w="11430">
              <a:solidFill>
                <a:srgbClr val="0B9B90"/>
              </a:solidFill>
            </a:ln>
            <a:effectLst/>
          </p:spPr>
          <p:style>
            <a:lnRef idx="2">
              <a:schemeClr val="accent1"/>
            </a:lnRef>
            <a:fillRef idx="0">
              <a:schemeClr val="accent1"/>
            </a:fillRef>
            <a:effectRef idx="0">
              <a:schemeClr val="accent1"/>
            </a:effectRef>
            <a:fontRef idx="minor">
              <a:schemeClr val="tx1"/>
            </a:fontRef>
          </p:style>
        </p:cxnSp>
        <p:cxnSp>
          <p:nvCxnSpPr>
            <p:cNvPr id="519" name="Association output | Matched human pairs for shared translation | 2"/>
            <p:cNvCxnSpPr/>
            <p:nvPr/>
          </p:nvCxnSpPr>
          <p:spPr>
            <a:xfrm flipH="1">
              <a:off x="15864840" y="5052060"/>
              <a:ext cx="807415" cy="0"/>
            </a:xfrm>
            <a:prstGeom prst="line">
              <a:avLst/>
            </a:prstGeom>
            <a:ln w="11430">
              <a:solidFill>
                <a:srgbClr val="0B9B90"/>
              </a:solidFill>
            </a:ln>
            <a:effectLst/>
          </p:spPr>
          <p:style>
            <a:lnRef idx="2">
              <a:schemeClr val="accent1"/>
            </a:lnRef>
            <a:fillRef idx="0">
              <a:schemeClr val="accent1"/>
            </a:fillRef>
            <a:effectRef idx="0">
              <a:schemeClr val="accent1"/>
            </a:effectRef>
            <a:fontRef idx="minor">
              <a:schemeClr val="tx1"/>
            </a:fontRef>
          </p:style>
        </p:cxnSp>
        <p:cxnSp>
          <p:nvCxnSpPr>
            <p:cNvPr id="520" name="Association output | Matched human pairs for shared translation | 3"/>
            <p:cNvCxnSpPr/>
            <p:nvPr/>
          </p:nvCxnSpPr>
          <p:spPr>
            <a:xfrm>
              <a:off x="15864840" y="5052060"/>
              <a:ext cx="0" cy="68580"/>
            </a:xfrm>
            <a:prstGeom prst="line">
              <a:avLst/>
            </a:prstGeom>
            <a:ln w="11430">
              <a:solidFill>
                <a:srgbClr val="0B9B9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521" name="Association output | Persistent cross-shot identity mapping | 1"/>
            <p:cNvCxnSpPr/>
            <p:nvPr/>
          </p:nvCxnSpPr>
          <p:spPr>
            <a:xfrm>
              <a:off x="16672255" y="5052060"/>
              <a:ext cx="993953" cy="0"/>
            </a:xfrm>
            <a:prstGeom prst="line">
              <a:avLst/>
            </a:prstGeom>
            <a:ln w="11430">
              <a:solidFill>
                <a:srgbClr val="0B9B90"/>
              </a:solidFill>
            </a:ln>
            <a:effectLst/>
          </p:spPr>
          <p:style>
            <a:lnRef idx="2">
              <a:schemeClr val="accent1"/>
            </a:lnRef>
            <a:fillRef idx="0">
              <a:schemeClr val="accent1"/>
            </a:fillRef>
            <a:effectRef idx="0">
              <a:schemeClr val="accent1"/>
            </a:effectRef>
            <a:fontRef idx="minor">
              <a:schemeClr val="tx1"/>
            </a:fontRef>
          </p:style>
        </p:cxnSp>
        <p:cxnSp>
          <p:nvCxnSpPr>
            <p:cNvPr id="522" name="Association output | Persistent cross-shot identity mapping | 2"/>
            <p:cNvCxnSpPr/>
            <p:nvPr/>
          </p:nvCxnSpPr>
          <p:spPr>
            <a:xfrm>
              <a:off x="17666208" y="5052060"/>
              <a:ext cx="0" cy="68580"/>
            </a:xfrm>
            <a:prstGeom prst="line">
              <a:avLst/>
            </a:prstGeom>
            <a:ln w="11430">
              <a:solidFill>
                <a:srgbClr val="0B9B90"/>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23" name="Junction"/>
            <p:cNvSpPr/>
            <p:nvPr/>
          </p:nvSpPr>
          <p:spPr>
            <a:xfrm>
              <a:off x="16656253" y="5036058"/>
              <a:ext cx="32004" cy="32004"/>
            </a:xfrm>
            <a:prstGeom prst="ellipse">
              <a:avLst/>
            </a:prstGeom>
            <a:solidFill>
              <a:srgbClr val="0B9B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Matched human pairs"/>
            <p:cNvSpPr/>
            <p:nvPr/>
          </p:nvSpPr>
          <p:spPr>
            <a:xfrm>
              <a:off x="15078455" y="5129784"/>
              <a:ext cx="1572768" cy="301752"/>
            </a:xfrm>
            <a:prstGeom prst="roundRect">
              <a:avLst>
                <a:gd name="adj" fmla="val 12121"/>
              </a:avLst>
            </a:prstGeom>
            <a:solidFill>
              <a:srgbClr val="FFFFFF"/>
            </a:solidFill>
            <a:ln w="9525">
              <a:solidFill>
                <a:srgbClr val="9CD7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Label | Matched pairs"/>
            <p:cNvSpPr txBox="1"/>
            <p:nvPr/>
          </p:nvSpPr>
          <p:spPr>
            <a:xfrm>
              <a:off x="15124176" y="5143500"/>
              <a:ext cx="1481328" cy="265176"/>
            </a:xfrm>
            <a:prstGeom prst="rect">
              <a:avLst/>
            </a:prstGeom>
            <a:noFill/>
            <a:effectLst/>
          </p:spPr>
          <p:txBody>
            <a:bodyPr wrap="none" lIns="0" rIns="0" tIns="0" bIns="0" anchor="ctr">
              <a:spAutoFit/>
            </a:bodyPr>
            <a:lstStyle/>
            <a:p>
              <a:pPr algn="ctr">
                <a:lnSpc>
                  <a:spcPct val="100000"/>
                </a:lnSpc>
                <a:spcBef>
                  <a:spcPts val="0"/>
                </a:spcBef>
                <a:spcAft>
                  <a:spcPts val="0"/>
                </a:spcAft>
              </a:pPr>
              <a:r>
                <a:rPr sz="1240" b="1" i="0">
                  <a:solidFill>
                    <a:srgbClr val="0B9B90"/>
                  </a:solidFill>
                  <a:latin typeface="Arial"/>
                </a:rPr>
                <a:t>Matched pairs</a:t>
              </a:r>
            </a:p>
          </p:txBody>
        </p:sp>
        <p:sp>
          <p:nvSpPr>
            <p:cNvPr id="526" name="Persistent person ID mapping"/>
            <p:cNvSpPr/>
            <p:nvPr/>
          </p:nvSpPr>
          <p:spPr>
            <a:xfrm>
              <a:off x="16952976" y="5129784"/>
              <a:ext cx="1435608" cy="301752"/>
            </a:xfrm>
            <a:prstGeom prst="roundRect">
              <a:avLst>
                <a:gd name="adj" fmla="val 12121"/>
              </a:avLst>
            </a:prstGeom>
            <a:solidFill>
              <a:srgbClr val="FFFFFF"/>
            </a:solidFill>
            <a:ln w="9525">
              <a:solidFill>
                <a:srgbClr val="9CD7C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Label | Persistent IDs"/>
            <p:cNvSpPr txBox="1"/>
            <p:nvPr/>
          </p:nvSpPr>
          <p:spPr>
            <a:xfrm>
              <a:off x="16998696" y="5143500"/>
              <a:ext cx="1344168" cy="265176"/>
            </a:xfrm>
            <a:prstGeom prst="rect">
              <a:avLst/>
            </a:prstGeom>
            <a:noFill/>
            <a:effectLst/>
          </p:spPr>
          <p:txBody>
            <a:bodyPr wrap="none" lIns="0" rIns="0" tIns="0" bIns="0" anchor="ctr">
              <a:spAutoFit/>
            </a:bodyPr>
            <a:lstStyle/>
            <a:p>
              <a:pPr algn="ctr">
                <a:lnSpc>
                  <a:spcPct val="100000"/>
                </a:lnSpc>
                <a:spcBef>
                  <a:spcPts val="0"/>
                </a:spcBef>
                <a:spcAft>
                  <a:spcPts val="0"/>
                </a:spcAft>
              </a:pPr>
              <a:r>
                <a:rPr sz="1240" b="1" i="0">
                  <a:solidFill>
                    <a:srgbClr val="0B9B90"/>
                  </a:solidFill>
                  <a:latin typeface="Arial"/>
                </a:rPr>
                <a:t>Persistent IDs</a:t>
              </a:r>
            </a:p>
          </p:txBody>
        </p:sp>
        <p:cxnSp>
          <p:nvCxnSpPr>
            <p:cNvPr id="528" name="Matched pairs to one shared translation"/>
            <p:cNvCxnSpPr/>
            <p:nvPr/>
          </p:nvCxnSpPr>
          <p:spPr>
            <a:xfrm>
              <a:off x="15864840" y="5431536"/>
              <a:ext cx="0" cy="105156"/>
            </a:xfrm>
            <a:prstGeom prst="line">
              <a:avLst/>
            </a:prstGeom>
            <a:ln w="12700">
              <a:solidFill>
                <a:srgbClr val="0B9B90"/>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529" name="05 Streaming output"/>
          <p:cNvGrpSpPr/>
          <p:nvPr/>
        </p:nvGrpSpPr>
        <p:grpSpPr>
          <a:xfrm>
            <a:off x="18836640" y="142240"/>
            <a:ext cx="2946400" cy="6995160"/>
            <a:chOff x="18836640" y="142240"/>
            <a:chExt cx="2946400" cy="6995160"/>
          </a:xfrm>
        </p:grpSpPr>
        <p:sp>
          <p:nvSpPr>
            <p:cNvPr id="530" name="Panel Streaming output"/>
            <p:cNvSpPr/>
            <p:nvPr/>
          </p:nvSpPr>
          <p:spPr>
            <a:xfrm>
              <a:off x="18836640" y="142240"/>
              <a:ext cx="2946400" cy="6995160"/>
            </a:xfrm>
            <a:prstGeom prst="roundRect">
              <a:avLst>
                <a:gd name="adj" fmla="val 4482"/>
              </a:avLst>
            </a:prstGeom>
            <a:solidFill>
              <a:srgbClr val="FFF9F3"/>
            </a:solidFill>
            <a:ln w="14223">
              <a:solidFill>
                <a:srgbClr val="EDC9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Header Streaming output"/>
            <p:cNvSpPr/>
            <p:nvPr/>
          </p:nvSpPr>
          <p:spPr>
            <a:xfrm>
              <a:off x="18856960" y="162560"/>
              <a:ext cx="2905760" cy="619760"/>
            </a:xfrm>
            <a:prstGeom prst="roundRect">
              <a:avLst>
                <a:gd name="adj" fmla="val 18032"/>
              </a:avLst>
            </a:prstGeom>
            <a:solidFill>
              <a:srgbClr val="FFF0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Header band base"/>
            <p:cNvSpPr/>
            <p:nvPr/>
          </p:nvSpPr>
          <p:spPr>
            <a:xfrm>
              <a:off x="18856960" y="650240"/>
              <a:ext cx="2905760" cy="121920"/>
            </a:xfrm>
            <a:prstGeom prst="rect">
              <a:avLst/>
            </a:prstGeom>
            <a:solidFill>
              <a:srgbClr val="FFF0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Text: Streaming output"/>
            <p:cNvSpPr txBox="1"/>
            <p:nvPr/>
          </p:nvSpPr>
          <p:spPr>
            <a:xfrm>
              <a:off x="19009360" y="264160"/>
              <a:ext cx="2600960" cy="457200"/>
            </a:xfrm>
            <a:prstGeom prst="rect">
              <a:avLst/>
            </a:prstGeom>
            <a:noFill/>
          </p:spPr>
          <p:txBody>
            <a:bodyPr wrap="none" lIns="0" rIns="0" tIns="0" bIns="0" anchor="ctr">
              <a:spAutoFit/>
            </a:bodyPr>
            <a:lstStyle/>
            <a:p>
              <a:pPr algn="l">
                <a:lnSpc>
                  <a:spcPct val="103000"/>
                </a:lnSpc>
                <a:spcBef>
                  <a:spcPts val="0"/>
                </a:spcBef>
                <a:spcAft>
                  <a:spcPts val="0"/>
                </a:spcAft>
              </a:pPr>
              <a:r>
                <a:rPr sz="2080" b="1" i="0">
                  <a:solidFill>
                    <a:srgbClr val="23324A"/>
                  </a:solidFill>
                  <a:latin typeface="Arial"/>
                </a:rPr>
                <a:t>Streaming output</a:t>
              </a:r>
            </a:p>
          </p:txBody>
        </p:sp>
        <p:sp>
          <p:nvSpPr>
            <p:cNvPr id="534" name="Text: Existing world frame"/>
            <p:cNvSpPr txBox="1"/>
            <p:nvPr/>
          </p:nvSpPr>
          <p:spPr>
            <a:xfrm>
              <a:off x="18999200" y="1016000"/>
              <a:ext cx="2621280" cy="294640"/>
            </a:xfrm>
            <a:prstGeom prst="rect">
              <a:avLst/>
            </a:prstGeom>
            <a:noFill/>
          </p:spPr>
          <p:txBody>
            <a:bodyPr wrap="none" lIns="0" rIns="0" tIns="0" bIns="0" anchor="ctr">
              <a:spAutoFit/>
            </a:bodyPr>
            <a:lstStyle/>
            <a:p>
              <a:pPr algn="ctr">
                <a:lnSpc>
                  <a:spcPct val="103000"/>
                </a:lnSpc>
                <a:spcBef>
                  <a:spcPts val="0"/>
                </a:spcBef>
                <a:spcAft>
                  <a:spcPts val="0"/>
                </a:spcAft>
              </a:pPr>
              <a:r>
                <a:rPr sz="2200" b="1" i="0">
                  <a:solidFill>
                    <a:srgbClr val="23324A"/>
                  </a:solidFill>
                  <a:latin typeface="Arial"/>
                </a:rPr>
                <a:t>World-frame output</a:t>
              </a:r>
            </a:p>
          </p:txBody>
        </p:sp>
        <p:sp>
          <p:nvSpPr>
            <p:cNvPr id="535" name="Text: Persistent identities"/>
            <p:cNvSpPr txBox="1"/>
            <p:nvPr/>
          </p:nvSpPr>
          <p:spPr>
            <a:xfrm>
              <a:off x="18999200" y="1330960"/>
              <a:ext cx="2621280" cy="274320"/>
            </a:xfrm>
            <a:prstGeom prst="rect">
              <a:avLst/>
            </a:prstGeom>
            <a:noFill/>
          </p:spPr>
          <p:txBody>
            <a:bodyPr wrap="none" lIns="0" rIns="0" tIns="0" bIns="0" anchor="ctr">
              <a:spAutoFit/>
            </a:bodyPr>
            <a:lstStyle/>
            <a:p>
              <a:pPr algn="ctr">
                <a:lnSpc>
                  <a:spcPct val="103000"/>
                </a:lnSpc>
                <a:spcBef>
                  <a:spcPts val="0"/>
                </a:spcBef>
                <a:spcAft>
                  <a:spcPts val="0"/>
                </a:spcAft>
              </a:pPr>
              <a:r>
                <a:rPr sz="1500" b="0" i="0">
                  <a:solidFill>
                    <a:srgbClr val="23324A"/>
                  </a:solidFill>
                  <a:latin typeface="Arial"/>
                </a:rPr>
                <a:t>Schematic illustration</a:t>
              </a:r>
            </a:p>
          </p:txBody>
        </p:sp>
        <p:grpSp>
          <p:nvGrpSpPr>
            <p:cNvPr id="536" name="World coordinate axes"/>
            <p:cNvGrpSpPr/>
            <p:nvPr/>
          </p:nvGrpSpPr>
          <p:grpSpPr>
            <a:xfrm>
              <a:off x="19212560" y="5273040"/>
              <a:ext cx="670560" cy="853440"/>
              <a:chOff x="19212560" y="5273040"/>
              <a:chExt cx="670560" cy="853440"/>
            </a:xfrm>
          </p:grpSpPr>
          <p:grpSp>
            <p:nvGrpSpPr>
              <p:cNvPr id="537" name="World X axis"/>
              <p:cNvGrpSpPr/>
              <p:nvPr/>
            </p:nvGrpSpPr>
            <p:grpSpPr>
              <a:xfrm>
                <a:off x="19212560" y="5842000"/>
                <a:ext cx="467360" cy="182880"/>
                <a:chOff x="19212560" y="5842000"/>
                <a:chExt cx="467360" cy="182880"/>
              </a:xfrm>
            </p:grpSpPr>
            <p:cxnSp>
              <p:nvCxnSpPr>
                <p:cNvPr id="538" name="World X axis segment 1"/>
                <p:cNvCxnSpPr/>
                <p:nvPr/>
              </p:nvCxnSpPr>
              <p:spPr>
                <a:xfrm>
                  <a:off x="19212560" y="5842000"/>
                  <a:ext cx="467360" cy="182880"/>
                </a:xfrm>
                <a:prstGeom prst="line">
                  <a:avLst/>
                </a:prstGeom>
                <a:ln w="19304">
                  <a:solidFill>
                    <a:srgbClr val="C77068"/>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539" name="World Y axis"/>
              <p:cNvGrpSpPr/>
              <p:nvPr/>
            </p:nvGrpSpPr>
            <p:grpSpPr>
              <a:xfrm>
                <a:off x="19212560" y="5588000"/>
                <a:ext cx="355600" cy="254000"/>
                <a:chOff x="19212560" y="5588000"/>
                <a:chExt cx="355600" cy="254000"/>
              </a:xfrm>
            </p:grpSpPr>
            <p:cxnSp>
              <p:nvCxnSpPr>
                <p:cNvPr id="540" name="World Y axis segment 1"/>
                <p:cNvCxnSpPr/>
                <p:nvPr/>
              </p:nvCxnSpPr>
              <p:spPr>
                <a:xfrm flipV="1">
                  <a:off x="19212560" y="5588000"/>
                  <a:ext cx="355600" cy="254000"/>
                </a:xfrm>
                <a:prstGeom prst="line">
                  <a:avLst/>
                </a:prstGeom>
                <a:ln w="19304">
                  <a:solidFill>
                    <a:srgbClr val="459C83"/>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541" name="World Z axis"/>
              <p:cNvGrpSpPr/>
              <p:nvPr/>
            </p:nvGrpSpPr>
            <p:grpSpPr>
              <a:xfrm>
                <a:off x="19212560" y="5405120"/>
                <a:ext cx="0" cy="436880"/>
                <a:chOff x="19212560" y="5405120"/>
                <a:chExt cx="0" cy="436880"/>
              </a:xfrm>
            </p:grpSpPr>
            <p:cxnSp>
              <p:nvCxnSpPr>
                <p:cNvPr id="542" name="World Z axis segment 1"/>
                <p:cNvCxnSpPr/>
                <p:nvPr/>
              </p:nvCxnSpPr>
              <p:spPr>
                <a:xfrm flipV="1">
                  <a:off x="19212560" y="5405120"/>
                  <a:ext cx="0" cy="436880"/>
                </a:xfrm>
                <a:prstGeom prst="line">
                  <a:avLst/>
                </a:prstGeom>
                <a:ln w="19304">
                  <a:solidFill>
                    <a:srgbClr val="457FC5"/>
                  </a:solidFill>
                  <a:tailEnd type="triangle" w="sm" len="sm"/>
                </a:ln>
                <a:effectLst/>
              </p:spPr>
              <p:style>
                <a:lnRef idx="2">
                  <a:schemeClr val="accent1"/>
                </a:lnRef>
                <a:fillRef idx="0">
                  <a:schemeClr val="accent1"/>
                </a:fillRef>
                <a:effectRef idx="0">
                  <a:schemeClr val="accent1"/>
                </a:effectRef>
                <a:fontRef idx="minor">
                  <a:schemeClr val="tx1"/>
                </a:fontRef>
              </p:style>
            </p:cxnSp>
          </p:grpSp>
          <p:sp>
            <p:nvSpPr>
              <p:cNvPr id="543" name="Text: X"/>
              <p:cNvSpPr txBox="1"/>
              <p:nvPr/>
            </p:nvSpPr>
            <p:spPr>
              <a:xfrm>
                <a:off x="19710400" y="5913120"/>
                <a:ext cx="172720" cy="213360"/>
              </a:xfrm>
              <a:prstGeom prst="rect">
                <a:avLst/>
              </a:prstGeom>
              <a:noFill/>
            </p:spPr>
            <p:txBody>
              <a:bodyPr wrap="none" lIns="0" rIns="0" tIns="0" bIns="0" anchor="ctr">
                <a:spAutoFit/>
              </a:bodyPr>
              <a:lstStyle/>
              <a:p>
                <a:pPr algn="l">
                  <a:lnSpc>
                    <a:spcPct val="103000"/>
                  </a:lnSpc>
                  <a:spcBef>
                    <a:spcPts val="0"/>
                  </a:spcBef>
                  <a:spcAft>
                    <a:spcPts val="0"/>
                  </a:spcAft>
                </a:pPr>
                <a:r>
                  <a:rPr sz="1360" b="0" i="0">
                    <a:solidFill>
                      <a:srgbClr val="C77068"/>
                    </a:solidFill>
                    <a:latin typeface="Arial"/>
                  </a:rPr>
                  <a:t>X</a:t>
                </a:r>
              </a:p>
            </p:txBody>
          </p:sp>
          <p:sp>
            <p:nvSpPr>
              <p:cNvPr id="544" name="Text: Y"/>
              <p:cNvSpPr txBox="1"/>
              <p:nvPr/>
            </p:nvSpPr>
            <p:spPr>
              <a:xfrm>
                <a:off x="19578320" y="5425440"/>
                <a:ext cx="182880" cy="213360"/>
              </a:xfrm>
              <a:prstGeom prst="rect">
                <a:avLst/>
              </a:prstGeom>
              <a:noFill/>
            </p:spPr>
            <p:txBody>
              <a:bodyPr wrap="none" lIns="0" rIns="0" tIns="0" bIns="0" anchor="ctr">
                <a:spAutoFit/>
              </a:bodyPr>
              <a:lstStyle/>
              <a:p>
                <a:pPr algn="l">
                  <a:lnSpc>
                    <a:spcPct val="103000"/>
                  </a:lnSpc>
                  <a:spcBef>
                    <a:spcPts val="0"/>
                  </a:spcBef>
                  <a:spcAft>
                    <a:spcPts val="0"/>
                  </a:spcAft>
                </a:pPr>
                <a:r>
                  <a:rPr sz="1360" b="0" i="0">
                    <a:solidFill>
                      <a:srgbClr val="459C83"/>
                    </a:solidFill>
                    <a:latin typeface="Arial"/>
                  </a:rPr>
                  <a:t>Y</a:t>
                </a:r>
              </a:p>
            </p:txBody>
          </p:sp>
          <p:sp>
            <p:nvSpPr>
              <p:cNvPr id="545" name="Text: Z"/>
              <p:cNvSpPr txBox="1"/>
              <p:nvPr/>
            </p:nvSpPr>
            <p:spPr>
              <a:xfrm>
                <a:off x="19283680" y="5273040"/>
                <a:ext cx="182880" cy="213360"/>
              </a:xfrm>
              <a:prstGeom prst="rect">
                <a:avLst/>
              </a:prstGeom>
              <a:noFill/>
            </p:spPr>
            <p:txBody>
              <a:bodyPr wrap="none" lIns="0" rIns="0" tIns="0" bIns="0" anchor="ctr">
                <a:spAutoFit/>
              </a:bodyPr>
              <a:lstStyle/>
              <a:p>
                <a:pPr algn="l">
                  <a:lnSpc>
                    <a:spcPct val="103000"/>
                  </a:lnSpc>
                  <a:spcBef>
                    <a:spcPts val="0"/>
                  </a:spcBef>
                  <a:spcAft>
                    <a:spcPts val="0"/>
                  </a:spcAft>
                </a:pPr>
                <a:r>
                  <a:rPr sz="1360" b="0" i="0">
                    <a:solidFill>
                      <a:srgbClr val="457FC5"/>
                    </a:solidFill>
                    <a:latin typeface="Arial"/>
                  </a:rPr>
                  <a:t>Z</a:t>
                </a:r>
              </a:p>
            </p:txBody>
          </p:sp>
        </p:grpSp>
        <p:sp>
          <p:nvSpPr>
            <p:cNvPr id="546" name="Text: World coordinates"/>
            <p:cNvSpPr txBox="1"/>
            <p:nvPr/>
          </p:nvSpPr>
          <p:spPr>
            <a:xfrm>
              <a:off x="19913600" y="5628640"/>
              <a:ext cx="1717040" cy="314960"/>
            </a:xfrm>
            <a:prstGeom prst="rect">
              <a:avLst/>
            </a:prstGeom>
            <a:noFill/>
          </p:spPr>
          <p:txBody>
            <a:bodyPr wrap="none" lIns="0" rIns="0" tIns="0" bIns="0" anchor="ctr">
              <a:spAutoFit/>
            </a:bodyPr>
            <a:lstStyle/>
            <a:p>
              <a:pPr algn="ctr">
                <a:lnSpc>
                  <a:spcPct val="103000"/>
                </a:lnSpc>
                <a:spcBef>
                  <a:spcPts val="0"/>
                </a:spcBef>
                <a:spcAft>
                  <a:spcPts val="0"/>
                </a:spcAft>
              </a:pPr>
              <a:r>
                <a:rPr sz="1440" b="0" i="0">
                  <a:solidFill>
                    <a:srgbClr val="23324A"/>
                  </a:solidFill>
                  <a:latin typeface="Arial"/>
                </a:rPr>
                <a:t>World coordinates</a:t>
              </a:r>
            </a:p>
          </p:txBody>
        </p:sp>
        <p:sp>
          <p:nvSpPr>
            <p:cNvPr id="547" name="Text: Cameras · Humans · Identities"/>
            <p:cNvSpPr txBox="1"/>
            <p:nvPr/>
          </p:nvSpPr>
          <p:spPr>
            <a:xfrm>
              <a:off x="19202400" y="6146800"/>
              <a:ext cx="2397760" cy="233680"/>
            </a:xfrm>
            <a:prstGeom prst="rect">
              <a:avLst/>
            </a:prstGeom>
            <a:noFill/>
          </p:spPr>
          <p:txBody>
            <a:bodyPr wrap="none" lIns="0" rIns="0" tIns="0" bIns="0" anchor="ctr">
              <a:spAutoFit/>
            </a:bodyPr>
            <a:lstStyle/>
            <a:p>
              <a:pPr algn="ctr">
                <a:lnSpc>
                  <a:spcPct val="103000"/>
                </a:lnSpc>
                <a:spcBef>
                  <a:spcPts val="0"/>
                </a:spcBef>
                <a:spcAft>
                  <a:spcPts val="0"/>
                </a:spcAft>
              </a:pPr>
              <a:r>
                <a:rPr sz="1200" b="0" i="0">
                  <a:solidFill>
                    <a:srgbClr val="66778D"/>
                  </a:solidFill>
                  <a:latin typeface="Arial"/>
                </a:rPr>
                <a:t>Cameras · Humans · Identities</a:t>
              </a:r>
            </a:p>
          </p:txBody>
        </p:sp>
        <p:grpSp>
          <p:nvGrpSpPr>
            <p:cNvPr id="548" name="Calibration-assisted output illustration (not raw prediction)"/>
            <p:cNvGrpSpPr/>
            <p:nvPr/>
          </p:nvGrpSpPr>
          <p:grpSpPr>
            <a:xfrm>
              <a:off x="19035000" y="1730000"/>
              <a:ext cx="2530000" cy="3450000"/>
              <a:chOff x="19035000" y="1730000"/>
              <a:chExt cx="2530000" cy="3450000"/>
            </a:xfrm>
          </p:grpSpPr>
          <p:cxnSp>
            <p:nvCxnSpPr>
              <p:cNvPr id="549" name="Display grid | calibrated layout | 0"/>
              <p:cNvCxnSpPr/>
              <p:nvPr/>
            </p:nvCxnSpPr>
            <p:spPr>
              <a:xfrm flipV="1">
                <a:off x="21471285" y="5093581"/>
                <a:ext cx="55765" cy="34669"/>
              </a:xfrm>
              <a:prstGeom prst="line">
                <a:avLst/>
              </a:prstGeom>
              <a:ln w="6000">
                <a:solidFill>
                  <a:srgbClr val="E3E8EC"/>
                </a:solidFill>
              </a:ln>
            </p:spPr>
          </p:cxnSp>
          <p:cxnSp>
            <p:nvCxnSpPr>
              <p:cNvPr id="550" name="Display grid | calibrated layout | 1"/>
              <p:cNvCxnSpPr/>
              <p:nvPr/>
            </p:nvCxnSpPr>
            <p:spPr>
              <a:xfrm flipV="1">
                <a:off x="20612091" y="4559426"/>
                <a:ext cx="914959" cy="568824"/>
              </a:xfrm>
              <a:prstGeom prst="line">
                <a:avLst/>
              </a:prstGeom>
              <a:ln w="6000">
                <a:solidFill>
                  <a:srgbClr val="E3E8EC"/>
                </a:solidFill>
              </a:ln>
            </p:spPr>
          </p:cxnSp>
          <p:cxnSp>
            <p:nvCxnSpPr>
              <p:cNvPr id="551" name="Display grid | calibrated layout | 2"/>
              <p:cNvCxnSpPr/>
              <p:nvPr/>
            </p:nvCxnSpPr>
            <p:spPr>
              <a:xfrm flipV="1">
                <a:off x="19752897" y="4025270"/>
                <a:ext cx="1774153" cy="1102980"/>
              </a:xfrm>
              <a:prstGeom prst="line">
                <a:avLst/>
              </a:prstGeom>
              <a:ln w="6000">
                <a:solidFill>
                  <a:srgbClr val="E3E8EC"/>
                </a:solidFill>
              </a:ln>
            </p:spPr>
          </p:cxnSp>
          <p:cxnSp>
            <p:nvCxnSpPr>
              <p:cNvPr id="552" name="Display grid | calibrated layout | 3"/>
              <p:cNvCxnSpPr/>
              <p:nvPr/>
            </p:nvCxnSpPr>
            <p:spPr>
              <a:xfrm flipV="1">
                <a:off x="19104381" y="3491114"/>
                <a:ext cx="2422669" cy="1506159"/>
              </a:xfrm>
              <a:prstGeom prst="line">
                <a:avLst/>
              </a:prstGeom>
              <a:ln w="6000">
                <a:solidFill>
                  <a:srgbClr val="E3E8EC"/>
                </a:solidFill>
              </a:ln>
            </p:spPr>
          </p:cxnSp>
          <p:cxnSp>
            <p:nvCxnSpPr>
              <p:cNvPr id="553" name="Display grid | calibrated layout | 4"/>
              <p:cNvCxnSpPr/>
              <p:nvPr/>
            </p:nvCxnSpPr>
            <p:spPr>
              <a:xfrm flipV="1">
                <a:off x="19072950" y="3105835"/>
                <a:ext cx="2214629" cy="1376822"/>
              </a:xfrm>
              <a:prstGeom prst="line">
                <a:avLst/>
              </a:prstGeom>
              <a:ln w="6000">
                <a:solidFill>
                  <a:srgbClr val="E3E8EC"/>
                </a:solidFill>
              </a:ln>
            </p:spPr>
          </p:cxnSp>
          <p:cxnSp>
            <p:nvCxnSpPr>
              <p:cNvPr id="554" name="Display grid | calibrated layout | 5"/>
              <p:cNvCxnSpPr/>
              <p:nvPr/>
            </p:nvCxnSpPr>
            <p:spPr>
              <a:xfrm flipV="1">
                <a:off x="19072950" y="2790596"/>
                <a:ext cx="1862500" cy="1157905"/>
              </a:xfrm>
              <a:prstGeom prst="line">
                <a:avLst/>
              </a:prstGeom>
              <a:ln w="6000">
                <a:solidFill>
                  <a:srgbClr val="E3E8EC"/>
                </a:solidFill>
              </a:ln>
            </p:spPr>
          </p:cxnSp>
          <p:cxnSp>
            <p:nvCxnSpPr>
              <p:cNvPr id="555" name="Display grid | calibrated layout | 6"/>
              <p:cNvCxnSpPr/>
              <p:nvPr/>
            </p:nvCxnSpPr>
            <p:spPr>
              <a:xfrm flipV="1">
                <a:off x="19072950" y="2475356"/>
                <a:ext cx="1510371" cy="938989"/>
              </a:xfrm>
              <a:prstGeom prst="line">
                <a:avLst/>
              </a:prstGeom>
              <a:ln w="6000">
                <a:solidFill>
                  <a:srgbClr val="E3E8EC"/>
                </a:solidFill>
              </a:ln>
            </p:spPr>
          </p:cxnSp>
          <p:cxnSp>
            <p:nvCxnSpPr>
              <p:cNvPr id="556" name="Display grid | calibrated layout | 7"/>
              <p:cNvCxnSpPr/>
              <p:nvPr/>
            </p:nvCxnSpPr>
            <p:spPr>
              <a:xfrm flipH="1" flipV="1">
                <a:off x="19072950" y="4969135"/>
                <a:ext cx="177735" cy="159115"/>
              </a:xfrm>
              <a:prstGeom prst="line">
                <a:avLst/>
              </a:prstGeom>
              <a:ln w="6000">
                <a:solidFill>
                  <a:srgbClr val="E3E8EC"/>
                </a:solidFill>
              </a:ln>
            </p:spPr>
          </p:cxnSp>
          <p:cxnSp>
            <p:nvCxnSpPr>
              <p:cNvPr id="557" name="Display grid | calibrated layout | 8"/>
              <p:cNvCxnSpPr/>
              <p:nvPr/>
            </p:nvCxnSpPr>
            <p:spPr>
              <a:xfrm flipH="1" flipV="1">
                <a:off x="19072950" y="4328148"/>
                <a:ext cx="893730" cy="800102"/>
              </a:xfrm>
              <a:prstGeom prst="line">
                <a:avLst/>
              </a:prstGeom>
              <a:ln w="6000">
                <a:solidFill>
                  <a:srgbClr val="E3E8EC"/>
                </a:solidFill>
              </a:ln>
            </p:spPr>
          </p:cxnSp>
          <p:cxnSp>
            <p:nvCxnSpPr>
              <p:cNvPr id="558" name="Display grid | calibrated layout | 9"/>
              <p:cNvCxnSpPr/>
              <p:nvPr/>
            </p:nvCxnSpPr>
            <p:spPr>
              <a:xfrm flipH="1" flipV="1">
                <a:off x="19072950" y="3687161"/>
                <a:ext cx="1609725" cy="1441089"/>
              </a:xfrm>
              <a:prstGeom prst="line">
                <a:avLst/>
              </a:prstGeom>
              <a:ln w="6000">
                <a:solidFill>
                  <a:srgbClr val="E3E8EC"/>
                </a:solidFill>
              </a:ln>
            </p:spPr>
          </p:cxnSp>
          <p:cxnSp>
            <p:nvCxnSpPr>
              <p:cNvPr id="559" name="Display grid | calibrated layout | 10"/>
              <p:cNvCxnSpPr/>
              <p:nvPr/>
            </p:nvCxnSpPr>
            <p:spPr>
              <a:xfrm flipH="1" flipV="1">
                <a:off x="19072950" y="3046173"/>
                <a:ext cx="2325720" cy="2082077"/>
              </a:xfrm>
              <a:prstGeom prst="line">
                <a:avLst/>
              </a:prstGeom>
              <a:ln w="6000">
                <a:solidFill>
                  <a:srgbClr val="E3E8EC"/>
                </a:solidFill>
              </a:ln>
            </p:spPr>
          </p:cxnSp>
          <p:cxnSp>
            <p:nvCxnSpPr>
              <p:cNvPr id="560" name="Display grid | calibrated layout | 11"/>
              <p:cNvCxnSpPr/>
              <p:nvPr/>
            </p:nvCxnSpPr>
            <p:spPr>
              <a:xfrm flipH="1" flipV="1">
                <a:off x="19491722" y="2780088"/>
                <a:ext cx="2035328" cy="1822106"/>
              </a:xfrm>
              <a:prstGeom prst="line">
                <a:avLst/>
              </a:prstGeom>
              <a:ln w="6000">
                <a:solidFill>
                  <a:srgbClr val="E3E8EC"/>
                </a:solidFill>
              </a:ln>
            </p:spPr>
          </p:cxnSp>
          <p:cxnSp>
            <p:nvCxnSpPr>
              <p:cNvPr id="561" name="Display grid | calibrated layout | 12"/>
              <p:cNvCxnSpPr/>
              <p:nvPr/>
            </p:nvCxnSpPr>
            <p:spPr>
              <a:xfrm flipH="1" flipV="1">
                <a:off x="19914277" y="2517388"/>
                <a:ext cx="1612773" cy="1443818"/>
              </a:xfrm>
              <a:prstGeom prst="line">
                <a:avLst/>
              </a:prstGeom>
              <a:ln w="6000">
                <a:solidFill>
                  <a:srgbClr val="E3E8EC"/>
                </a:solidFill>
              </a:ln>
            </p:spPr>
          </p:cxnSp>
          <p:cxnSp>
            <p:nvCxnSpPr>
              <p:cNvPr id="562" name="Display grid | calibrated layout | 13"/>
              <p:cNvCxnSpPr/>
              <p:nvPr/>
            </p:nvCxnSpPr>
            <p:spPr>
              <a:xfrm flipH="1" flipV="1">
                <a:off x="20336831" y="2254688"/>
                <a:ext cx="1190219" cy="1065531"/>
              </a:xfrm>
              <a:prstGeom prst="line">
                <a:avLst/>
              </a:prstGeom>
              <a:ln w="6000">
                <a:solidFill>
                  <a:srgbClr val="E3E8EC"/>
                </a:solidFill>
              </a:ln>
            </p:spPr>
          </p:cxnSp>
          <p:pic>
            <p:nvPicPr>
              <p:cNvPr id="563" name="Predicted humans mapped jointly into calibrated cam19 coordinates" descr="Calibration-assisted illustration, NOT raw output. One common camera-gauge transform; shapes, articulation and inter-person geometry are preserved. No GT human fitting."/>
              <p:cNvPicPr>
                <a:picLocks noChangeAspect="1"/>
              </p:cNvPicPr>
              <p:nvPr/>
            </p:nvPicPr>
            <p:blipFill>
              <a:blip r:embed="rId35"/>
              <a:stretch>
                <a:fillRect/>
              </a:stretch>
            </p:blipFill>
            <p:spPr>
              <a:xfrm>
                <a:off x="19035000" y="1730000"/>
                <a:ext cx="2530000" cy="3450000"/>
              </a:xfrm>
              <a:prstGeom prst="rect">
                <a:avLst/>
              </a:prstGeom>
            </p:spPr>
          </p:pic>
          <p:cxnSp>
            <p:nvCxnSpPr>
              <p:cNvPr id="564" name="Calibrated cam18 | Shot 1 | edge 0"/>
              <p:cNvCxnSpPr/>
              <p:nvPr/>
            </p:nvCxnSpPr>
            <p:spPr>
              <a:xfrm flipH="1" flipV="1">
                <a:off x="19975796" y="4802207"/>
                <a:ext cx="202752" cy="74864"/>
              </a:xfrm>
              <a:prstGeom prst="line">
                <a:avLst/>
              </a:prstGeom>
              <a:ln w="16000">
                <a:solidFill>
                  <a:srgbClr val="327ED2"/>
                </a:solidFill>
              </a:ln>
            </p:spPr>
          </p:cxnSp>
          <p:cxnSp>
            <p:nvCxnSpPr>
              <p:cNvPr id="565" name="Calibrated cam18 | Shot 1 | edge 1"/>
              <p:cNvCxnSpPr/>
              <p:nvPr/>
            </p:nvCxnSpPr>
            <p:spPr>
              <a:xfrm flipV="1">
                <a:off x="20178548" y="4699299"/>
                <a:ext cx="119469" cy="177772"/>
              </a:xfrm>
              <a:prstGeom prst="line">
                <a:avLst/>
              </a:prstGeom>
              <a:ln w="16000">
                <a:solidFill>
                  <a:srgbClr val="327ED2"/>
                </a:solidFill>
              </a:ln>
            </p:spPr>
          </p:cxnSp>
          <p:cxnSp>
            <p:nvCxnSpPr>
              <p:cNvPr id="566" name="Calibrated cam18 | Shot 1 | edge 2"/>
              <p:cNvCxnSpPr/>
              <p:nvPr/>
            </p:nvCxnSpPr>
            <p:spPr>
              <a:xfrm flipV="1">
                <a:off x="20178548" y="4852112"/>
                <a:ext cx="133406" cy="24959"/>
              </a:xfrm>
              <a:prstGeom prst="line">
                <a:avLst/>
              </a:prstGeom>
              <a:ln w="16000">
                <a:solidFill>
                  <a:srgbClr val="327ED2"/>
                </a:solidFill>
              </a:ln>
            </p:spPr>
          </p:cxnSp>
          <p:cxnSp>
            <p:nvCxnSpPr>
              <p:cNvPr id="567" name="Calibrated cam18 | Shot 1 | edge 3"/>
              <p:cNvCxnSpPr/>
              <p:nvPr/>
            </p:nvCxnSpPr>
            <p:spPr>
              <a:xfrm flipH="1">
                <a:off x="19989690" y="4877071"/>
                <a:ext cx="188858" cy="77929"/>
              </a:xfrm>
              <a:prstGeom prst="line">
                <a:avLst/>
              </a:prstGeom>
              <a:ln w="16000">
                <a:solidFill>
                  <a:srgbClr val="327ED2"/>
                </a:solidFill>
              </a:ln>
            </p:spPr>
          </p:cxnSp>
          <p:cxnSp>
            <p:nvCxnSpPr>
              <p:cNvPr id="568" name="Calibrated cam18 | Shot 1 | edge 4"/>
              <p:cNvCxnSpPr/>
              <p:nvPr/>
            </p:nvCxnSpPr>
            <p:spPr>
              <a:xfrm flipV="1">
                <a:off x="19975796" y="4699299"/>
                <a:ext cx="322222" cy="102909"/>
              </a:xfrm>
              <a:prstGeom prst="line">
                <a:avLst/>
              </a:prstGeom>
              <a:ln w="16000">
                <a:solidFill>
                  <a:srgbClr val="327ED2"/>
                </a:solidFill>
              </a:ln>
            </p:spPr>
          </p:cxnSp>
          <p:cxnSp>
            <p:nvCxnSpPr>
              <p:cNvPr id="569" name="Calibrated cam18 | Shot 1 | edge 5"/>
              <p:cNvCxnSpPr/>
              <p:nvPr/>
            </p:nvCxnSpPr>
            <p:spPr>
              <a:xfrm>
                <a:off x="20298018" y="4699299"/>
                <a:ext cx="13937" cy="152813"/>
              </a:xfrm>
              <a:prstGeom prst="line">
                <a:avLst/>
              </a:prstGeom>
              <a:ln w="16000">
                <a:solidFill>
                  <a:srgbClr val="327ED2"/>
                </a:solidFill>
              </a:ln>
            </p:spPr>
          </p:cxnSp>
          <p:cxnSp>
            <p:nvCxnSpPr>
              <p:cNvPr id="570" name="Calibrated cam18 | Shot 1 | edge 6"/>
              <p:cNvCxnSpPr/>
              <p:nvPr/>
            </p:nvCxnSpPr>
            <p:spPr>
              <a:xfrm flipH="1">
                <a:off x="19989690" y="4852112"/>
                <a:ext cx="322264" cy="102888"/>
              </a:xfrm>
              <a:prstGeom prst="line">
                <a:avLst/>
              </a:prstGeom>
              <a:ln w="16000">
                <a:solidFill>
                  <a:srgbClr val="327ED2"/>
                </a:solidFill>
              </a:ln>
            </p:spPr>
          </p:cxnSp>
          <p:cxnSp>
            <p:nvCxnSpPr>
              <p:cNvPr id="571" name="Calibrated cam18 | Shot 1 | edge 7"/>
              <p:cNvCxnSpPr/>
              <p:nvPr/>
            </p:nvCxnSpPr>
            <p:spPr>
              <a:xfrm flipH="1" flipV="1">
                <a:off x="19975796" y="4802207"/>
                <a:ext cx="13894" cy="152793"/>
              </a:xfrm>
              <a:prstGeom prst="line">
                <a:avLst/>
              </a:prstGeom>
              <a:ln w="16000">
                <a:solidFill>
                  <a:srgbClr val="327ED2"/>
                </a:solidFill>
              </a:ln>
            </p:spPr>
          </p:cxnSp>
          <p:cxnSp>
            <p:nvCxnSpPr>
              <p:cNvPr id="572" name="Calibrated camera centre | Shot 1 | x"/>
              <p:cNvCxnSpPr/>
              <p:nvPr/>
            </p:nvCxnSpPr>
            <p:spPr>
              <a:xfrm>
                <a:off x="20162548" y="4877071"/>
                <a:ext cx="32000" cy="0"/>
              </a:xfrm>
              <a:prstGeom prst="line">
                <a:avLst/>
              </a:prstGeom>
              <a:ln w="15000">
                <a:solidFill>
                  <a:srgbClr val="327ED2"/>
                </a:solidFill>
              </a:ln>
            </p:spPr>
          </p:cxnSp>
          <p:cxnSp>
            <p:nvCxnSpPr>
              <p:cNvPr id="573" name="Calibrated camera centre | Shot 1 | y"/>
              <p:cNvCxnSpPr/>
              <p:nvPr/>
            </p:nvCxnSpPr>
            <p:spPr>
              <a:xfrm>
                <a:off x="20178548" y="4861071"/>
                <a:ext cx="0" cy="32000"/>
              </a:xfrm>
              <a:prstGeom prst="line">
                <a:avLst/>
              </a:prstGeom>
              <a:ln w="15000">
                <a:solidFill>
                  <a:srgbClr val="327ED2"/>
                </a:solidFill>
              </a:ln>
            </p:spPr>
          </p:cxnSp>
          <p:cxnSp>
            <p:nvCxnSpPr>
              <p:cNvPr id="574" name="Calibrated optical direction | Shot 1"/>
              <p:cNvCxnSpPr/>
              <p:nvPr/>
            </p:nvCxnSpPr>
            <p:spPr>
              <a:xfrm flipH="1" flipV="1">
                <a:off x="19976705" y="4586486"/>
                <a:ext cx="201843" cy="290585"/>
              </a:xfrm>
              <a:prstGeom prst="line">
                <a:avLst/>
              </a:prstGeom>
              <a:ln w="8500">
                <a:solidFill>
                  <a:srgbClr val="327ED2"/>
                </a:solidFill>
                <a:prstDash val="dash"/>
              </a:ln>
            </p:spPr>
          </p:cxnSp>
          <p:sp>
            <p:nvSpPr>
              <p:cNvPr id="575" name="Editable label | Shot 1"/>
              <p:cNvSpPr txBox="1"/>
              <p:nvPr/>
            </p:nvSpPr>
            <p:spPr>
              <a:xfrm>
                <a:off x="19920801" y="4529299"/>
                <a:ext cx="460000" cy="160000"/>
              </a:xfrm>
              <a:prstGeom prst="rect">
                <a:avLst/>
              </a:prstGeom>
              <a:noFill/>
            </p:spPr>
            <p:txBody>
              <a:bodyPr wrap="none" lIns="0" rIns="0" tIns="0" bIns="0" anchor="ctr">
                <a:spAutoFit/>
              </a:bodyPr>
              <a:lstStyle/>
              <a:p>
                <a:pPr algn="ctr"/>
                <a:r>
                  <a:rPr sz="1100" lang="en-US">
                    <a:solidFill>
                      <a:srgbClr val="327ED2"/>
                    </a:solidFill>
                    <a:latin typeface="Arial"/>
                  </a:rPr>
                  <a:t>Shot 1</a:t>
                </a:r>
              </a:p>
            </p:txBody>
          </p:sp>
          <p:cxnSp>
            <p:nvCxnSpPr>
              <p:cNvPr id="576" name="Calibrated cam15 | Shot 2 | edge 0"/>
              <p:cNvCxnSpPr/>
              <p:nvPr/>
            </p:nvCxnSpPr>
            <p:spPr>
              <a:xfrm flipV="1">
                <a:off x="20374024" y="1955000"/>
                <a:ext cx="200309" cy="42974"/>
              </a:xfrm>
              <a:prstGeom prst="line">
                <a:avLst/>
              </a:prstGeom>
              <a:ln w="16000">
                <a:solidFill>
                  <a:srgbClr val="159E91"/>
                </a:solidFill>
              </a:ln>
            </p:spPr>
          </p:cxnSp>
          <p:cxnSp>
            <p:nvCxnSpPr>
              <p:cNvPr id="577" name="Calibrated cam15 | Shot 2 | edge 1"/>
              <p:cNvCxnSpPr/>
              <p:nvPr/>
            </p:nvCxnSpPr>
            <p:spPr>
              <a:xfrm flipH="1">
                <a:off x="20252424" y="1997974"/>
                <a:ext cx="121600" cy="65424"/>
              </a:xfrm>
              <a:prstGeom prst="line">
                <a:avLst/>
              </a:prstGeom>
              <a:ln w="16000">
                <a:solidFill>
                  <a:srgbClr val="159E91"/>
                </a:solidFill>
              </a:ln>
            </p:spPr>
          </p:cxnSp>
          <p:cxnSp>
            <p:nvCxnSpPr>
              <p:cNvPr id="578" name="Calibrated cam15 | Shot 2 | edge 2"/>
              <p:cNvCxnSpPr/>
              <p:nvPr/>
            </p:nvCxnSpPr>
            <p:spPr>
              <a:xfrm flipH="1">
                <a:off x="20244427" y="1997974"/>
                <a:ext cx="129597" cy="177539"/>
              </a:xfrm>
              <a:prstGeom prst="line">
                <a:avLst/>
              </a:prstGeom>
              <a:ln w="16000">
                <a:solidFill>
                  <a:srgbClr val="159E91"/>
                </a:solidFill>
              </a:ln>
            </p:spPr>
          </p:cxnSp>
          <p:cxnSp>
            <p:nvCxnSpPr>
              <p:cNvPr id="579" name="Calibrated cam15 | Shot 2 | edge 3"/>
              <p:cNvCxnSpPr/>
              <p:nvPr/>
            </p:nvCxnSpPr>
            <p:spPr>
              <a:xfrm>
                <a:off x="20374024" y="1997974"/>
                <a:ext cx="192348" cy="69109"/>
              </a:xfrm>
              <a:prstGeom prst="line">
                <a:avLst/>
              </a:prstGeom>
              <a:ln w="16000">
                <a:solidFill>
                  <a:srgbClr val="159E91"/>
                </a:solidFill>
              </a:ln>
            </p:spPr>
          </p:cxnSp>
          <p:cxnSp>
            <p:nvCxnSpPr>
              <p:cNvPr id="580" name="Calibrated cam15 | Shot 2 | edge 4"/>
              <p:cNvCxnSpPr/>
              <p:nvPr/>
            </p:nvCxnSpPr>
            <p:spPr>
              <a:xfrm flipH="1">
                <a:off x="20252424" y="1955000"/>
                <a:ext cx="321909" cy="108398"/>
              </a:xfrm>
              <a:prstGeom prst="line">
                <a:avLst/>
              </a:prstGeom>
              <a:ln w="16000">
                <a:solidFill>
                  <a:srgbClr val="159E91"/>
                </a:solidFill>
              </a:ln>
            </p:spPr>
          </p:cxnSp>
          <p:cxnSp>
            <p:nvCxnSpPr>
              <p:cNvPr id="581" name="Calibrated cam15 | Shot 2 | edge 5"/>
              <p:cNvCxnSpPr/>
              <p:nvPr/>
            </p:nvCxnSpPr>
            <p:spPr>
              <a:xfrm flipH="1">
                <a:off x="20244427" y="2063398"/>
                <a:ext cx="7998" cy="112115"/>
              </a:xfrm>
              <a:prstGeom prst="line">
                <a:avLst/>
              </a:prstGeom>
              <a:ln w="16000">
                <a:solidFill>
                  <a:srgbClr val="159E91"/>
                </a:solidFill>
              </a:ln>
            </p:spPr>
          </p:cxnSp>
          <p:cxnSp>
            <p:nvCxnSpPr>
              <p:cNvPr id="582" name="Calibrated cam15 | Shot 2 | edge 6"/>
              <p:cNvCxnSpPr/>
              <p:nvPr/>
            </p:nvCxnSpPr>
            <p:spPr>
              <a:xfrm flipV="1">
                <a:off x="20244427" y="2067082"/>
                <a:ext cx="321945" cy="108431"/>
              </a:xfrm>
              <a:prstGeom prst="line">
                <a:avLst/>
              </a:prstGeom>
              <a:ln w="16000">
                <a:solidFill>
                  <a:srgbClr val="159E91"/>
                </a:solidFill>
              </a:ln>
            </p:spPr>
          </p:cxnSp>
          <p:cxnSp>
            <p:nvCxnSpPr>
              <p:cNvPr id="583" name="Calibrated cam15 | Shot 2 | edge 7"/>
              <p:cNvCxnSpPr/>
              <p:nvPr/>
            </p:nvCxnSpPr>
            <p:spPr>
              <a:xfrm flipV="1">
                <a:off x="20566372" y="1955000"/>
                <a:ext cx="7962" cy="112082"/>
              </a:xfrm>
              <a:prstGeom prst="line">
                <a:avLst/>
              </a:prstGeom>
              <a:ln w="16000">
                <a:solidFill>
                  <a:srgbClr val="159E91"/>
                </a:solidFill>
              </a:ln>
            </p:spPr>
          </p:cxnSp>
          <p:cxnSp>
            <p:nvCxnSpPr>
              <p:cNvPr id="584" name="Calibrated camera centre | Shot 2 | x"/>
              <p:cNvCxnSpPr/>
              <p:nvPr/>
            </p:nvCxnSpPr>
            <p:spPr>
              <a:xfrm>
                <a:off x="20358024" y="1997974"/>
                <a:ext cx="32000" cy="0"/>
              </a:xfrm>
              <a:prstGeom prst="line">
                <a:avLst/>
              </a:prstGeom>
              <a:ln w="15000">
                <a:solidFill>
                  <a:srgbClr val="159E91"/>
                </a:solidFill>
              </a:ln>
            </p:spPr>
          </p:cxnSp>
          <p:cxnSp>
            <p:nvCxnSpPr>
              <p:cNvPr id="585" name="Calibrated camera centre | Shot 2 | y"/>
              <p:cNvCxnSpPr/>
              <p:nvPr/>
            </p:nvCxnSpPr>
            <p:spPr>
              <a:xfrm>
                <a:off x="20374024" y="1981974"/>
                <a:ext cx="0" cy="32000"/>
              </a:xfrm>
              <a:prstGeom prst="line">
                <a:avLst/>
              </a:prstGeom>
              <a:ln w="15000">
                <a:solidFill>
                  <a:srgbClr val="159E91"/>
                </a:solidFill>
              </a:ln>
            </p:spPr>
          </p:cxnSp>
          <p:cxnSp>
            <p:nvCxnSpPr>
              <p:cNvPr id="586" name="Calibrated optical direction | Shot 2"/>
              <p:cNvCxnSpPr/>
              <p:nvPr/>
            </p:nvCxnSpPr>
            <p:spPr>
              <a:xfrm>
                <a:off x="20374024" y="1997974"/>
                <a:ext cx="209155" cy="398379"/>
              </a:xfrm>
              <a:prstGeom prst="line">
                <a:avLst/>
              </a:prstGeom>
              <a:ln w="8500">
                <a:solidFill>
                  <a:srgbClr val="159E91"/>
                </a:solidFill>
                <a:prstDash val="dash"/>
              </a:ln>
            </p:spPr>
          </p:cxnSp>
          <p:sp>
            <p:nvSpPr>
              <p:cNvPr id="587" name="Editable label | Shot 2"/>
              <p:cNvSpPr txBox="1"/>
              <p:nvPr/>
            </p:nvSpPr>
            <p:spPr>
              <a:xfrm>
                <a:off x="20172316" y="1785000"/>
                <a:ext cx="460000" cy="160000"/>
              </a:xfrm>
              <a:prstGeom prst="rect">
                <a:avLst/>
              </a:prstGeom>
              <a:noFill/>
            </p:spPr>
            <p:txBody>
              <a:bodyPr wrap="none" lIns="0" rIns="0" tIns="0" bIns="0" anchor="ctr">
                <a:spAutoFit/>
              </a:bodyPr>
              <a:lstStyle/>
              <a:p>
                <a:pPr algn="ctr"/>
                <a:r>
                  <a:rPr sz="1100" lang="en-US">
                    <a:solidFill>
                      <a:srgbClr val="159E91"/>
                    </a:solidFill>
                    <a:latin typeface="Arial"/>
                  </a:rPr>
                  <a:t>Shot 2</a:t>
                </a:r>
              </a:p>
            </p:txBody>
          </p:sp>
          <p:cxnSp>
            <p:nvCxnSpPr>
              <p:cNvPr id="588" name="Calibrated cam19 | Shot 3 | edge 0"/>
              <p:cNvCxnSpPr/>
              <p:nvPr/>
            </p:nvCxnSpPr>
            <p:spPr>
              <a:xfrm flipH="1" flipV="1">
                <a:off x="20482858" y="4604199"/>
                <a:ext cx="209749" cy="58171"/>
              </a:xfrm>
              <a:prstGeom prst="line">
                <a:avLst/>
              </a:prstGeom>
              <a:ln w="16000">
                <a:solidFill>
                  <a:srgbClr val="D58A3D"/>
                </a:solidFill>
              </a:ln>
            </p:spPr>
          </p:cxnSp>
          <p:cxnSp>
            <p:nvCxnSpPr>
              <p:cNvPr id="589" name="Calibrated cam19 | Shot 3 | edge 1"/>
              <p:cNvCxnSpPr/>
              <p:nvPr/>
            </p:nvCxnSpPr>
            <p:spPr>
              <a:xfrm flipV="1">
                <a:off x="20692606" y="4477852"/>
                <a:ext cx="105497" cy="184518"/>
              </a:xfrm>
              <a:prstGeom prst="line">
                <a:avLst/>
              </a:prstGeom>
              <a:ln w="16000">
                <a:solidFill>
                  <a:srgbClr val="D58A3D"/>
                </a:solidFill>
              </a:ln>
            </p:spPr>
          </p:cxnSp>
          <p:cxnSp>
            <p:nvCxnSpPr>
              <p:cNvPr id="590" name="Calibrated cam19 | Shot 3 | edge 2"/>
              <p:cNvCxnSpPr/>
              <p:nvPr/>
            </p:nvCxnSpPr>
            <p:spPr>
              <a:xfrm flipV="1">
                <a:off x="20692606" y="4635966"/>
                <a:ext cx="136902" cy="26405"/>
              </a:xfrm>
              <a:prstGeom prst="line">
                <a:avLst/>
              </a:prstGeom>
              <a:ln w="16000">
                <a:solidFill>
                  <a:srgbClr val="D58A3D"/>
                </a:solidFill>
              </a:ln>
            </p:spPr>
          </p:cxnSp>
          <p:cxnSp>
            <p:nvCxnSpPr>
              <p:cNvPr id="591" name="Calibrated cam19 | Shot 3 | edge 3"/>
              <p:cNvCxnSpPr/>
              <p:nvPr/>
            </p:nvCxnSpPr>
            <p:spPr>
              <a:xfrm flipH="1">
                <a:off x="20514219" y="4662370"/>
                <a:ext cx="178387" cy="99924"/>
              </a:xfrm>
              <a:prstGeom prst="line">
                <a:avLst/>
              </a:prstGeom>
              <a:ln w="16000">
                <a:solidFill>
                  <a:srgbClr val="D58A3D"/>
                </a:solidFill>
              </a:ln>
            </p:spPr>
          </p:cxnSp>
          <p:cxnSp>
            <p:nvCxnSpPr>
              <p:cNvPr id="592" name="Calibrated cam19 | Shot 3 | edge 4"/>
              <p:cNvCxnSpPr/>
              <p:nvPr/>
            </p:nvCxnSpPr>
            <p:spPr>
              <a:xfrm flipV="1">
                <a:off x="20482858" y="4477852"/>
                <a:ext cx="315246" cy="126347"/>
              </a:xfrm>
              <a:prstGeom prst="line">
                <a:avLst/>
              </a:prstGeom>
              <a:ln w="16000">
                <a:solidFill>
                  <a:srgbClr val="D58A3D"/>
                </a:solidFill>
              </a:ln>
            </p:spPr>
          </p:cxnSp>
          <p:cxnSp>
            <p:nvCxnSpPr>
              <p:cNvPr id="593" name="Calibrated cam19 | Shot 3 | edge 5"/>
              <p:cNvCxnSpPr/>
              <p:nvPr/>
            </p:nvCxnSpPr>
            <p:spPr>
              <a:xfrm>
                <a:off x="20798103" y="4477852"/>
                <a:ext cx="31405" cy="158114"/>
              </a:xfrm>
              <a:prstGeom prst="line">
                <a:avLst/>
              </a:prstGeom>
              <a:ln w="16000">
                <a:solidFill>
                  <a:srgbClr val="D58A3D"/>
                </a:solidFill>
              </a:ln>
            </p:spPr>
          </p:cxnSp>
          <p:cxnSp>
            <p:nvCxnSpPr>
              <p:cNvPr id="594" name="Calibrated cam19 | Shot 3 | edge 6"/>
              <p:cNvCxnSpPr/>
              <p:nvPr/>
            </p:nvCxnSpPr>
            <p:spPr>
              <a:xfrm flipH="1">
                <a:off x="20514219" y="4635966"/>
                <a:ext cx="315289" cy="126329"/>
              </a:xfrm>
              <a:prstGeom prst="line">
                <a:avLst/>
              </a:prstGeom>
              <a:ln w="16000">
                <a:solidFill>
                  <a:srgbClr val="D58A3D"/>
                </a:solidFill>
              </a:ln>
            </p:spPr>
          </p:cxnSp>
          <p:cxnSp>
            <p:nvCxnSpPr>
              <p:cNvPr id="595" name="Calibrated cam19 | Shot 3 | edge 7"/>
              <p:cNvCxnSpPr/>
              <p:nvPr/>
            </p:nvCxnSpPr>
            <p:spPr>
              <a:xfrm flipH="1" flipV="1">
                <a:off x="20482858" y="4604199"/>
                <a:ext cx="31361" cy="158095"/>
              </a:xfrm>
              <a:prstGeom prst="line">
                <a:avLst/>
              </a:prstGeom>
              <a:ln w="16000">
                <a:solidFill>
                  <a:srgbClr val="D58A3D"/>
                </a:solidFill>
              </a:ln>
            </p:spPr>
          </p:cxnSp>
          <p:cxnSp>
            <p:nvCxnSpPr>
              <p:cNvPr id="596" name="Calibrated camera centre | Shot 3 | x"/>
              <p:cNvCxnSpPr/>
              <p:nvPr/>
            </p:nvCxnSpPr>
            <p:spPr>
              <a:xfrm>
                <a:off x="20676606" y="4662370"/>
                <a:ext cx="32000" cy="0"/>
              </a:xfrm>
              <a:prstGeom prst="line">
                <a:avLst/>
              </a:prstGeom>
              <a:ln w="15000">
                <a:solidFill>
                  <a:srgbClr val="D58A3D"/>
                </a:solidFill>
              </a:ln>
            </p:spPr>
          </p:cxnSp>
          <p:cxnSp>
            <p:nvCxnSpPr>
              <p:cNvPr id="597" name="Calibrated camera centre | Shot 3 | y"/>
              <p:cNvCxnSpPr/>
              <p:nvPr/>
            </p:nvCxnSpPr>
            <p:spPr>
              <a:xfrm>
                <a:off x="20692606" y="4646370"/>
                <a:ext cx="0" cy="32000"/>
              </a:xfrm>
              <a:prstGeom prst="line">
                <a:avLst/>
              </a:prstGeom>
              <a:ln w="15000">
                <a:solidFill>
                  <a:srgbClr val="D58A3D"/>
                </a:solidFill>
              </a:ln>
            </p:spPr>
          </p:cxnSp>
          <p:cxnSp>
            <p:nvCxnSpPr>
              <p:cNvPr id="598" name="Calibrated optical direction | Shot 3"/>
              <p:cNvCxnSpPr/>
              <p:nvPr/>
            </p:nvCxnSpPr>
            <p:spPr>
              <a:xfrm flipH="1" flipV="1">
                <a:off x="20478375" y="4413611"/>
                <a:ext cx="214231" cy="248759"/>
              </a:xfrm>
              <a:prstGeom prst="line">
                <a:avLst/>
              </a:prstGeom>
              <a:ln w="8500">
                <a:solidFill>
                  <a:srgbClr val="D58A3D"/>
                </a:solidFill>
                <a:prstDash val="dash"/>
              </a:ln>
            </p:spPr>
          </p:cxnSp>
          <p:sp>
            <p:nvSpPr>
              <p:cNvPr id="599" name="Editable label | Shot 3"/>
              <p:cNvSpPr txBox="1"/>
              <p:nvPr/>
            </p:nvSpPr>
            <p:spPr>
              <a:xfrm>
                <a:off x="20433459" y="4776294"/>
                <a:ext cx="460000" cy="160000"/>
              </a:xfrm>
              <a:prstGeom prst="rect">
                <a:avLst/>
              </a:prstGeom>
              <a:noFill/>
            </p:spPr>
            <p:txBody>
              <a:bodyPr wrap="none" lIns="0" rIns="0" tIns="0" bIns="0" anchor="ctr">
                <a:spAutoFit/>
              </a:bodyPr>
              <a:lstStyle/>
              <a:p>
                <a:pPr algn="ctr"/>
                <a:r>
                  <a:rPr sz="1100" lang="en-US">
                    <a:solidFill>
                      <a:srgbClr val="D58A3D"/>
                    </a:solidFill>
                    <a:latin typeface="Arial"/>
                  </a:rPr>
                  <a:t>Shot 3</a:t>
                </a:r>
              </a:p>
            </p:txBody>
          </p:sp>
        </p:grpSp>
        <p:sp>
          <p:nvSpPr>
            <p:cNvPr id="600" name="Causal streaming | Previously emitted frames are not revised"/>
            <p:cNvSpPr txBox="1"/>
            <p:nvPr/>
          </p:nvSpPr>
          <p:spPr>
            <a:xfrm>
              <a:off x="19065240" y="6766560"/>
              <a:ext cx="2505456" cy="237744"/>
            </a:xfrm>
            <a:prstGeom prst="rect">
              <a:avLst/>
            </a:prstGeom>
            <a:noFill/>
            <a:effectLst/>
          </p:spPr>
          <p:txBody>
            <a:bodyPr wrap="none" lIns="0" rIns="0" tIns="0" bIns="0" anchor="ctr">
              <a:spAutoFit/>
            </a:bodyPr>
            <a:lstStyle/>
            <a:p>
              <a:pPr algn="ctr">
                <a:lnSpc>
                  <a:spcPct val="100000"/>
                </a:lnSpc>
                <a:spcBef>
                  <a:spcPts val="0"/>
                </a:spcBef>
                <a:spcAft>
                  <a:spcPts val="0"/>
                </a:spcAft>
              </a:pPr>
              <a:r>
                <a:rPr sz="1220" b="0" i="0">
                  <a:solidFill>
                    <a:srgbClr val="637C9A"/>
                  </a:solidFill>
                  <a:latin typeface="Arial"/>
                </a:rPr>
                <a:t>Past outputs remain unchanged</a:t>
              </a:r>
            </a:p>
          </p:txBody>
        </p:sp>
      </p:grpSp>
      <p:grpSp>
        <p:nvGrpSpPr>
          <p:cNvPr id="601" name="Inter-panel information flow"/>
          <p:cNvGrpSpPr/>
          <p:nvPr/>
        </p:nvGrpSpPr>
        <p:grpSpPr>
          <a:xfrm>
            <a:off x="2907792" y="1161288"/>
            <a:ext cx="16070580" cy="5495544"/>
            <a:chOff x="2907792" y="1161288"/>
            <a:chExt cx="16070580" cy="5495544"/>
          </a:xfrm>
        </p:grpSpPr>
        <p:grpSp>
          <p:nvGrpSpPr>
            <p:cNvPr id="602" name="Same frame features to alignment path"/>
            <p:cNvGrpSpPr/>
            <p:nvPr/>
          </p:nvGrpSpPr>
          <p:grpSpPr>
            <a:xfrm>
              <a:off x="4582160" y="3220720"/>
              <a:ext cx="1595120" cy="2692400"/>
              <a:chOff x="4582160" y="3220720"/>
              <a:chExt cx="1595120" cy="2692400"/>
            </a:xfrm>
          </p:grpSpPr>
          <p:cxnSp>
            <p:nvCxnSpPr>
              <p:cNvPr id="603" name="Same frame features to alignment path segment 1"/>
              <p:cNvCxnSpPr/>
              <p:nvPr/>
            </p:nvCxnSpPr>
            <p:spPr>
              <a:xfrm>
                <a:off x="4582160" y="5913120"/>
                <a:ext cx="1361440" cy="0"/>
              </a:xfrm>
              <a:prstGeom prst="line">
                <a:avLst/>
              </a:prstGeom>
              <a:ln w="16764">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604" name="Same frame features to alignment path segment 2"/>
              <p:cNvCxnSpPr/>
              <p:nvPr/>
            </p:nvCxnSpPr>
            <p:spPr>
              <a:xfrm flipV="1">
                <a:off x="5943600" y="3220720"/>
                <a:ext cx="0" cy="2692400"/>
              </a:xfrm>
              <a:prstGeom prst="line">
                <a:avLst/>
              </a:prstGeom>
              <a:ln w="16764">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605" name="Same frame features to alignment path segment 3"/>
              <p:cNvCxnSpPr/>
              <p:nvPr/>
            </p:nvCxnSpPr>
            <p:spPr>
              <a:xfrm>
                <a:off x="5943600" y="3220720"/>
                <a:ext cx="233680" cy="0"/>
              </a:xfrm>
              <a:prstGeom prst="line">
                <a:avLst/>
              </a:prstGeom>
              <a:ln w="16764">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606" name="Same frame features to reconstruction path"/>
            <p:cNvGrpSpPr/>
            <p:nvPr/>
          </p:nvGrpSpPr>
          <p:grpSpPr>
            <a:xfrm>
              <a:off x="5943600" y="5913120"/>
              <a:ext cx="233680" cy="121920"/>
              <a:chOff x="5943600" y="5913120"/>
              <a:chExt cx="233680" cy="121920"/>
            </a:xfrm>
          </p:grpSpPr>
          <p:cxnSp>
            <p:nvCxnSpPr>
              <p:cNvPr id="607" name="Same frame features to reconstruction path segment 1"/>
              <p:cNvCxnSpPr/>
              <p:nvPr/>
            </p:nvCxnSpPr>
            <p:spPr>
              <a:xfrm>
                <a:off x="5943600" y="5913120"/>
                <a:ext cx="0" cy="121920"/>
              </a:xfrm>
              <a:prstGeom prst="line">
                <a:avLst/>
              </a:prstGeom>
              <a:ln w="16764">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608" name="Same frame features to reconstruction path segment 2"/>
              <p:cNvCxnSpPr/>
              <p:nvPr/>
            </p:nvCxnSpPr>
            <p:spPr>
              <a:xfrm>
                <a:off x="5943600" y="6035040"/>
                <a:ext cx="233680" cy="0"/>
              </a:xfrm>
              <a:prstGeom prst="line">
                <a:avLst/>
              </a:prstGeom>
              <a:ln w="16764">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609" name="Historical camera to explicit alignment"/>
            <p:cNvGrpSpPr/>
            <p:nvPr/>
          </p:nvGrpSpPr>
          <p:grpSpPr>
            <a:xfrm>
              <a:off x="14122400" y="1971040"/>
              <a:ext cx="690880" cy="589280"/>
              <a:chOff x="14122400" y="1971040"/>
              <a:chExt cx="690880" cy="589280"/>
            </a:xfrm>
          </p:grpSpPr>
          <p:cxnSp>
            <p:nvCxnSpPr>
              <p:cNvPr id="610" name="Historical camera to explicit alignment segment 1"/>
              <p:cNvCxnSpPr/>
              <p:nvPr/>
            </p:nvCxnSpPr>
            <p:spPr>
              <a:xfrm>
                <a:off x="14122400" y="2560320"/>
                <a:ext cx="294640" cy="0"/>
              </a:xfrm>
              <a:prstGeom prst="line">
                <a:avLst/>
              </a:prstGeom>
              <a:ln w="17780">
                <a:solidFill>
                  <a:srgbClr val="7851C8"/>
                </a:solidFill>
              </a:ln>
              <a:effectLst/>
            </p:spPr>
            <p:style>
              <a:lnRef idx="2">
                <a:schemeClr val="accent1"/>
              </a:lnRef>
              <a:fillRef idx="0">
                <a:schemeClr val="accent1"/>
              </a:fillRef>
              <a:effectRef idx="0">
                <a:schemeClr val="accent1"/>
              </a:effectRef>
              <a:fontRef idx="minor">
                <a:schemeClr val="tx1"/>
              </a:fontRef>
            </p:style>
          </p:cxnSp>
          <p:cxnSp>
            <p:nvCxnSpPr>
              <p:cNvPr id="611" name="Historical camera to explicit alignment segment 2"/>
              <p:cNvCxnSpPr/>
              <p:nvPr/>
            </p:nvCxnSpPr>
            <p:spPr>
              <a:xfrm flipV="1">
                <a:off x="14417040" y="1971040"/>
                <a:ext cx="0" cy="589280"/>
              </a:xfrm>
              <a:prstGeom prst="line">
                <a:avLst/>
              </a:prstGeom>
              <a:ln w="17780">
                <a:solidFill>
                  <a:srgbClr val="7851C8"/>
                </a:solidFill>
              </a:ln>
              <a:effectLst/>
            </p:spPr>
            <p:style>
              <a:lnRef idx="2">
                <a:schemeClr val="accent1"/>
              </a:lnRef>
              <a:fillRef idx="0">
                <a:schemeClr val="accent1"/>
              </a:fillRef>
              <a:effectRef idx="0">
                <a:schemeClr val="accent1"/>
              </a:effectRef>
              <a:fontRef idx="minor">
                <a:schemeClr val="tx1"/>
              </a:fontRef>
            </p:style>
          </p:cxnSp>
          <p:cxnSp>
            <p:nvCxnSpPr>
              <p:cNvPr id="612" name="Historical camera to explicit alignment segment 3"/>
              <p:cNvCxnSpPr/>
              <p:nvPr/>
            </p:nvCxnSpPr>
            <p:spPr>
              <a:xfrm>
                <a:off x="14417040" y="1971040"/>
                <a:ext cx="396240" cy="0"/>
              </a:xfrm>
              <a:prstGeom prst="line">
                <a:avLst/>
              </a:prstGeom>
              <a:ln w="17780">
                <a:solidFill>
                  <a:srgbClr val="7851C8"/>
                </a:solidFill>
                <a:tailEnd type="triangle" w="sm" len="sm"/>
              </a:ln>
              <a:effectLst/>
            </p:spPr>
            <p:style>
              <a:lnRef idx="2">
                <a:schemeClr val="accent1"/>
              </a:lnRef>
              <a:fillRef idx="0">
                <a:schemeClr val="accent1"/>
              </a:fillRef>
              <a:effectRef idx="0">
                <a:schemeClr val="accent1"/>
              </a:effectRef>
              <a:fontRef idx="minor">
                <a:schemeClr val="tx1"/>
              </a:fontRef>
            </p:style>
          </p:cxnSp>
        </p:grpSp>
        <p:grpSp>
          <p:nvGrpSpPr>
            <p:cNvPr id="613" name="New-shot camera and people to explicit world transform"/>
            <p:cNvGrpSpPr/>
            <p:nvPr/>
          </p:nvGrpSpPr>
          <p:grpSpPr>
            <a:xfrm>
              <a:off x="14274800" y="2540000"/>
              <a:ext cx="538480" cy="2489200"/>
              <a:chOff x="14274800" y="2540000"/>
              <a:chExt cx="538480" cy="2489200"/>
            </a:xfrm>
          </p:grpSpPr>
          <p:cxnSp>
            <p:nvCxnSpPr>
              <p:cNvPr id="614" name="New-shot camera and people to explicit world transform segment 1"/>
              <p:cNvCxnSpPr/>
              <p:nvPr/>
            </p:nvCxnSpPr>
            <p:spPr>
              <a:xfrm>
                <a:off x="14274800" y="5029200"/>
                <a:ext cx="304800" cy="0"/>
              </a:xfrm>
              <a:prstGeom prst="line">
                <a:avLst/>
              </a:prstGeom>
              <a:ln w="17780">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615" name="New-shot camera and people to explicit world transform segment 2"/>
              <p:cNvCxnSpPr/>
              <p:nvPr/>
            </p:nvCxnSpPr>
            <p:spPr>
              <a:xfrm flipV="1">
                <a:off x="14579600" y="2540000"/>
                <a:ext cx="0" cy="2489200"/>
              </a:xfrm>
              <a:prstGeom prst="line">
                <a:avLst/>
              </a:prstGeom>
              <a:ln w="17780">
                <a:solidFill>
                  <a:srgbClr val="337BCD"/>
                </a:solidFill>
              </a:ln>
              <a:effectLst/>
            </p:spPr>
            <p:style>
              <a:lnRef idx="2">
                <a:schemeClr val="accent1"/>
              </a:lnRef>
              <a:fillRef idx="0">
                <a:schemeClr val="accent1"/>
              </a:fillRef>
              <a:effectRef idx="0">
                <a:schemeClr val="accent1"/>
              </a:effectRef>
              <a:fontRef idx="minor">
                <a:schemeClr val="tx1"/>
              </a:fontRef>
            </p:style>
          </p:cxnSp>
          <p:cxnSp>
            <p:nvCxnSpPr>
              <p:cNvPr id="616" name="New-shot camera and people to explicit world transform segment 3"/>
              <p:cNvCxnSpPr/>
              <p:nvPr/>
            </p:nvCxnSpPr>
            <p:spPr>
              <a:xfrm>
                <a:off x="14579600" y="2540000"/>
                <a:ext cx="233680" cy="0"/>
              </a:xfrm>
              <a:prstGeom prst="line">
                <a:avLst/>
              </a:prstGeom>
              <a:ln w="17780">
                <a:solidFill>
                  <a:srgbClr val="337BCD"/>
                </a:solidFill>
                <a:tailEnd type="triangle" w="sm" len="sm"/>
              </a:ln>
              <a:effectLst/>
            </p:spPr>
            <p:style>
              <a:lnRef idx="2">
                <a:schemeClr val="accent1"/>
              </a:lnRef>
              <a:fillRef idx="0">
                <a:schemeClr val="accent1"/>
              </a:fillRef>
              <a:effectRef idx="0">
                <a:schemeClr val="accent1"/>
              </a:effectRef>
              <a:fontRef idx="minor">
                <a:schemeClr val="tx1"/>
              </a:fontRef>
            </p:style>
          </p:cxnSp>
        </p:grpSp>
        <p:cxnSp>
          <p:nvCxnSpPr>
            <p:cNvPr id="617" name="Selected new-shot boundary frame to image input | 1"/>
            <p:cNvCxnSpPr/>
            <p:nvPr/>
          </p:nvCxnSpPr>
          <p:spPr>
            <a:xfrm>
              <a:off x="2987344" y="3363163"/>
              <a:ext cx="213056" cy="0"/>
            </a:xfrm>
            <a:prstGeom prst="line">
              <a:avLst/>
            </a:prstGeom>
            <a:ln w="12065">
              <a:solidFill>
                <a:srgbClr val="253750"/>
              </a:solidFill>
            </a:ln>
            <a:effectLst/>
          </p:spPr>
          <p:style>
            <a:lnRef idx="2">
              <a:schemeClr val="accent1"/>
            </a:lnRef>
            <a:fillRef idx="0">
              <a:schemeClr val="accent1"/>
            </a:fillRef>
            <a:effectRef idx="0">
              <a:schemeClr val="accent1"/>
            </a:effectRef>
            <a:fontRef idx="minor">
              <a:schemeClr val="tx1"/>
            </a:fontRef>
          </p:style>
        </p:cxnSp>
        <p:cxnSp>
          <p:nvCxnSpPr>
            <p:cNvPr id="618" name="Selected new-shot boundary frame to image input | 2"/>
            <p:cNvCxnSpPr/>
            <p:nvPr/>
          </p:nvCxnSpPr>
          <p:spPr>
            <a:xfrm flipV="1">
              <a:off x="3200400" y="2011680"/>
              <a:ext cx="0" cy="1351483"/>
            </a:xfrm>
            <a:prstGeom prst="line">
              <a:avLst/>
            </a:prstGeom>
            <a:ln w="12065">
              <a:solidFill>
                <a:srgbClr val="253750"/>
              </a:solidFill>
            </a:ln>
            <a:effectLst/>
          </p:spPr>
          <p:style>
            <a:lnRef idx="2">
              <a:schemeClr val="accent1"/>
            </a:lnRef>
            <a:fillRef idx="0">
              <a:schemeClr val="accent1"/>
            </a:fillRef>
            <a:effectRef idx="0">
              <a:schemeClr val="accent1"/>
            </a:effectRef>
            <a:fontRef idx="minor">
              <a:schemeClr val="tx1"/>
            </a:fontRef>
          </p:style>
        </p:cxnSp>
        <p:cxnSp>
          <p:nvCxnSpPr>
            <p:cNvPr id="619" name="Selected new-shot boundary frame to image input | 3"/>
            <p:cNvCxnSpPr/>
            <p:nvPr/>
          </p:nvCxnSpPr>
          <p:spPr>
            <a:xfrm>
              <a:off x="3200400" y="2011680"/>
              <a:ext cx="345643" cy="0"/>
            </a:xfrm>
            <a:prstGeom prst="line">
              <a:avLst/>
            </a:prstGeom>
            <a:ln w="12065">
              <a:solidFill>
                <a:srgbClr val="25375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20" name="Shot-transition control | detector to boundary paths | 1"/>
            <p:cNvCxnSpPr/>
            <p:nvPr/>
          </p:nvCxnSpPr>
          <p:spPr>
            <a:xfrm>
              <a:off x="2907792" y="6656832"/>
              <a:ext cx="3209544" cy="0"/>
            </a:xfrm>
            <a:prstGeom prst="line">
              <a:avLst/>
            </a:prstGeom>
            <a:ln w="12700">
              <a:solidFill>
                <a:srgbClr val="78899C"/>
              </a:solidFill>
              <a:prstDash val="dash"/>
            </a:ln>
            <a:effectLst/>
          </p:spPr>
          <p:style>
            <a:lnRef idx="2">
              <a:schemeClr val="accent1"/>
            </a:lnRef>
            <a:fillRef idx="0">
              <a:schemeClr val="accent1"/>
            </a:fillRef>
            <a:effectRef idx="0">
              <a:schemeClr val="accent1"/>
            </a:effectRef>
            <a:fontRef idx="minor">
              <a:schemeClr val="tx1"/>
            </a:fontRef>
          </p:style>
        </p:cxnSp>
        <p:cxnSp>
          <p:nvCxnSpPr>
            <p:cNvPr id="621" name="Shot-transition control | detector to boundary paths | 2"/>
            <p:cNvCxnSpPr/>
            <p:nvPr/>
          </p:nvCxnSpPr>
          <p:spPr>
            <a:xfrm flipV="1">
              <a:off x="6117336" y="6126480"/>
              <a:ext cx="0" cy="530352"/>
            </a:xfrm>
            <a:prstGeom prst="line">
              <a:avLst/>
            </a:prstGeom>
            <a:ln w="12700">
              <a:solidFill>
                <a:srgbClr val="78899C"/>
              </a:solidFill>
              <a:prstDash val="dash"/>
            </a:ln>
            <a:effectLst/>
          </p:spPr>
          <p:style>
            <a:lnRef idx="2">
              <a:schemeClr val="accent1"/>
            </a:lnRef>
            <a:fillRef idx="0">
              <a:schemeClr val="accent1"/>
            </a:fillRef>
            <a:effectRef idx="0">
              <a:schemeClr val="accent1"/>
            </a:effectRef>
            <a:fontRef idx="minor">
              <a:schemeClr val="tx1"/>
            </a:fontRef>
          </p:style>
        </p:cxnSp>
        <p:cxnSp>
          <p:nvCxnSpPr>
            <p:cNvPr id="622" name="Shot-transition control rail"/>
            <p:cNvCxnSpPr/>
            <p:nvPr/>
          </p:nvCxnSpPr>
          <p:spPr>
            <a:xfrm flipV="1">
              <a:off x="6117336" y="3310128"/>
              <a:ext cx="0" cy="2633472"/>
            </a:xfrm>
            <a:prstGeom prst="line">
              <a:avLst/>
            </a:prstGeom>
            <a:ln w="12700">
              <a:solidFill>
                <a:srgbClr val="78899C"/>
              </a:solidFill>
              <a:prstDash val="dash"/>
            </a:ln>
            <a:effectLst/>
          </p:spPr>
          <p:style>
            <a:lnRef idx="2">
              <a:schemeClr val="accent1"/>
            </a:lnRef>
            <a:fillRef idx="0">
              <a:schemeClr val="accent1"/>
            </a:fillRef>
            <a:effectRef idx="0">
              <a:schemeClr val="accent1"/>
            </a:effectRef>
            <a:fontRef idx="minor">
              <a:schemeClr val="tx1"/>
            </a:fontRef>
          </p:style>
        </p:cxnSp>
        <p:cxnSp>
          <p:nvCxnSpPr>
            <p:cNvPr id="623" name="Shot-transition control rail"/>
            <p:cNvCxnSpPr/>
            <p:nvPr/>
          </p:nvCxnSpPr>
          <p:spPr>
            <a:xfrm flipV="1">
              <a:off x="6117336" y="1161288"/>
              <a:ext cx="0" cy="1970532"/>
            </a:xfrm>
            <a:prstGeom prst="line">
              <a:avLst/>
            </a:prstGeom>
            <a:ln w="12700">
              <a:solidFill>
                <a:srgbClr val="78899C"/>
              </a:solidFill>
              <a:prstDash val="dash"/>
            </a:ln>
            <a:effectLst/>
          </p:spPr>
          <p:style>
            <a:lnRef idx="2">
              <a:schemeClr val="accent1"/>
            </a:lnRef>
            <a:fillRef idx="0">
              <a:schemeClr val="accent1"/>
            </a:fillRef>
            <a:effectRef idx="0">
              <a:schemeClr val="accent1"/>
            </a:effectRef>
            <a:fontRef idx="minor">
              <a:schemeClr val="tx1"/>
            </a:fontRef>
          </p:style>
        </p:cxnSp>
        <p:cxnSp>
          <p:nvCxnSpPr>
            <p:cNvPr id="624" name="Cut signal | enable alignment path"/>
            <p:cNvCxnSpPr/>
            <p:nvPr/>
          </p:nvCxnSpPr>
          <p:spPr>
            <a:xfrm>
              <a:off x="6117336" y="1161288"/>
              <a:ext cx="182880" cy="0"/>
            </a:xfrm>
            <a:prstGeom prst="line">
              <a:avLst/>
            </a:prstGeom>
            <a:ln w="12700">
              <a:solidFill>
                <a:srgbClr val="78899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25" name="Cut signal | initialize new-shot state"/>
            <p:cNvCxnSpPr/>
            <p:nvPr/>
          </p:nvCxnSpPr>
          <p:spPr>
            <a:xfrm>
              <a:off x="6117336" y="4690872"/>
              <a:ext cx="210312" cy="0"/>
            </a:xfrm>
            <a:prstGeom prst="line">
              <a:avLst/>
            </a:prstGeom>
            <a:ln w="12700">
              <a:solidFill>
                <a:srgbClr val="78899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26" name="Streaming geometry | Shared transform to world-frame output | 1"/>
            <p:cNvCxnSpPr/>
            <p:nvPr/>
          </p:nvCxnSpPr>
          <p:spPr>
            <a:xfrm>
              <a:off x="18532144" y="6501384"/>
              <a:ext cx="217628" cy="0"/>
            </a:xfrm>
            <a:prstGeom prst="line">
              <a:avLst/>
            </a:prstGeom>
            <a:ln w="13335">
              <a:solidFill>
                <a:srgbClr val="0B9B90"/>
              </a:solidFill>
            </a:ln>
            <a:effectLst/>
          </p:spPr>
          <p:style>
            <a:lnRef idx="2">
              <a:schemeClr val="accent1"/>
            </a:lnRef>
            <a:fillRef idx="0">
              <a:schemeClr val="accent1"/>
            </a:fillRef>
            <a:effectRef idx="0">
              <a:schemeClr val="accent1"/>
            </a:effectRef>
            <a:fontRef idx="minor">
              <a:schemeClr val="tx1"/>
            </a:fontRef>
          </p:style>
        </p:cxnSp>
        <p:cxnSp>
          <p:nvCxnSpPr>
            <p:cNvPr id="627" name="Streaming geometry | Shared transform to world-frame output | 2"/>
            <p:cNvCxnSpPr/>
            <p:nvPr/>
          </p:nvCxnSpPr>
          <p:spPr>
            <a:xfrm flipV="1">
              <a:off x="18749772" y="3707891"/>
              <a:ext cx="0" cy="2793493"/>
            </a:xfrm>
            <a:prstGeom prst="line">
              <a:avLst/>
            </a:prstGeom>
            <a:ln w="13335">
              <a:solidFill>
                <a:srgbClr val="0B9B90"/>
              </a:solidFill>
            </a:ln>
            <a:effectLst/>
          </p:spPr>
          <p:style>
            <a:lnRef idx="2">
              <a:schemeClr val="accent1"/>
            </a:lnRef>
            <a:fillRef idx="0">
              <a:schemeClr val="accent1"/>
            </a:fillRef>
            <a:effectRef idx="0">
              <a:schemeClr val="accent1"/>
            </a:effectRef>
            <a:fontRef idx="minor">
              <a:schemeClr val="tx1"/>
            </a:fontRef>
          </p:style>
        </p:cxnSp>
        <p:cxnSp>
          <p:nvCxnSpPr>
            <p:cNvPr id="628" name="Streaming geometry | Shared transform to world-frame output | 3"/>
            <p:cNvCxnSpPr/>
            <p:nvPr/>
          </p:nvCxnSpPr>
          <p:spPr>
            <a:xfrm>
              <a:off x="18749772" y="3707891"/>
              <a:ext cx="228600" cy="0"/>
            </a:xfrm>
            <a:prstGeom prst="line">
              <a:avLst/>
            </a:prstGeom>
            <a:ln w="13335">
              <a:solidFill>
                <a:srgbClr val="0B9B90"/>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29" name="Persistent IDs to streaming output"/>
            <p:cNvCxnSpPr/>
            <p:nvPr/>
          </p:nvCxnSpPr>
          <p:spPr>
            <a:xfrm>
              <a:off x="18388584" y="5280660"/>
              <a:ext cx="361188" cy="0"/>
            </a:xfrm>
            <a:prstGeom prst="line">
              <a:avLst/>
            </a:prstGeom>
            <a:ln w="12700">
              <a:solidFill>
                <a:srgbClr val="0B9B90"/>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0" name="Geometry and identity output junction"/>
            <p:cNvSpPr/>
            <p:nvPr/>
          </p:nvSpPr>
          <p:spPr>
            <a:xfrm>
              <a:off x="18731484" y="5262372"/>
              <a:ext cx="36576" cy="36576"/>
            </a:xfrm>
            <a:prstGeom prst="ellipse">
              <a:avLst/>
            </a:prstGeom>
            <a:solidFill>
              <a:srgbClr val="0B9B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Shot3R — Revised Editable Pipeline</dc:title>
  <dc:subject>Figure-level revision following the confirmed nine-point checklist, 2026-09-08</dc:subject>
  <dc:creator/>
  <cp:keywords>Shot3R, editable, pipeline, vector, streaming, multi-shot</cp:keywords>
  <dc:description>Original RGB/mesh assets and calibrated output illustration retained. Native editable diagram objects.</dc:description>
  <cp:lastModifiedBy/>
  <cp:revision>1</cp:revision>
  <dcterms:created xsi:type="dcterms:W3CDTF">2013-01-27T09:14:16Z</dcterms:created>
  <dcterms:modified xsi:type="dcterms:W3CDTF">2013-01-27T09:15:58Z</dcterms:modified>
  <cp:category/>
</cp:coreProperties>
</file>