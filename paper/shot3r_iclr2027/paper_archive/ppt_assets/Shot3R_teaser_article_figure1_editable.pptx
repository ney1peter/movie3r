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5289213" cy="8263754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3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CAMERA-IMAGE-PLANE REVISION / 相机代表帧整合修改</a:t>
            </a:r>
          </a:p>
          <a:p>
            <a:r>
              <a:t>- Removed the independent top row of three representative photographs.</a:t>
            </a:r>
          </a:p>
          <a:p>
            <a:r>
              <a:t>- Reused exactly the same source representative photographs at the 0°, 99° and 177° camera positions, as independent perspective image planes.</a:t>
            </a:r>
          </a:p>
          <a:p>
            <a:r>
              <a:t>- All new camera frustum lines, outlines, camera centers, angle labels and badges are native editable PowerPoint objects.</a:t>
            </a:r>
          </a:p>
          <a:p>
            <a:r>
              <a:t>- The orange 99° camera was redesigned as a thin-line frustum; the original baked-in icon and label are covered by two separately editable, narrowly bounded white masks. The original reconstruction image bytes are unchanged.</a:t>
            </a:r>
          </a:p>
          <a:p>
            <a:r>
              <a:t>- The original right-hand baked-in camera is occluded by the new corresponding 177° image plane. The obsolete native 0° camera and detached 177° angle label were removed.</a:t>
            </a:r>
          </a:p>
          <a:p>
            <a:r>
              <a:t>- The reconstruction image, human poses, motion ghosts, person colors, point cloud and blocks were not regenerated or changed. Only the original reconstruction picture was moved upward.</a:t>
            </a:r>
          </a:p>
          <a:p>
            <a:r>
              <a:t>- Bottom video frames, shot labels, two CUT markers and the streaming-direction arrow are unchanged except for a common upward translation.</a:t>
            </a:r>
          </a:p>
          <a:p>
            <a:r>
              <a:t>- The source 99° angle is retained; no conversion to 90° is implied.</a:t>
            </a:r>
          </a:p>
          <a:p>
            <a:r>
              <a:t>- Canvas height was reduced after removing the top row.</a:t>
            </a:r>
          </a:p>
          <a:p>
            <a:endParaRPr/>
          </a:p>
          <a:p>
            <a:r>
              <a:t>EDITABILITY / 可编辑范围</a:t>
            </a:r>
          </a:p>
          <a:p>
            <a:r>
              <a:t>- Each camera + photograph is a separate named group. Ungroup to edit camera rays, angle text, outline and photo separately.</a:t>
            </a:r>
          </a:p>
          <a:p>
            <a:r>
              <a:t>- The three perspective photographs are independent image objects, not a flattened slide. The unwarped originals remain available in the middle frame of each bottom shot group.</a:t>
            </a:r>
          </a:p>
          <a:p>
            <a:r>
              <a:t>- The central reconstruction in the supplied PPT is already one composite picture. This revision preserves that structure and does not claim its individual humans or point-cloud points are editable.</a:t>
            </a:r>
          </a:p>
          <a:p>
            <a:endParaRPr/>
          </a:p>
          <a:p>
            <a:r>
              <a:t>SOURCE PROVENANCE / 论文使用说明</a:t>
            </a:r>
          </a:p>
          <a:p>
            <a:r>
              <a:t>- Source notes identify the central reconstruction imagery as illustrative/generated, not measured reconstruction output. This revision adds no empirical reconstruction results.</a:t>
            </a:r>
          </a:p>
          <a:p>
            <a:r>
              <a:t>- For empirical claims in the final paper, replace illustrative visual assets with author-produced reconstruction outputs.</a:t>
            </a:r>
          </a:p>
          <a:p>
            <a:endParaRPr/>
          </a:p>
          <a:p>
            <a:r>
              <a:rPr lang="en-US" sz="1000"/>
              <a:t>TEMPORAL NOTATION REVISION / 时间帧区间修改（v7）</a:t>
            </a:r>
          </a:p>
          <a:p>
            <a:r>
              <a:rPr lang="en-US" sz="1000"/>
              <a:t>- The three isolated t labels were replaced by native editable frame-index ranges near the corresponding image stacks.</a:t>
            </a:r>
          </a:p>
          <a:p>
            <a:r>
              <a:rPr lang="en-US" sz="1000"/>
              <a:t>- 0°: Frames 0, …, t − 1.  99°: Frames t, …, t + n − 1.  177°: Frames t + n, … .</a:t>
            </a:r>
          </a:p>
          <a:p>
            <a:r>
              <a:rPr lang="en-US" sz="1000"/>
              <a:t>- t is the first frame after the 0°→99° cut. n is the duration of the 99° shot in frames. Cut boundaries are t−1→t and t+n−1→t+n, with no missing or duplicated indices.</a:t>
            </a:r>
          </a:p>
          <a:p>
            <a:r>
              <a:rPr lang="en-US" sz="1000"/>
              <a:t>- Frame indices start at zero. These are symbolic intervals, not measured timestamps; no frame rate or duration in seconds is assumed.</a:t>
            </a:r>
          </a:p>
          <a:p>
            <a:r>
              <a:rPr lang="en-US" sz="1000"/>
              <a:t>- The two smooth arrows follow the approved preview and are native cubic Bezier paths with native end arrowheads; no rasterized slide was substituted.</a:t>
            </a:r>
          </a:p>
          <a:p>
            <a:r>
              <a:rPr lang="en-US" sz="1000"/>
              <a:t>- All original photographs, image stacks, reconstruction, human poses/ghosts, camera groups, angle labels, axes, and the lower streaming-video strip are preserved. The original composite reconstruction remains a raster image.</a:t>
            </a:r>
          </a:p>
          <a:p>
            <a:r>
              <a:t>EDITABLE LAYOUT REVISION v9 / 去白边与等比例放大</a:t>
            </a:r>
          </a:p>
          <a:p>
            <a:r>
              <a:t>- Edited the author-uploaded PowerPoint directly. Right-hand blank canvas removed; all original objects enlarged uniformly by 1.288775x. No flattened-slide image was inserted.</a:t>
            </a:r>
          </a:p>
          <a:p>
            <a:r>
              <a:t>- Original text boxes, editable cubic-Bezier arrows, angle badges, shot panels, photographs, and CUT/streaming groups retain their native PowerPoint structure.</a:t>
            </a:r>
          </a:p>
          <a:p>
            <a:r>
              <a:t>- Multi-shot remains native text, now bold blue, with a 22 pt pre-scaling size.</a:t>
            </a:r>
          </a:p>
          <a:p>
            <a:r>
              <a:t>- All embedded source image bytes are unchanged. The upper reconstruction remains the original composite raster picture; its people, point cloud, and embedded camera images are not individually vector-editable.</a:t>
            </a:r>
          </a:p>
          <a:p>
            <a:r>
              <a:t>- Only canvas, object scaling and subtitle emphasis were changed; source shot content, frame ordering, temporal annotations and reconstruction imagery were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0202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ot 1 — editable container"/>
          <p:cNvSpPr/>
          <p:nvPr/>
        </p:nvSpPr>
        <p:spPr>
          <a:xfrm>
            <a:off x="197528" y="6232151"/>
            <a:ext cx="4460057" cy="1414147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Shot 1 — editable shot label"/>
          <p:cNvSpPr txBox="1"/>
          <p:nvPr/>
        </p:nvSpPr>
        <p:spPr>
          <a:xfrm>
            <a:off x="367355" y="6245818"/>
            <a:ext cx="4120403" cy="2830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58" b="1" dirty="0">
                <a:solidFill>
                  <a:srgbClr val="3C6DAA"/>
                </a:solidFill>
                <a:latin typeface="Arial"/>
              </a:rPr>
              <a:t>Shot 1</a:t>
            </a:r>
          </a:p>
        </p:txBody>
      </p:sp>
      <p:pic>
        <p:nvPicPr>
          <p:cNvPr id="57" name="Shot 1 / Frame 1 — original photograph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0147" y="6569893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58" name="Shot 1 / Frame 2 — original photograph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29966" y="6569893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59" name="Shot 1 / Frame 3 — original photograph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796811" y="6569893"/>
            <a:ext cx="1755900" cy="987693"/>
          </a:xfrm>
          <a:prstGeom prst="roundRect">
            <a:avLst>
              <a:gd name="adj" fmla="val 2800"/>
            </a:avLst>
          </a:prstGeom>
        </p:spPr>
      </p:pic>
      <p:sp>
        <p:nvSpPr>
          <p:cNvPr id="61" name="Shot 2 — editable container"/>
          <p:cNvSpPr/>
          <p:nvPr/>
        </p:nvSpPr>
        <p:spPr>
          <a:xfrm>
            <a:off x="5452249" y="6242872"/>
            <a:ext cx="4460057" cy="1414147"/>
          </a:xfrm>
          <a:prstGeom prst="roundRect">
            <a:avLst>
              <a:gd name="adj" fmla="val 6000"/>
            </a:avLst>
          </a:prstGeom>
          <a:solidFill>
            <a:srgbClr val="FCF2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Shot 2 — editable shot label"/>
          <p:cNvSpPr txBox="1"/>
          <p:nvPr/>
        </p:nvSpPr>
        <p:spPr>
          <a:xfrm>
            <a:off x="576598" y="5188744"/>
            <a:ext cx="5585883" cy="294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58" b="1">
                <a:solidFill>
                  <a:srgbClr val="D57F43"/>
                </a:solidFill>
                <a:latin typeface="Arial"/>
              </a:rPr>
              <a:t>Shot 2</a:t>
            </a:r>
          </a:p>
        </p:txBody>
      </p:sp>
      <p:pic>
        <p:nvPicPr>
          <p:cNvPr id="63" name="Shot 2 / Frame 1 — original photograph" descr="imag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596895" y="6589781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64" name="Shot 2 / Frame 2 — original photograph" descr="image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804813" y="6588675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65" name="Shot 2 / Frame 3 — original photograph" descr="image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053398" y="6578898"/>
            <a:ext cx="1755900" cy="987693"/>
          </a:xfrm>
          <a:prstGeom prst="roundRect">
            <a:avLst>
              <a:gd name="adj" fmla="val 2800"/>
            </a:avLst>
          </a:prstGeom>
        </p:spPr>
      </p:pic>
      <p:sp>
        <p:nvSpPr>
          <p:cNvPr id="67" name="Shot 3 — editable container"/>
          <p:cNvSpPr/>
          <p:nvPr/>
        </p:nvSpPr>
        <p:spPr>
          <a:xfrm>
            <a:off x="10755302" y="6270908"/>
            <a:ext cx="4445528" cy="1414147"/>
          </a:xfrm>
          <a:prstGeom prst="roundRect">
            <a:avLst>
              <a:gd name="adj" fmla="val 6000"/>
            </a:avLst>
          </a:prstGeom>
          <a:solidFill>
            <a:srgbClr val="FBEF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Shot 3 — editable shot label"/>
          <p:cNvSpPr txBox="1"/>
          <p:nvPr/>
        </p:nvSpPr>
        <p:spPr>
          <a:xfrm>
            <a:off x="10755302" y="6300078"/>
            <a:ext cx="4445528" cy="294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58" b="1" dirty="0">
                <a:solidFill>
                  <a:srgbClr val="C65B69"/>
                </a:solidFill>
                <a:latin typeface="Arial"/>
              </a:rPr>
              <a:t>Shot 3</a:t>
            </a:r>
          </a:p>
        </p:txBody>
      </p:sp>
      <p:pic>
        <p:nvPicPr>
          <p:cNvPr id="69" name="Shot 3 / Frame 1 — original photograph" descr="imag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902551" y="6578897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70" name="Shot 3 / Frame 2 — original photograph" descr="image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2053320" y="6579561"/>
            <a:ext cx="1755900" cy="987693"/>
          </a:xfrm>
          <a:prstGeom prst="roundRect">
            <a:avLst>
              <a:gd name="adj" fmla="val 2800"/>
            </a:avLst>
          </a:prstGeom>
        </p:spPr>
      </p:pic>
      <p:pic>
        <p:nvPicPr>
          <p:cNvPr id="71" name="Shot 3 / Frame 3 — original photograph" descr="image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3310693" y="6578896"/>
            <a:ext cx="1755900" cy="987693"/>
          </a:xfrm>
          <a:prstGeom prst="roundRect">
            <a:avLst>
              <a:gd name="adj" fmla="val 2800"/>
            </a:avLst>
          </a:prstGeom>
        </p:spPr>
      </p:pic>
      <p:grpSp>
        <p:nvGrpSpPr>
          <p:cNvPr id="72" name="09.1 Single timeline cut — editable"/>
          <p:cNvGrpSpPr/>
          <p:nvPr/>
        </p:nvGrpSpPr>
        <p:grpSpPr>
          <a:xfrm>
            <a:off x="4762853" y="6288585"/>
            <a:ext cx="589228" cy="1308086"/>
            <a:chOff x="6281172" y="8697007"/>
            <a:chExt cx="589228" cy="1308086"/>
          </a:xfrm>
        </p:grpSpPr>
        <p:cxnSp>
          <p:nvCxnSpPr>
            <p:cNvPr id="73" name="Cut 1 — upper dashed separator"/>
            <p:cNvCxnSpPr/>
            <p:nvPr/>
          </p:nvCxnSpPr>
          <p:spPr>
            <a:xfrm>
              <a:off x="6575786" y="8697007"/>
              <a:ext cx="0" cy="424244"/>
            </a:xfrm>
            <a:prstGeom prst="line">
              <a:avLst/>
            </a:prstGeom>
            <a:ln w="16367">
              <a:solidFill>
                <a:srgbClr val="B7BDC6"/>
              </a:solidFill>
              <a:prstDash val="dash"/>
            </a:ln>
            <a:effectLst/>
          </p:spPr>
        </p:cxnSp>
        <p:cxnSp>
          <p:nvCxnSpPr>
            <p:cNvPr id="74" name="Cut 1 — lower dashed separator"/>
            <p:cNvCxnSpPr/>
            <p:nvPr/>
          </p:nvCxnSpPr>
          <p:spPr>
            <a:xfrm>
              <a:off x="6575786" y="9604418"/>
              <a:ext cx="0" cy="400675"/>
            </a:xfrm>
            <a:prstGeom prst="line">
              <a:avLst/>
            </a:prstGeom>
            <a:ln w="16367">
              <a:solidFill>
                <a:srgbClr val="B7BDC6"/>
              </a:solidFill>
              <a:prstDash val="dash"/>
            </a:ln>
            <a:effectLst/>
          </p:spPr>
        </p:cxnSp>
        <p:sp>
          <p:nvSpPr>
            <p:cNvPr id="75" name="Cut 1 — label background"/>
            <p:cNvSpPr/>
            <p:nvPr/>
          </p:nvSpPr>
          <p:spPr>
            <a:xfrm>
              <a:off x="6281172" y="9174282"/>
              <a:ext cx="589228" cy="335859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Cut 1 — label"/>
            <p:cNvSpPr txBox="1"/>
            <p:nvPr/>
          </p:nvSpPr>
          <p:spPr>
            <a:xfrm>
              <a:off x="6281172" y="9168389"/>
              <a:ext cx="589228" cy="3417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8" b="1">
                  <a:solidFill>
                    <a:srgbClr val="A86D48"/>
                  </a:solidFill>
                  <a:latin typeface="Arial"/>
                </a:rPr>
                <a:t>CUT</a:t>
              </a:r>
            </a:p>
          </p:txBody>
        </p:sp>
      </p:grpSp>
      <p:grpSp>
        <p:nvGrpSpPr>
          <p:cNvPr id="77" name="09.2 Single timeline cut — editable"/>
          <p:cNvGrpSpPr/>
          <p:nvPr/>
        </p:nvGrpSpPr>
        <p:grpSpPr>
          <a:xfrm>
            <a:off x="10039191" y="6258505"/>
            <a:ext cx="589228" cy="1308086"/>
            <a:chOff x="12833387" y="8697007"/>
            <a:chExt cx="589228" cy="1308086"/>
          </a:xfrm>
        </p:grpSpPr>
        <p:cxnSp>
          <p:nvCxnSpPr>
            <p:cNvPr id="78" name="Cut 2 — upper dashed separator"/>
            <p:cNvCxnSpPr/>
            <p:nvPr/>
          </p:nvCxnSpPr>
          <p:spPr>
            <a:xfrm>
              <a:off x="13128001" y="8697007"/>
              <a:ext cx="0" cy="424244"/>
            </a:xfrm>
            <a:prstGeom prst="line">
              <a:avLst/>
            </a:prstGeom>
            <a:ln w="16367">
              <a:solidFill>
                <a:srgbClr val="B7BDC6"/>
              </a:solidFill>
              <a:prstDash val="dash"/>
            </a:ln>
            <a:effectLst/>
          </p:spPr>
        </p:cxnSp>
        <p:cxnSp>
          <p:nvCxnSpPr>
            <p:cNvPr id="79" name="Cut 2 — lower dashed separator"/>
            <p:cNvCxnSpPr/>
            <p:nvPr/>
          </p:nvCxnSpPr>
          <p:spPr>
            <a:xfrm>
              <a:off x="13128001" y="9604418"/>
              <a:ext cx="0" cy="400675"/>
            </a:xfrm>
            <a:prstGeom prst="line">
              <a:avLst/>
            </a:prstGeom>
            <a:ln w="16367">
              <a:solidFill>
                <a:srgbClr val="B7BDC6"/>
              </a:solidFill>
              <a:prstDash val="dash"/>
            </a:ln>
            <a:effectLst/>
          </p:spPr>
        </p:cxnSp>
        <p:sp>
          <p:nvSpPr>
            <p:cNvPr id="80" name="Cut 2 — label background"/>
            <p:cNvSpPr/>
            <p:nvPr/>
          </p:nvSpPr>
          <p:spPr>
            <a:xfrm>
              <a:off x="12833387" y="9174282"/>
              <a:ext cx="589228" cy="335859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Cut 2 — label"/>
            <p:cNvSpPr txBox="1"/>
            <p:nvPr/>
          </p:nvSpPr>
          <p:spPr>
            <a:xfrm>
              <a:off x="12833387" y="9168389"/>
              <a:ext cx="589228" cy="3417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8" b="1">
                  <a:solidFill>
                    <a:srgbClr val="A86D48"/>
                  </a:solidFill>
                  <a:latin typeface="Arial"/>
                </a:rPr>
                <a:t>CUT</a:t>
              </a:r>
            </a:p>
          </p:txBody>
        </p:sp>
      </p:grpSp>
      <p:grpSp>
        <p:nvGrpSpPr>
          <p:cNvPr id="82" name="10 Streaming direction — editable label and arrow"/>
          <p:cNvGrpSpPr/>
          <p:nvPr/>
        </p:nvGrpSpPr>
        <p:grpSpPr>
          <a:xfrm>
            <a:off x="377107" y="7683535"/>
            <a:ext cx="14823722" cy="491835"/>
            <a:chOff x="377106" y="10111154"/>
            <a:chExt cx="18926007" cy="271045"/>
          </a:xfrm>
        </p:grpSpPr>
        <p:sp>
          <p:nvSpPr>
            <p:cNvPr id="83" name="Streaming video label"/>
            <p:cNvSpPr txBox="1"/>
            <p:nvPr/>
          </p:nvSpPr>
          <p:spPr>
            <a:xfrm>
              <a:off x="377106" y="10111154"/>
              <a:ext cx="2498327" cy="27104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8" b="0">
                  <a:solidFill>
                    <a:srgbClr val="6B7482"/>
                  </a:solidFill>
                  <a:latin typeface="Arial"/>
                </a:rPr>
                <a:t>Streaming video</a:t>
              </a:r>
            </a:p>
          </p:txBody>
        </p:sp>
        <p:cxnSp>
          <p:nvCxnSpPr>
            <p:cNvPr id="84" name="Forward time direction"/>
            <p:cNvCxnSpPr/>
            <p:nvPr/>
          </p:nvCxnSpPr>
          <p:spPr>
            <a:xfrm>
              <a:off x="2887218" y="10247855"/>
              <a:ext cx="16415895" cy="0"/>
            </a:xfrm>
            <a:prstGeom prst="line">
              <a:avLst/>
            </a:prstGeom>
            <a:ln w="18821">
              <a:solidFill>
                <a:srgbClr val="A6AEB9"/>
              </a:solidFill>
              <a:tailEnd type="triangle" w="sm" len="sm"/>
            </a:ln>
            <a:effectLst/>
          </p:spPr>
        </p:cxn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C45FABFC-B045-BE72-25A5-A1F4DC92E06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7569" b="14173"/>
          <a:stretch/>
        </p:blipFill>
        <p:spPr>
          <a:xfrm>
            <a:off x="88383" y="41135"/>
            <a:ext cx="15112447" cy="6078343"/>
          </a:xfrm>
          <a:prstGeom prst="rect">
            <a:avLst/>
          </a:prstGeom>
        </p:spPr>
      </p:pic>
      <p:sp>
        <p:nvSpPr>
          <p:cNvPr id="24" name="0° — editable angle badge">
            <a:extLst>
              <a:ext uri="{FF2B5EF4-FFF2-40B4-BE49-F238E27FC236}">
                <a16:creationId xmlns:a16="http://schemas.microsoft.com/office/drawing/2014/main" id="{E53A5DB7-2BBF-933A-BA44-7DD5F778C93C}"/>
              </a:ext>
            </a:extLst>
          </p:cNvPr>
          <p:cNvSpPr/>
          <p:nvPr/>
        </p:nvSpPr>
        <p:spPr>
          <a:xfrm>
            <a:off x="2601468" y="1288661"/>
            <a:ext cx="612797" cy="365321"/>
          </a:xfrm>
          <a:prstGeom prst="roundRect">
            <a:avLst>
              <a:gd name="adj" fmla="val 12000"/>
            </a:avLst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0° — editable angle text">
            <a:extLst>
              <a:ext uri="{FF2B5EF4-FFF2-40B4-BE49-F238E27FC236}">
                <a16:creationId xmlns:a16="http://schemas.microsoft.com/office/drawing/2014/main" id="{49A1C56F-18FD-91C0-89F6-40359A1DA4F3}"/>
              </a:ext>
            </a:extLst>
          </p:cNvPr>
          <p:cNvSpPr txBox="1"/>
          <p:nvPr/>
        </p:nvSpPr>
        <p:spPr>
          <a:xfrm>
            <a:off x="2601468" y="1288661"/>
            <a:ext cx="612797" cy="3653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98" b="1" dirty="0">
                <a:solidFill>
                  <a:srgbClr val="3C6DAA"/>
                </a:solidFill>
                <a:latin typeface="Arial"/>
              </a:rPr>
              <a:t>0°</a:t>
            </a:r>
          </a:p>
        </p:txBody>
      </p:sp>
      <p:sp>
        <p:nvSpPr>
          <p:cNvPr id="26" name="12.1 Editable frame interval — 0° / frames 0 … t−1" descr="Editable frame-index range. t is the first frame of the 99° shot; n is its duration in frames. Not a timestamp in seconds.">
            <a:extLst>
              <a:ext uri="{FF2B5EF4-FFF2-40B4-BE49-F238E27FC236}">
                <a16:creationId xmlns:a16="http://schemas.microsoft.com/office/drawing/2014/main" id="{0F717678-24F2-8262-A20E-B663ECA3B2F6}"/>
              </a:ext>
            </a:extLst>
          </p:cNvPr>
          <p:cNvSpPr txBox="1"/>
          <p:nvPr/>
        </p:nvSpPr>
        <p:spPr>
          <a:xfrm>
            <a:off x="2409533" y="1805833"/>
            <a:ext cx="1868724" cy="324771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0" dirty="0">
                <a:solidFill>
                  <a:srgbClr val="77818F"/>
                </a:solidFill>
                <a:latin typeface="Arial"/>
                <a:ea typeface="Arial"/>
                <a:cs typeface="Arial"/>
              </a:rPr>
              <a:t>Frames  </a:t>
            </a:r>
            <a:r>
              <a:rPr lang="en-US" sz="1708" b="0" i="0" dirty="0">
                <a:solidFill>
                  <a:srgbClr val="3C6DAA"/>
                </a:solidFill>
                <a:latin typeface="Cambria"/>
                <a:ea typeface="Cambria"/>
                <a:cs typeface="Cambria"/>
              </a:rPr>
              <a:t>0, …, </a:t>
            </a:r>
            <a:r>
              <a:rPr lang="en-US" sz="1708" b="0" i="1" dirty="0">
                <a:solidFill>
                  <a:srgbClr val="3C6DAA"/>
                </a:solidFill>
                <a:latin typeface="Cambria"/>
                <a:ea typeface="Cambria"/>
                <a:cs typeface="Cambria"/>
              </a:rPr>
              <a:t>t</a:t>
            </a:r>
            <a:r>
              <a:rPr lang="en-US" sz="1708" b="0" i="0" dirty="0">
                <a:solidFill>
                  <a:srgbClr val="3C6DAA"/>
                </a:solidFill>
                <a:latin typeface="Cambria"/>
                <a:ea typeface="Cambria"/>
                <a:cs typeface="Cambria"/>
              </a:rPr>
              <a:t> − 1</a:t>
            </a:r>
            <a:endParaRPr lang="en-US" sz="1708" dirty="0"/>
          </a:p>
        </p:txBody>
      </p:sp>
      <p:sp>
        <p:nvSpPr>
          <p:cNvPr id="12" name="99° — editable angle badge">
            <a:extLst>
              <a:ext uri="{FF2B5EF4-FFF2-40B4-BE49-F238E27FC236}">
                <a16:creationId xmlns:a16="http://schemas.microsoft.com/office/drawing/2014/main" id="{5BBE1725-C38B-43EA-6699-28F2BE7F4FFB}"/>
              </a:ext>
            </a:extLst>
          </p:cNvPr>
          <p:cNvSpPr/>
          <p:nvPr/>
        </p:nvSpPr>
        <p:spPr>
          <a:xfrm>
            <a:off x="320147" y="3938248"/>
            <a:ext cx="730643" cy="365321"/>
          </a:xfrm>
          <a:prstGeom prst="roundRect">
            <a:avLst>
              <a:gd name="adj" fmla="val 12000"/>
            </a:avLst>
          </a:prstGeom>
          <a:solidFill>
            <a:srgbClr val="FC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99° — editable angle text">
            <a:extLst>
              <a:ext uri="{FF2B5EF4-FFF2-40B4-BE49-F238E27FC236}">
                <a16:creationId xmlns:a16="http://schemas.microsoft.com/office/drawing/2014/main" id="{8BA2A001-D0D9-6F5C-735E-5BB1260D9F90}"/>
              </a:ext>
            </a:extLst>
          </p:cNvPr>
          <p:cNvSpPr txBox="1"/>
          <p:nvPr/>
        </p:nvSpPr>
        <p:spPr>
          <a:xfrm>
            <a:off x="320147" y="3938248"/>
            <a:ext cx="730643" cy="3653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98" b="1">
                <a:solidFill>
                  <a:srgbClr val="CC8241"/>
                </a:solidFill>
                <a:latin typeface="Arial"/>
              </a:rPr>
              <a:t>99°</a:t>
            </a:r>
          </a:p>
        </p:txBody>
      </p:sp>
      <p:sp>
        <p:nvSpPr>
          <p:cNvPr id="16" name="12.2 Editable frame interval — 99° / frames t … t+n−1" descr="Editable frame-index range. t is the first frame of the 99° shot; n is its duration in frames. Not a timestamp in seconds.">
            <a:extLst>
              <a:ext uri="{FF2B5EF4-FFF2-40B4-BE49-F238E27FC236}">
                <a16:creationId xmlns:a16="http://schemas.microsoft.com/office/drawing/2014/main" id="{55C0F051-5811-5592-7136-1F2CAFAA484F}"/>
              </a:ext>
            </a:extLst>
          </p:cNvPr>
          <p:cNvSpPr txBox="1"/>
          <p:nvPr/>
        </p:nvSpPr>
        <p:spPr>
          <a:xfrm>
            <a:off x="320147" y="4443642"/>
            <a:ext cx="2152255" cy="270643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0" dirty="0">
                <a:solidFill>
                  <a:srgbClr val="77818F"/>
                </a:solidFill>
                <a:latin typeface="Arial"/>
                <a:ea typeface="Arial"/>
                <a:cs typeface="Arial"/>
              </a:rPr>
              <a:t>Frames  </a:t>
            </a:r>
            <a:r>
              <a:rPr lang="en-US" sz="1708" b="0" i="1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t</a:t>
            </a:r>
            <a:r>
              <a:rPr lang="en-US" sz="1708" b="0" i="0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, …, </a:t>
            </a:r>
            <a:r>
              <a:rPr lang="en-US" sz="1708" b="0" i="1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t</a:t>
            </a:r>
            <a:r>
              <a:rPr lang="en-US" sz="1708" b="0" i="0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 + </a:t>
            </a:r>
            <a:r>
              <a:rPr lang="en-US" sz="1708" b="0" i="1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n</a:t>
            </a:r>
            <a:r>
              <a:rPr lang="en-US" sz="1708" b="0" i="0" dirty="0">
                <a:solidFill>
                  <a:srgbClr val="CE7934"/>
                </a:solidFill>
                <a:latin typeface="Cambria"/>
                <a:ea typeface="Cambria"/>
                <a:cs typeface="Cambria"/>
              </a:rPr>
              <a:t> − 1</a:t>
            </a:r>
            <a:endParaRPr lang="en-US" sz="1708" dirty="0"/>
          </a:p>
        </p:txBody>
      </p:sp>
      <p:sp>
        <p:nvSpPr>
          <p:cNvPr id="18" name="11.2 Smooth temporal arrow — 99° to 177°" descr="Editable cubic Bezier temporal arrow; edit points or format the native line. Direction follows the video stream, not a camera trajectory.">
            <a:extLst>
              <a:ext uri="{FF2B5EF4-FFF2-40B4-BE49-F238E27FC236}">
                <a16:creationId xmlns:a16="http://schemas.microsoft.com/office/drawing/2014/main" id="{A57BD02B-CCA6-935C-D274-83F00DAD4B81}"/>
              </a:ext>
            </a:extLst>
          </p:cNvPr>
          <p:cNvSpPr/>
          <p:nvPr/>
        </p:nvSpPr>
        <p:spPr>
          <a:xfrm>
            <a:off x="2027483" y="3934622"/>
            <a:ext cx="11309588" cy="2365456"/>
          </a:xfrm>
          <a:custGeom>
            <a:avLst/>
            <a:gdLst/>
            <a:ahLst/>
            <a:cxnLst/>
            <a:rect l="l" t="t" r="r" b="b"/>
            <a:pathLst>
              <a:path w="3469837" h="1070099" fill="none" extrusionOk="0">
                <a:moveTo>
                  <a:pt x="0" y="488540"/>
                </a:moveTo>
                <a:cubicBezTo>
                  <a:pt x="745594" y="946935"/>
                  <a:pt x="2317652" y="1070099"/>
                  <a:pt x="3469837" y="0"/>
                </a:cubicBezTo>
              </a:path>
            </a:pathLst>
          </a:custGeom>
          <a:noFill/>
          <a:ln w="29461" cap="rnd" cmpd="sng" algn="ctr">
            <a:solidFill>
              <a:srgbClr val="6E7A91"/>
            </a:solidFill>
            <a:prstDash val="solid"/>
            <a:round/>
            <a:headEnd type="none" w="med" len="med"/>
            <a:tailEnd type="triangle" w="lg" len="lg"/>
          </a:ln>
          <a:effectLst/>
        </p:spPr>
      </p:sp>
      <p:sp>
        <p:nvSpPr>
          <p:cNvPr id="27" name="177° — editable angle badge">
            <a:extLst>
              <a:ext uri="{FF2B5EF4-FFF2-40B4-BE49-F238E27FC236}">
                <a16:creationId xmlns:a16="http://schemas.microsoft.com/office/drawing/2014/main" id="{2624E2BE-EF6E-2884-DC78-3F0B7A91CE18}"/>
              </a:ext>
            </a:extLst>
          </p:cNvPr>
          <p:cNvSpPr/>
          <p:nvPr/>
        </p:nvSpPr>
        <p:spPr>
          <a:xfrm>
            <a:off x="14208173" y="3970677"/>
            <a:ext cx="895627" cy="365321"/>
          </a:xfrm>
          <a:prstGeom prst="roundRect">
            <a:avLst>
              <a:gd name="adj" fmla="val 12000"/>
            </a:avLst>
          </a:prstGeom>
          <a:solidFill>
            <a:srgbClr val="F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177° — editable angle text">
            <a:extLst>
              <a:ext uri="{FF2B5EF4-FFF2-40B4-BE49-F238E27FC236}">
                <a16:creationId xmlns:a16="http://schemas.microsoft.com/office/drawing/2014/main" id="{4D3D4155-F450-A3FE-F05B-810F0F9995F8}"/>
              </a:ext>
            </a:extLst>
          </p:cNvPr>
          <p:cNvSpPr txBox="1"/>
          <p:nvPr/>
        </p:nvSpPr>
        <p:spPr>
          <a:xfrm>
            <a:off x="14208173" y="3970677"/>
            <a:ext cx="895627" cy="3653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98" b="1" dirty="0">
                <a:solidFill>
                  <a:srgbClr val="C95569"/>
                </a:solidFill>
                <a:latin typeface="Arial"/>
              </a:rPr>
              <a:t>177°</a:t>
            </a:r>
          </a:p>
        </p:txBody>
      </p:sp>
      <p:sp>
        <p:nvSpPr>
          <p:cNvPr id="31" name="12.3 Editable frame interval — 177° / frames t+n …" descr="Editable frame-index range. t is the first frame of the 99° shot; n is its duration in frames. Not a timestamp in seconds.">
            <a:extLst>
              <a:ext uri="{FF2B5EF4-FFF2-40B4-BE49-F238E27FC236}">
                <a16:creationId xmlns:a16="http://schemas.microsoft.com/office/drawing/2014/main" id="{9F716DF9-2023-6FAB-8F4D-C2E040175784}"/>
              </a:ext>
            </a:extLst>
          </p:cNvPr>
          <p:cNvSpPr txBox="1"/>
          <p:nvPr/>
        </p:nvSpPr>
        <p:spPr>
          <a:xfrm>
            <a:off x="13538522" y="4454518"/>
            <a:ext cx="1636745" cy="324771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0" dirty="0">
                <a:solidFill>
                  <a:srgbClr val="77818F"/>
                </a:solidFill>
                <a:latin typeface="Arial"/>
                <a:ea typeface="Arial"/>
                <a:cs typeface="Arial"/>
              </a:rPr>
              <a:t>Frames  </a:t>
            </a:r>
            <a:r>
              <a:rPr lang="en-US" sz="1708" b="0" i="1" dirty="0">
                <a:solidFill>
                  <a:srgbClr val="C95569"/>
                </a:solidFill>
                <a:latin typeface="Cambria"/>
                <a:ea typeface="Cambria"/>
                <a:cs typeface="Cambria"/>
              </a:rPr>
              <a:t>t</a:t>
            </a:r>
            <a:r>
              <a:rPr lang="en-US" sz="1708" b="0" i="0" dirty="0">
                <a:solidFill>
                  <a:srgbClr val="C95569"/>
                </a:solidFill>
                <a:latin typeface="Cambria"/>
                <a:ea typeface="Cambria"/>
                <a:cs typeface="Cambria"/>
              </a:rPr>
              <a:t> + </a:t>
            </a:r>
            <a:r>
              <a:rPr lang="en-US" sz="1708" b="0" i="1" dirty="0">
                <a:solidFill>
                  <a:srgbClr val="C95569"/>
                </a:solidFill>
                <a:latin typeface="Cambria"/>
                <a:ea typeface="Cambria"/>
                <a:cs typeface="Cambria"/>
              </a:rPr>
              <a:t>n</a:t>
            </a:r>
            <a:r>
              <a:rPr lang="en-US" sz="1708" b="0" i="0" dirty="0">
                <a:solidFill>
                  <a:srgbClr val="C95569"/>
                </a:solidFill>
                <a:latin typeface="Cambria"/>
                <a:ea typeface="Cambria"/>
                <a:cs typeface="Cambria"/>
              </a:rPr>
              <a:t>, …</a:t>
            </a:r>
            <a:endParaRPr lang="en-US" sz="1708" dirty="0"/>
          </a:p>
        </p:txBody>
      </p:sp>
      <p:sp>
        <p:nvSpPr>
          <p:cNvPr id="33" name="11.1 Smooth temporal arrow — 0° to 99°" descr="Editable cubic Bezier temporal arrow; edit points or format the native line. Direction follows the video stream, not a camera trajectory.">
            <a:extLst>
              <a:ext uri="{FF2B5EF4-FFF2-40B4-BE49-F238E27FC236}">
                <a16:creationId xmlns:a16="http://schemas.microsoft.com/office/drawing/2014/main" id="{558E56A7-99F8-6F86-25C7-AB631F8F5E9F}"/>
              </a:ext>
            </a:extLst>
          </p:cNvPr>
          <p:cNvSpPr/>
          <p:nvPr/>
        </p:nvSpPr>
        <p:spPr>
          <a:xfrm rot="7720763">
            <a:off x="1401261" y="943020"/>
            <a:ext cx="1565899" cy="1015247"/>
          </a:xfrm>
          <a:custGeom>
            <a:avLst/>
            <a:gdLst/>
            <a:ahLst/>
            <a:cxnLst/>
            <a:rect l="l" t="t" r="r" b="b"/>
            <a:pathLst>
              <a:path w="3109538" h="1353481" fill="none" extrusionOk="0">
                <a:moveTo>
                  <a:pt x="0" y="0"/>
                </a:moveTo>
                <a:cubicBezTo>
                  <a:pt x="816817" y="982735"/>
                  <a:pt x="2142244" y="1353481"/>
                  <a:pt x="3109538" y="769940"/>
                </a:cubicBezTo>
              </a:path>
            </a:pathLst>
          </a:custGeom>
          <a:noFill/>
          <a:ln w="29461" cap="rnd" cmpd="sng" algn="ctr">
            <a:solidFill>
              <a:srgbClr val="6E7A91"/>
            </a:solidFill>
            <a:prstDash val="solid"/>
            <a:round/>
            <a:headEnd type="none" w="med" len="med"/>
            <a:tailEnd type="triangle" w="lg" len="lg"/>
          </a:ln>
          <a:effectLst/>
        </p:spPr>
      </p:sp>
      <p:sp>
        <p:nvSpPr>
          <p:cNvPr id="6" name="Shot 2 — editable shot label">
            <a:extLst>
              <a:ext uri="{FF2B5EF4-FFF2-40B4-BE49-F238E27FC236}">
                <a16:creationId xmlns:a16="http://schemas.microsoft.com/office/drawing/2014/main" id="{5D19B600-9985-7EDF-D9B7-ADEA9883903D}"/>
              </a:ext>
            </a:extLst>
          </p:cNvPr>
          <p:cNvSpPr txBox="1"/>
          <p:nvPr/>
        </p:nvSpPr>
        <p:spPr>
          <a:xfrm>
            <a:off x="5452249" y="6265540"/>
            <a:ext cx="4460057" cy="294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58" b="1" dirty="0">
                <a:solidFill>
                  <a:srgbClr val="D57F43"/>
                </a:solidFill>
                <a:latin typeface="Arial"/>
              </a:rPr>
              <a:t>Shot 2</a:t>
            </a:r>
          </a:p>
        </p:txBody>
      </p:sp>
      <p:sp>
        <p:nvSpPr>
          <p:cNvPr id="4" name="Unified reconstruction label">
            <a:extLst>
              <a:ext uri="{FF2B5EF4-FFF2-40B4-BE49-F238E27FC236}">
                <a16:creationId xmlns:a16="http://schemas.microsoft.com/office/drawing/2014/main" id="{DCED87B8-3462-DCF3-1197-9A6BF16F587D}"/>
              </a:ext>
            </a:extLst>
          </p:cNvPr>
          <p:cNvSpPr txBox="1"/>
          <p:nvPr/>
        </p:nvSpPr>
        <p:spPr>
          <a:xfrm>
            <a:off x="197528" y="174321"/>
            <a:ext cx="2710449" cy="77778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marL="0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9228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8456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7684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56912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46141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5369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4597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3825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52" b="1" dirty="0">
                <a:solidFill>
                  <a:srgbClr val="273448"/>
                </a:solidFill>
                <a:latin typeface="Arial"/>
              </a:rPr>
              <a:t>S</a:t>
            </a:r>
            <a:r>
              <a:rPr lang="en-US" altLang="zh-CN" sz="2552" b="1" dirty="0">
                <a:solidFill>
                  <a:srgbClr val="273448"/>
                </a:solidFill>
                <a:latin typeface="Arial"/>
              </a:rPr>
              <a:t>treaming 4D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52" b="1" dirty="0">
                <a:solidFill>
                  <a:srgbClr val="273448"/>
                </a:solidFill>
                <a:latin typeface="Arial"/>
              </a:rPr>
              <a:t>R</a:t>
            </a:r>
            <a:r>
              <a:rPr lang="en-US" altLang="zh-CN" sz="2552" b="1" dirty="0">
                <a:solidFill>
                  <a:srgbClr val="273448"/>
                </a:solidFill>
                <a:latin typeface="Arial"/>
              </a:rPr>
              <a:t>econstruction</a:t>
            </a:r>
            <a:endParaRPr sz="2552" b="1" dirty="0">
              <a:solidFill>
                <a:srgbClr val="273448"/>
              </a:solidFill>
              <a:latin typeface="Arial"/>
            </a:endParaRPr>
          </a:p>
        </p:txBody>
      </p:sp>
      <p:sp>
        <p:nvSpPr>
          <p:cNvPr id="5" name="Multi-shot — editable emphasized subtitle" descr="Native editable text. Enlarged, bold, blue to emphasize multi-shot reconstruction.">
            <a:extLst>
              <a:ext uri="{FF2B5EF4-FFF2-40B4-BE49-F238E27FC236}">
                <a16:creationId xmlns:a16="http://schemas.microsoft.com/office/drawing/2014/main" id="{A0CD443C-2096-DFE5-05BA-D7D19C3F08FD}"/>
              </a:ext>
            </a:extLst>
          </p:cNvPr>
          <p:cNvSpPr txBox="1"/>
          <p:nvPr/>
        </p:nvSpPr>
        <p:spPr>
          <a:xfrm>
            <a:off x="197528" y="978119"/>
            <a:ext cx="2651527" cy="4065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marL="0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9228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8456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7684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56912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46141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5369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4597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13825" algn="l" defTabSz="589228" rtl="0" eaLnBrk="1" latinLnBrk="0" hangingPunct="1">
              <a:defRPr sz="2320" kern="1547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35" b="1" dirty="0">
                <a:solidFill>
                  <a:srgbClr val="1069B5"/>
                </a:solidFill>
                <a:latin typeface="Arial"/>
              </a:rPr>
              <a:t>M</a:t>
            </a:r>
            <a:r>
              <a:rPr lang="en-US" altLang="zh-CN" sz="2835" b="1" dirty="0">
                <a:solidFill>
                  <a:srgbClr val="1069B5"/>
                </a:solidFill>
                <a:latin typeface="Arial"/>
              </a:rPr>
              <a:t>ulti-shot </a:t>
            </a:r>
            <a:endParaRPr sz="2835" b="1" dirty="0">
              <a:solidFill>
                <a:srgbClr val="1069B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078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Office PowerPoint</Application>
  <PresentationFormat>自定义</PresentationFormat>
  <Paragraphs>43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teaser — sparse reconstruction and continuous motion</dc:title>
  <dc:subject>Reconstruction-only edit; 3 identities × (3 history + 1 current); independent pose layers</dc:subject>
  <dc:creator/>
  <cp:keywords>SHOT3R, editable, vector annotations, raster reconstruction, 4D</cp:keywords>
  <dc:description>Layout refinement of the supplied editable PowerPoint. Original image sources retained.</dc:description>
  <cp:lastModifiedBy/>
  <cp:revision>17</cp:revision>
  <dcterms:created xsi:type="dcterms:W3CDTF">2013-01-27T09:14:16Z</dcterms:created>
  <dcterms:modified xsi:type="dcterms:W3CDTF">2026-09-09T08:43:35Z</dcterms:modified>
  <cp:category/>
</cp:coreProperties>
</file>