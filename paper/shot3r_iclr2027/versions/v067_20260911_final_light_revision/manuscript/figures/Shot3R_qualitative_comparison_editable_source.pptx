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20299680" cy="564642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-12" y="7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Verified viewpoint changes from top to bottom: 134.36 degrees, 149.85 degrees, and 176.75 degrees.</a:t>
            </a:r>
          </a:p>
          <a:p>
            <a:r>
              <a:t>图片与方法对应关系严格来自本次上传的 PPT，保持其原始字节、裁剪、透明度、朝向与宽高比；仅修改页内位置和整体显示尺寸。</a:t>
            </a:r>
          </a:p>
          <a:p>
            <a:r>
              <a:t>同一行中的七张方法结果使用相同缩放倍数，没有对某方法或某个人物单独做归一化缩放。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C3CDC-52F1-DAB6-397B-65E863630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Header_Input_frames"/>
          <p:cNvSpPr txBox="1"/>
          <p:nvPr/>
        </p:nvSpPr>
        <p:spPr>
          <a:xfrm>
            <a:off x="91440" y="68580"/>
            <a:ext cx="3474720" cy="2834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202A35"/>
                </a:solidFill>
                <a:latin typeface="Arial"/>
              </a:rPr>
              <a:t>Input frames</a:t>
            </a:r>
          </a:p>
        </p:txBody>
      </p:sp>
      <p:sp>
        <p:nvSpPr>
          <p:cNvPr id="131" name="Header_Pre_cut_frame"/>
          <p:cNvSpPr txBox="1"/>
          <p:nvPr/>
        </p:nvSpPr>
        <p:spPr>
          <a:xfrm>
            <a:off x="91440" y="365760"/>
            <a:ext cx="1707642" cy="1965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17D"/>
                </a:solidFill>
                <a:latin typeface="Arial"/>
              </a:rPr>
              <a:t/>
            </a:r>
            <a:r>
              <a:rPr sz="1400" i="1">
                <a:solidFill>
                  <a:srgbClr val="65717D"/>
                </a:solidFill>
                <a:latin typeface="Arial"/>
              </a:rPr>
              <a:t>t</a:t>
            </a:r>
            <a:r>
              <a:rPr sz="1019" i="1" baseline="-24000">
                <a:solidFill>
                  <a:srgbClr val="65717D"/>
                </a:solidFill>
                <a:latin typeface="Arial"/>
              </a:rPr>
              <a:t>b−1</a:t>
            </a:r>
          </a:p>
        </p:txBody>
      </p:sp>
      <p:sp>
        <p:nvSpPr>
          <p:cNvPr id="132" name="Header_Post_cut_frame"/>
          <p:cNvSpPr txBox="1"/>
          <p:nvPr/>
        </p:nvSpPr>
        <p:spPr>
          <a:xfrm>
            <a:off x="1858518" y="365760"/>
            <a:ext cx="1707642" cy="1965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17D"/>
                </a:solidFill>
                <a:latin typeface="Arial"/>
              </a:rPr>
              <a:t/>
            </a:r>
            <a:r>
              <a:rPr sz="1400" i="1">
                <a:solidFill>
                  <a:srgbClr val="65717D"/>
                </a:solidFill>
                <a:latin typeface="Arial"/>
              </a:rPr>
              <a:t>t</a:t>
            </a:r>
            <a:r>
              <a:rPr sz="1019" i="1" baseline="-24000">
                <a:solidFill>
                  <a:srgbClr val="65717D"/>
                </a:solidFill>
                <a:latin typeface="Arial"/>
              </a:rPr>
              <a:t>b</a:t>
            </a:r>
          </a:p>
        </p:txBody>
      </p:sp>
      <p:cxnSp>
        <p:nvCxnSpPr>
          <p:cNvPr id="133" name="Header_Time_direction"/>
          <p:cNvCxnSpPr/>
          <p:nvPr/>
        </p:nvCxnSpPr>
        <p:spPr>
          <a:xfrm>
            <a:off x="1581912" y="454456"/>
            <a:ext cx="493776" cy="0"/>
          </a:xfrm>
          <a:prstGeom prst="line">
            <a:avLst/>
          </a:prstGeom>
          <a:ln w="8890">
            <a:solidFill>
              <a:srgbClr val="98A4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Header_rule_input"/>
          <p:cNvSpPr/>
          <p:nvPr/>
        </p:nvSpPr>
        <p:spPr>
          <a:xfrm>
            <a:off x="91440" y="628192"/>
            <a:ext cx="3474720" cy="7315"/>
          </a:xfrm>
          <a:prstGeom prst="rect">
            <a:avLst/>
          </a:prstGeom>
          <a:solidFill>
            <a:srgbClr val="DC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Header_Human3R"/>
          <p:cNvSpPr txBox="1"/>
          <p:nvPr/>
        </p:nvSpPr>
        <p:spPr>
          <a:xfrm>
            <a:off x="15518021" y="68580"/>
            <a:ext cx="2324535" cy="2834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202A35"/>
                </a:solidFill>
                <a:latin typeface="Arial"/>
              </a:rPr>
              <a:t>Human3R</a:t>
            </a:r>
          </a:p>
        </p:txBody>
      </p:sp>
      <p:sp>
        <p:nvSpPr>
          <p:cNvPr id="136" name="Description_Human3R"/>
          <p:cNvSpPr txBox="1"/>
          <p:nvPr/>
        </p:nvSpPr>
        <p:spPr>
          <a:xfrm>
            <a:off x="15518021" y="377647"/>
            <a:ext cx="2324535" cy="19568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0" i="0">
                <a:solidFill>
                  <a:srgbClr val="65717D"/>
                </a:solidFill>
                <a:latin typeface="Arial"/>
              </a:rPr>
              <a:t>Online Recurrent</a:t>
            </a:r>
          </a:p>
        </p:txBody>
      </p:sp>
      <p:sp>
        <p:nvSpPr>
          <p:cNvPr id="137" name="Header_rule_Human3R"/>
          <p:cNvSpPr/>
          <p:nvPr/>
        </p:nvSpPr>
        <p:spPr>
          <a:xfrm>
            <a:off x="15518021" y="628192"/>
            <a:ext cx="2324535" cy="7315"/>
          </a:xfrm>
          <a:prstGeom prst="rect">
            <a:avLst/>
          </a:prstGeom>
          <a:solidFill>
            <a:srgbClr val="DC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Header_OnlineHMR"/>
          <p:cNvSpPr txBox="1"/>
          <p:nvPr/>
        </p:nvSpPr>
        <p:spPr>
          <a:xfrm>
            <a:off x="10786654" y="68580"/>
            <a:ext cx="2324535" cy="2834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202A35"/>
                </a:solidFill>
                <a:latin typeface="Arial"/>
              </a:rPr>
              <a:t>OnlineHMR</a:t>
            </a:r>
          </a:p>
        </p:txBody>
      </p:sp>
      <p:sp>
        <p:nvSpPr>
          <p:cNvPr id="139" name="Description_OnlineHMR"/>
          <p:cNvSpPr txBox="1"/>
          <p:nvPr/>
        </p:nvSpPr>
        <p:spPr>
          <a:xfrm>
            <a:off x="10786654" y="377647"/>
            <a:ext cx="2324535" cy="19568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0" i="0">
                <a:solidFill>
                  <a:srgbClr val="65717D"/>
                </a:solidFill>
                <a:latin typeface="Arial"/>
              </a:rPr>
              <a:t>Semi-Online Multi-Person</a:t>
            </a:r>
          </a:p>
        </p:txBody>
      </p:sp>
      <p:sp>
        <p:nvSpPr>
          <p:cNvPr id="140" name="Header_rule_OnlineHMR"/>
          <p:cNvSpPr/>
          <p:nvPr/>
        </p:nvSpPr>
        <p:spPr>
          <a:xfrm>
            <a:off x="10786654" y="628192"/>
            <a:ext cx="2324535" cy="7315"/>
          </a:xfrm>
          <a:prstGeom prst="rect">
            <a:avLst/>
          </a:prstGeom>
          <a:solidFill>
            <a:srgbClr val="DC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Header_PromptHMR"/>
          <p:cNvSpPr txBox="1"/>
          <p:nvPr/>
        </p:nvSpPr>
        <p:spPr>
          <a:xfrm>
            <a:off x="8420970" y="68580"/>
            <a:ext cx="2324535" cy="2834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202A35"/>
                </a:solidFill>
                <a:latin typeface="Arial"/>
              </a:rPr>
              <a:t>PromptHMR</a:t>
            </a:r>
          </a:p>
        </p:txBody>
      </p:sp>
      <p:sp>
        <p:nvSpPr>
          <p:cNvPr id="142" name="Description_PromptHMR"/>
          <p:cNvSpPr txBox="1"/>
          <p:nvPr/>
        </p:nvSpPr>
        <p:spPr>
          <a:xfrm>
            <a:off x="8420970" y="377647"/>
            <a:ext cx="2324535" cy="19568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0" i="0">
                <a:solidFill>
                  <a:srgbClr val="65717D"/>
                </a:solidFill>
                <a:latin typeface="Arial"/>
              </a:rPr>
              <a:t>Prompted Multi-Person</a:t>
            </a:r>
          </a:p>
        </p:txBody>
      </p:sp>
      <p:sp>
        <p:nvSpPr>
          <p:cNvPr id="143" name="Header_rule_PromptHMR"/>
          <p:cNvSpPr/>
          <p:nvPr/>
        </p:nvSpPr>
        <p:spPr>
          <a:xfrm>
            <a:off x="8420970" y="628192"/>
            <a:ext cx="2324535" cy="7315"/>
          </a:xfrm>
          <a:prstGeom prst="rect">
            <a:avLst/>
          </a:prstGeom>
          <a:solidFill>
            <a:srgbClr val="DC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Header_JOSH"/>
          <p:cNvSpPr txBox="1"/>
          <p:nvPr/>
        </p:nvSpPr>
        <p:spPr>
          <a:xfrm>
            <a:off x="13152337" y="68580"/>
            <a:ext cx="2324535" cy="2834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202A35"/>
                </a:solidFill>
                <a:latin typeface="Arial"/>
              </a:rPr>
              <a:t>JOSH</a:t>
            </a:r>
          </a:p>
        </p:txBody>
      </p:sp>
      <p:sp>
        <p:nvSpPr>
          <p:cNvPr id="145" name="Description_JOSH"/>
          <p:cNvSpPr txBox="1"/>
          <p:nvPr/>
        </p:nvSpPr>
        <p:spPr>
          <a:xfrm>
            <a:off x="13152337" y="377647"/>
            <a:ext cx="2324535" cy="19568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0" i="0">
                <a:solidFill>
                  <a:srgbClr val="65717D"/>
                </a:solidFill>
                <a:latin typeface="Arial"/>
              </a:rPr>
              <a:t>Offline Optimization</a:t>
            </a:r>
          </a:p>
        </p:txBody>
      </p:sp>
      <p:sp>
        <p:nvSpPr>
          <p:cNvPr id="146" name="Header_rule_JOSH"/>
          <p:cNvSpPr/>
          <p:nvPr/>
        </p:nvSpPr>
        <p:spPr>
          <a:xfrm>
            <a:off x="13152337" y="628192"/>
            <a:ext cx="2324535" cy="7315"/>
          </a:xfrm>
          <a:prstGeom prst="rect">
            <a:avLst/>
          </a:prstGeom>
          <a:solidFill>
            <a:srgbClr val="DC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Header_TRACE"/>
          <p:cNvSpPr txBox="1"/>
          <p:nvPr/>
        </p:nvSpPr>
        <p:spPr>
          <a:xfrm>
            <a:off x="3689604" y="68580"/>
            <a:ext cx="2324535" cy="2834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202A35"/>
                </a:solidFill>
                <a:latin typeface="Arial"/>
              </a:rPr>
              <a:t>TRACE</a:t>
            </a:r>
          </a:p>
        </p:txBody>
      </p:sp>
      <p:sp>
        <p:nvSpPr>
          <p:cNvPr id="148" name="Description_TRACE"/>
          <p:cNvSpPr txBox="1"/>
          <p:nvPr/>
        </p:nvSpPr>
        <p:spPr>
          <a:xfrm>
            <a:off x="3689604" y="377647"/>
            <a:ext cx="2324535" cy="19568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0" i="0">
                <a:solidFill>
                  <a:srgbClr val="65717D"/>
                </a:solidFill>
                <a:latin typeface="Arial"/>
              </a:rPr>
              <a:t>Online Tracking</a:t>
            </a:r>
          </a:p>
        </p:txBody>
      </p:sp>
      <p:sp>
        <p:nvSpPr>
          <p:cNvPr id="149" name="Header_rule_TRACE"/>
          <p:cNvSpPr/>
          <p:nvPr/>
        </p:nvSpPr>
        <p:spPr>
          <a:xfrm>
            <a:off x="3689604" y="628192"/>
            <a:ext cx="2324535" cy="7315"/>
          </a:xfrm>
          <a:prstGeom prst="rect">
            <a:avLst/>
          </a:prstGeom>
          <a:solidFill>
            <a:srgbClr val="DC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Header_TRAM"/>
          <p:cNvSpPr txBox="1"/>
          <p:nvPr/>
        </p:nvSpPr>
        <p:spPr>
          <a:xfrm>
            <a:off x="6055287" y="68580"/>
            <a:ext cx="2324535" cy="2834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202A35"/>
                </a:solidFill>
                <a:latin typeface="Arial"/>
              </a:rPr>
              <a:t>TRAM</a:t>
            </a:r>
          </a:p>
        </p:txBody>
      </p:sp>
      <p:sp>
        <p:nvSpPr>
          <p:cNvPr id="151" name="Description_TRAM"/>
          <p:cNvSpPr txBox="1"/>
          <p:nvPr/>
        </p:nvSpPr>
        <p:spPr>
          <a:xfrm>
            <a:off x="6055287" y="377647"/>
            <a:ext cx="2324535" cy="19568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0" i="0">
                <a:solidFill>
                  <a:srgbClr val="65717D"/>
                </a:solidFill>
                <a:latin typeface="Arial"/>
              </a:rPr>
              <a:t>Camera–Human Trajectories</a:t>
            </a:r>
          </a:p>
        </p:txBody>
      </p:sp>
      <p:sp>
        <p:nvSpPr>
          <p:cNvPr id="152" name="Header_rule_TRAM"/>
          <p:cNvSpPr/>
          <p:nvPr/>
        </p:nvSpPr>
        <p:spPr>
          <a:xfrm>
            <a:off x="6055287" y="628192"/>
            <a:ext cx="2324535" cy="7315"/>
          </a:xfrm>
          <a:prstGeom prst="rect">
            <a:avLst/>
          </a:prstGeom>
          <a:solidFill>
            <a:srgbClr val="DC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Header_Shot3R (Ours)"/>
          <p:cNvSpPr txBox="1"/>
          <p:nvPr/>
        </p:nvSpPr>
        <p:spPr>
          <a:xfrm>
            <a:off x="17883704" y="68580"/>
            <a:ext cx="2324535" cy="2834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0" b="1" i="0">
                <a:solidFill>
                  <a:srgbClr val="285EB6"/>
                </a:solidFill>
                <a:latin typeface="Arial"/>
              </a:rPr>
              <a:t>Shot3R (Ours)</a:t>
            </a:r>
          </a:p>
        </p:txBody>
      </p:sp>
      <p:sp>
        <p:nvSpPr>
          <p:cNvPr id="154" name="Description_Shot3R (Ours)"/>
          <p:cNvSpPr txBox="1"/>
          <p:nvPr/>
        </p:nvSpPr>
        <p:spPr>
          <a:xfrm>
            <a:off x="17883704" y="377647"/>
            <a:ext cx="2324535" cy="19568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0" i="0">
                <a:solidFill>
                  <a:srgbClr val="285EB6"/>
                </a:solidFill>
                <a:latin typeface="Arial"/>
              </a:rPr>
              <a:t>Streaming Multi-Shot</a:t>
            </a:r>
          </a:p>
        </p:txBody>
      </p:sp>
      <p:sp>
        <p:nvSpPr>
          <p:cNvPr id="155" name="Header_rule_Shot3R (Ours)"/>
          <p:cNvSpPr/>
          <p:nvPr/>
        </p:nvSpPr>
        <p:spPr>
          <a:xfrm>
            <a:off x="17883704" y="628192"/>
            <a:ext cx="2324535" cy="9144"/>
          </a:xfrm>
          <a:prstGeom prst="rect">
            <a:avLst/>
          </a:prstGeom>
          <a:solidFill>
            <a:srgbClr val="285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w1_Input1_border"/>
          <p:cNvSpPr/>
          <p:nvPr/>
        </p:nvSpPr>
        <p:spPr>
          <a:xfrm>
            <a:off x="91440" y="681228"/>
            <a:ext cx="1707642" cy="1184148"/>
          </a:xfrm>
          <a:prstGeom prst="rect">
            <a:avLst/>
          </a:prstGeom>
          <a:solidFill>
            <a:srgbClr val="FFFFFF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w1_Input2_border"/>
          <p:cNvSpPr/>
          <p:nvPr/>
        </p:nvSpPr>
        <p:spPr>
          <a:xfrm>
            <a:off x="1858517" y="681228"/>
            <a:ext cx="1707642" cy="1184148"/>
          </a:xfrm>
          <a:prstGeom prst="rect">
            <a:avLst/>
          </a:prstGeom>
          <a:solidFill>
            <a:srgbClr val="FFFFFF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w1_Cut_angle_band"/>
          <p:cNvSpPr/>
          <p:nvPr/>
        </p:nvSpPr>
        <p:spPr>
          <a:xfrm>
            <a:off x="91440" y="1933956"/>
            <a:ext cx="3474720" cy="315468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w1_Cut_label"/>
          <p:cNvSpPr txBox="1"/>
          <p:nvPr/>
        </p:nvSpPr>
        <p:spPr>
          <a:xfrm>
            <a:off x="566928" y="1967788"/>
            <a:ext cx="393192" cy="24414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02A35"/>
                </a:solidFill>
                <a:latin typeface="Arial"/>
              </a:rPr>
              <a:t>Cut</a:t>
            </a:r>
          </a:p>
        </p:txBody>
      </p:sp>
      <p:cxnSp>
        <p:nvCxnSpPr>
          <p:cNvPr id="160" name="Row1_Cut_arrow"/>
          <p:cNvCxnSpPr/>
          <p:nvPr/>
        </p:nvCxnSpPr>
        <p:spPr>
          <a:xfrm>
            <a:off x="1078992" y="2088489"/>
            <a:ext cx="393192" cy="0"/>
          </a:xfrm>
          <a:prstGeom prst="line">
            <a:avLst/>
          </a:prstGeom>
          <a:ln w="12065">
            <a:solidFill>
              <a:srgbClr val="74839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ow1_Angle_EDIT_VALUE"/>
          <p:cNvSpPr txBox="1"/>
          <p:nvPr/>
        </p:nvSpPr>
        <p:spPr>
          <a:xfrm>
            <a:off x="1591056" y="1967788"/>
            <a:ext cx="1453896" cy="24414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2A35"/>
                </a:solidFill>
                <a:latin typeface="Arial"/>
              </a:rPr>
              <a:t>Δview = 134.36°</a:t>
            </a:r>
          </a:p>
        </p:txBody>
      </p:sp>
      <p:sp>
        <p:nvSpPr>
          <p:cNvPr id="162" name="Row1_Human3R_panel"/>
          <p:cNvSpPr/>
          <p:nvPr/>
        </p:nvSpPr>
        <p:spPr>
          <a:xfrm>
            <a:off x="15518021" y="681228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w1_OnlineHMR_panel"/>
          <p:cNvSpPr/>
          <p:nvPr/>
        </p:nvSpPr>
        <p:spPr>
          <a:xfrm>
            <a:off x="10786654" y="681228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w1_PromptHMR_panel"/>
          <p:cNvSpPr/>
          <p:nvPr/>
        </p:nvSpPr>
        <p:spPr>
          <a:xfrm>
            <a:off x="8420970" y="681228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w1_JOSH_panel"/>
          <p:cNvSpPr/>
          <p:nvPr/>
        </p:nvSpPr>
        <p:spPr>
          <a:xfrm>
            <a:off x="13152337" y="681228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w1_TRACE_panel"/>
          <p:cNvSpPr/>
          <p:nvPr/>
        </p:nvSpPr>
        <p:spPr>
          <a:xfrm>
            <a:off x="3689604" y="681228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w1_TRAM_panel"/>
          <p:cNvSpPr/>
          <p:nvPr/>
        </p:nvSpPr>
        <p:spPr>
          <a:xfrm>
            <a:off x="6055287" y="681228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w1_Shot3R (Ours)_panel"/>
          <p:cNvSpPr/>
          <p:nvPr/>
        </p:nvSpPr>
        <p:spPr>
          <a:xfrm>
            <a:off x="17883704" y="681228"/>
            <a:ext cx="2324535" cy="1568196"/>
          </a:xfrm>
          <a:prstGeom prst="rect">
            <a:avLst/>
          </a:prstGeom>
          <a:solidFill>
            <a:srgbClr val="FAFAFA"/>
          </a:solidFill>
          <a:ln w="12700">
            <a:solidFill>
              <a:srgbClr val="285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w_separator_1"/>
          <p:cNvSpPr/>
          <p:nvPr/>
        </p:nvSpPr>
        <p:spPr>
          <a:xfrm>
            <a:off x="91440" y="2297430"/>
            <a:ext cx="20116800" cy="5486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w2_Input1_border"/>
          <p:cNvSpPr/>
          <p:nvPr/>
        </p:nvSpPr>
        <p:spPr>
          <a:xfrm>
            <a:off x="91440" y="2345436"/>
            <a:ext cx="1707642" cy="1184148"/>
          </a:xfrm>
          <a:prstGeom prst="rect">
            <a:avLst/>
          </a:prstGeom>
          <a:solidFill>
            <a:srgbClr val="FFFFFF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w2_Input2_border"/>
          <p:cNvSpPr/>
          <p:nvPr/>
        </p:nvSpPr>
        <p:spPr>
          <a:xfrm>
            <a:off x="1858517" y="2345436"/>
            <a:ext cx="1707642" cy="1184148"/>
          </a:xfrm>
          <a:prstGeom prst="rect">
            <a:avLst/>
          </a:prstGeom>
          <a:solidFill>
            <a:srgbClr val="FFFFFF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w2_Cut_angle_band"/>
          <p:cNvSpPr/>
          <p:nvPr/>
        </p:nvSpPr>
        <p:spPr>
          <a:xfrm>
            <a:off x="91440" y="3598164"/>
            <a:ext cx="3474720" cy="315468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w2_Cut_label"/>
          <p:cNvSpPr txBox="1"/>
          <p:nvPr/>
        </p:nvSpPr>
        <p:spPr>
          <a:xfrm>
            <a:off x="566928" y="3631996"/>
            <a:ext cx="393192" cy="24414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02A35"/>
                </a:solidFill>
                <a:latin typeface="Arial"/>
              </a:rPr>
              <a:t>Cut</a:t>
            </a:r>
          </a:p>
        </p:txBody>
      </p:sp>
      <p:cxnSp>
        <p:nvCxnSpPr>
          <p:cNvPr id="174" name="Row2_Cut_arrow"/>
          <p:cNvCxnSpPr/>
          <p:nvPr/>
        </p:nvCxnSpPr>
        <p:spPr>
          <a:xfrm>
            <a:off x="1078992" y="3752697"/>
            <a:ext cx="393192" cy="0"/>
          </a:xfrm>
          <a:prstGeom prst="line">
            <a:avLst/>
          </a:prstGeom>
          <a:ln w="12065">
            <a:solidFill>
              <a:srgbClr val="74839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ow2_Angle_EDIT_VALUE"/>
          <p:cNvSpPr txBox="1"/>
          <p:nvPr/>
        </p:nvSpPr>
        <p:spPr>
          <a:xfrm>
            <a:off x="1591056" y="3631996"/>
            <a:ext cx="1453896" cy="24414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2A35"/>
                </a:solidFill>
                <a:latin typeface="Arial"/>
              </a:rPr>
              <a:t>Δview = 149.85°</a:t>
            </a:r>
          </a:p>
        </p:txBody>
      </p:sp>
      <p:sp>
        <p:nvSpPr>
          <p:cNvPr id="176" name="Row2_Human3R_panel"/>
          <p:cNvSpPr/>
          <p:nvPr/>
        </p:nvSpPr>
        <p:spPr>
          <a:xfrm>
            <a:off x="15518021" y="2345436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w2_OnlineHMR_panel"/>
          <p:cNvSpPr/>
          <p:nvPr/>
        </p:nvSpPr>
        <p:spPr>
          <a:xfrm>
            <a:off x="10786654" y="2345436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w2_PromptHMR_panel"/>
          <p:cNvSpPr/>
          <p:nvPr/>
        </p:nvSpPr>
        <p:spPr>
          <a:xfrm>
            <a:off x="8420970" y="2345436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w2_JOSH_panel"/>
          <p:cNvSpPr/>
          <p:nvPr/>
        </p:nvSpPr>
        <p:spPr>
          <a:xfrm>
            <a:off x="13152337" y="2345436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w2_TRACE_panel"/>
          <p:cNvSpPr/>
          <p:nvPr/>
        </p:nvSpPr>
        <p:spPr>
          <a:xfrm>
            <a:off x="3689604" y="2345436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w2_TRAM_panel"/>
          <p:cNvSpPr/>
          <p:nvPr/>
        </p:nvSpPr>
        <p:spPr>
          <a:xfrm>
            <a:off x="6055287" y="2345436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w2_Shot3R (Ours)_panel"/>
          <p:cNvSpPr/>
          <p:nvPr/>
        </p:nvSpPr>
        <p:spPr>
          <a:xfrm>
            <a:off x="17883704" y="2345436"/>
            <a:ext cx="2324535" cy="1568196"/>
          </a:xfrm>
          <a:prstGeom prst="rect">
            <a:avLst/>
          </a:prstGeom>
          <a:solidFill>
            <a:srgbClr val="FAFAFA"/>
          </a:solidFill>
          <a:ln w="12700">
            <a:solidFill>
              <a:srgbClr val="285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w_separator_2"/>
          <p:cNvSpPr/>
          <p:nvPr/>
        </p:nvSpPr>
        <p:spPr>
          <a:xfrm>
            <a:off x="91440" y="3961638"/>
            <a:ext cx="20116800" cy="5486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w3_Input1_border"/>
          <p:cNvSpPr/>
          <p:nvPr/>
        </p:nvSpPr>
        <p:spPr>
          <a:xfrm>
            <a:off x="91440" y="4009644"/>
            <a:ext cx="1707642" cy="1184148"/>
          </a:xfrm>
          <a:prstGeom prst="rect">
            <a:avLst/>
          </a:prstGeom>
          <a:solidFill>
            <a:srgbClr val="FFFFFF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w3_Input2_border"/>
          <p:cNvSpPr/>
          <p:nvPr/>
        </p:nvSpPr>
        <p:spPr>
          <a:xfrm>
            <a:off x="1858517" y="4009644"/>
            <a:ext cx="1707642" cy="1184148"/>
          </a:xfrm>
          <a:prstGeom prst="rect">
            <a:avLst/>
          </a:prstGeom>
          <a:solidFill>
            <a:srgbClr val="FFFFFF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w3_Cut_angle_band"/>
          <p:cNvSpPr/>
          <p:nvPr/>
        </p:nvSpPr>
        <p:spPr>
          <a:xfrm>
            <a:off x="91440" y="5262372"/>
            <a:ext cx="3474720" cy="315468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w3_Cut_label"/>
          <p:cNvSpPr txBox="1"/>
          <p:nvPr/>
        </p:nvSpPr>
        <p:spPr>
          <a:xfrm>
            <a:off x="566928" y="5296204"/>
            <a:ext cx="393192" cy="24414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02A35"/>
                </a:solidFill>
                <a:latin typeface="Arial"/>
              </a:rPr>
              <a:t>Cut</a:t>
            </a:r>
          </a:p>
        </p:txBody>
      </p:sp>
      <p:cxnSp>
        <p:nvCxnSpPr>
          <p:cNvPr id="188" name="Row3_Cut_arrow"/>
          <p:cNvCxnSpPr/>
          <p:nvPr/>
        </p:nvCxnSpPr>
        <p:spPr>
          <a:xfrm>
            <a:off x="1078992" y="5416905"/>
            <a:ext cx="393192" cy="0"/>
          </a:xfrm>
          <a:prstGeom prst="line">
            <a:avLst/>
          </a:prstGeom>
          <a:ln w="12065">
            <a:solidFill>
              <a:srgbClr val="74839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ow3_Angle_EDIT_VALUE"/>
          <p:cNvSpPr txBox="1"/>
          <p:nvPr/>
        </p:nvSpPr>
        <p:spPr>
          <a:xfrm>
            <a:off x="1591056" y="5296204"/>
            <a:ext cx="1453896" cy="24414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02A35"/>
                </a:solidFill>
                <a:latin typeface="Arial"/>
              </a:rPr>
              <a:t>Δview = 176.75°</a:t>
            </a:r>
          </a:p>
        </p:txBody>
      </p:sp>
      <p:sp>
        <p:nvSpPr>
          <p:cNvPr id="190" name="Row3_Human3R_panel"/>
          <p:cNvSpPr/>
          <p:nvPr/>
        </p:nvSpPr>
        <p:spPr>
          <a:xfrm>
            <a:off x="15518021" y="4009644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w3_OnlineHMR_panel"/>
          <p:cNvSpPr/>
          <p:nvPr/>
        </p:nvSpPr>
        <p:spPr>
          <a:xfrm>
            <a:off x="10786654" y="4009644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w3_PromptHMR_panel"/>
          <p:cNvSpPr/>
          <p:nvPr/>
        </p:nvSpPr>
        <p:spPr>
          <a:xfrm>
            <a:off x="8420970" y="4009644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ow3_JOSH_panel"/>
          <p:cNvSpPr/>
          <p:nvPr/>
        </p:nvSpPr>
        <p:spPr>
          <a:xfrm>
            <a:off x="13152337" y="4009644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w3_TRACE_panel"/>
          <p:cNvSpPr/>
          <p:nvPr/>
        </p:nvSpPr>
        <p:spPr>
          <a:xfrm>
            <a:off x="3689604" y="4009644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ow3_TRAM_panel"/>
          <p:cNvSpPr/>
          <p:nvPr/>
        </p:nvSpPr>
        <p:spPr>
          <a:xfrm>
            <a:off x="6055287" y="4009644"/>
            <a:ext cx="2324535" cy="1568196"/>
          </a:xfrm>
          <a:prstGeom prst="rect">
            <a:avLst/>
          </a:prstGeom>
          <a:solidFill>
            <a:srgbClr val="FAFAFA"/>
          </a:solidFill>
          <a:ln w="7365">
            <a:solidFill>
              <a:srgbClr val="DC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ow3_Shot3R (Ours)_panel"/>
          <p:cNvSpPr/>
          <p:nvPr/>
        </p:nvSpPr>
        <p:spPr>
          <a:xfrm>
            <a:off x="17883704" y="4009644"/>
            <a:ext cx="2324535" cy="1568196"/>
          </a:xfrm>
          <a:prstGeom prst="rect">
            <a:avLst/>
          </a:prstGeom>
          <a:solidFill>
            <a:srgbClr val="FAFAFA"/>
          </a:solidFill>
          <a:ln w="12700">
            <a:solidFill>
              <a:srgbClr val="285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Row1_Input_Before_original" descr="input1_crop.jpg">
            <a:extLst>
              <a:ext uri="{FF2B5EF4-FFF2-40B4-BE49-F238E27FC236}">
                <a16:creationId xmlns:a16="http://schemas.microsoft.com/office/drawing/2014/main" id="{E2784422-F4E7-497E-F153-97E6EAB66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" y="707128"/>
            <a:ext cx="1691183" cy="1132348"/>
          </a:xfrm>
          <a:prstGeom prst="rect">
            <a:avLst/>
          </a:prstGeom>
          <a:effectLst/>
        </p:spPr>
      </p:pic>
      <p:pic>
        <p:nvPicPr>
          <p:cNvPr id="37" name="Row1_Input_After_original" descr="input2_crop.jpg">
            <a:extLst>
              <a:ext uri="{FF2B5EF4-FFF2-40B4-BE49-F238E27FC236}">
                <a16:creationId xmlns:a16="http://schemas.microsoft.com/office/drawing/2014/main" id="{C16EFFCF-9294-1F9B-E905-50F4138B9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747" y="707128"/>
            <a:ext cx="1691183" cy="1132348"/>
          </a:xfrm>
          <a:prstGeom prst="rect">
            <a:avLst/>
          </a:prstGeom>
          <a:effectLst/>
        </p:spPr>
      </p:pic>
      <p:pic>
        <p:nvPicPr>
          <p:cNvPr id="93" name="Row1_Human3R_original_prediction" descr="c2.png">
            <a:extLst>
              <a:ext uri="{FF2B5EF4-FFF2-40B4-BE49-F238E27FC236}">
                <a16:creationId xmlns:a16="http://schemas.microsoft.com/office/drawing/2014/main" id="{A39E6F05-FF08-87BC-3003-A38AD4E54B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25336" y="692159"/>
            <a:ext cx="2309905" cy="1546334"/>
          </a:xfrm>
          <a:prstGeom prst="rect">
            <a:avLst/>
          </a:prstGeom>
          <a:effectLst/>
        </p:spPr>
      </p:pic>
      <p:pic>
        <p:nvPicPr>
          <p:cNvPr id="95" name="Row1_OnlineHMR_original_prediction" descr="c4.png">
            <a:extLst>
              <a:ext uri="{FF2B5EF4-FFF2-40B4-BE49-F238E27FC236}">
                <a16:creationId xmlns:a16="http://schemas.microsoft.com/office/drawing/2014/main" id="{5C0D1E9A-D406-AA5A-EC0C-5221D77C5D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39107" y="722376"/>
            <a:ext cx="2219629" cy="1485900"/>
          </a:xfrm>
          <a:prstGeom prst="rect">
            <a:avLst/>
          </a:prstGeom>
          <a:effectLst/>
        </p:spPr>
      </p:pic>
      <p:pic>
        <p:nvPicPr>
          <p:cNvPr id="97" name="Row1_PromptHMR_original_prediction" descr="c6.png">
            <a:extLst>
              <a:ext uri="{FF2B5EF4-FFF2-40B4-BE49-F238E27FC236}">
                <a16:creationId xmlns:a16="http://schemas.microsoft.com/office/drawing/2014/main" id="{40969E96-35E7-9D90-BF52-738F13EF0B0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3423" y="722376"/>
            <a:ext cx="2219629" cy="1485900"/>
          </a:xfrm>
          <a:prstGeom prst="rect">
            <a:avLst/>
          </a:prstGeom>
          <a:effectLst/>
        </p:spPr>
      </p:pic>
      <p:pic>
        <p:nvPicPr>
          <p:cNvPr id="99" name="Row1_JOSH_original_prediction" descr="c3.png">
            <a:extLst>
              <a:ext uri="{FF2B5EF4-FFF2-40B4-BE49-F238E27FC236}">
                <a16:creationId xmlns:a16="http://schemas.microsoft.com/office/drawing/2014/main" id="{DB7DD7DB-29FF-490A-73A1-205702610ED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04790" y="722376"/>
            <a:ext cx="2219629" cy="1485900"/>
          </a:xfrm>
          <a:prstGeom prst="rect">
            <a:avLst/>
          </a:prstGeom>
          <a:effectLst/>
        </p:spPr>
      </p:pic>
      <p:pic>
        <p:nvPicPr>
          <p:cNvPr id="101" name="Row1_TRACE_original_prediction" descr="c7.png">
            <a:extLst>
              <a:ext uri="{FF2B5EF4-FFF2-40B4-BE49-F238E27FC236}">
                <a16:creationId xmlns:a16="http://schemas.microsoft.com/office/drawing/2014/main" id="{07E63F7A-AB7F-D858-BD30-660B0DF9AD6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2057" y="722376"/>
            <a:ext cx="2219629" cy="1485900"/>
          </a:xfrm>
          <a:prstGeom prst="rect">
            <a:avLst/>
          </a:prstGeom>
          <a:effectLst/>
        </p:spPr>
      </p:pic>
      <p:pic>
        <p:nvPicPr>
          <p:cNvPr id="103" name="Row1_TRAM_original_prediction" descr="c1.png">
            <a:extLst>
              <a:ext uri="{FF2B5EF4-FFF2-40B4-BE49-F238E27FC236}">
                <a16:creationId xmlns:a16="http://schemas.microsoft.com/office/drawing/2014/main" id="{BE26AC89-980D-BA20-15CF-0BC5EC4386B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07740" y="722376"/>
            <a:ext cx="2219629" cy="1485900"/>
          </a:xfrm>
          <a:prstGeom prst="rect">
            <a:avLst/>
          </a:prstGeom>
          <a:effectLst/>
        </p:spPr>
      </p:pic>
      <p:pic>
        <p:nvPicPr>
          <p:cNvPr id="91" name="Row1_Shot3R (Ours)_original_prediction" descr="c5.png">
            <a:extLst>
              <a:ext uri="{FF2B5EF4-FFF2-40B4-BE49-F238E27FC236}">
                <a16:creationId xmlns:a16="http://schemas.microsoft.com/office/drawing/2014/main" id="{32D09250-5239-7C40-ECC1-972EC5D349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91019" y="692159"/>
            <a:ext cx="2309905" cy="1546334"/>
          </a:xfrm>
          <a:prstGeom prst="rect">
            <a:avLst/>
          </a:prstGeom>
          <a:effectLst/>
        </p:spPr>
      </p:pic>
      <p:pic>
        <p:nvPicPr>
          <p:cNvPr id="54" name="Row2_Input_Before_original" descr="r2_input1.jpg">
            <a:extLst>
              <a:ext uri="{FF2B5EF4-FFF2-40B4-BE49-F238E27FC236}">
                <a16:creationId xmlns:a16="http://schemas.microsoft.com/office/drawing/2014/main" id="{DBCA6940-24A8-595F-806F-AA00F51C5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" y="2400212"/>
            <a:ext cx="1691183" cy="1074596"/>
          </a:xfrm>
          <a:prstGeom prst="rect">
            <a:avLst/>
          </a:prstGeom>
          <a:effectLst/>
        </p:spPr>
      </p:pic>
      <p:pic>
        <p:nvPicPr>
          <p:cNvPr id="56" name="Row2_Input_After_original" descr="r2_input2.jpg">
            <a:extLst>
              <a:ext uri="{FF2B5EF4-FFF2-40B4-BE49-F238E27FC236}">
                <a16:creationId xmlns:a16="http://schemas.microsoft.com/office/drawing/2014/main" id="{75B2D420-0160-241B-B77F-68DCE1C64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6747" y="2400212"/>
            <a:ext cx="1691183" cy="1074596"/>
          </a:xfrm>
          <a:prstGeom prst="rect">
            <a:avLst/>
          </a:prstGeom>
          <a:effectLst/>
        </p:spPr>
      </p:pic>
      <p:pic>
        <p:nvPicPr>
          <p:cNvPr id="107" name="Row2_Human3R_original_prediction" descr="r2_res2.png">
            <a:extLst>
              <a:ext uri="{FF2B5EF4-FFF2-40B4-BE49-F238E27FC236}">
                <a16:creationId xmlns:a16="http://schemas.microsoft.com/office/drawing/2014/main" id="{D4008F1C-094F-8692-954B-ADF23F1DFB4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525336" y="2396105"/>
            <a:ext cx="2309905" cy="1466857"/>
          </a:xfrm>
          <a:prstGeom prst="rect">
            <a:avLst/>
          </a:prstGeom>
          <a:effectLst/>
        </p:spPr>
      </p:pic>
      <p:pic>
        <p:nvPicPr>
          <p:cNvPr id="113" name="Row2_OnlineHMR_original_prediction" descr="r2_res4.png">
            <a:extLst>
              <a:ext uri="{FF2B5EF4-FFF2-40B4-BE49-F238E27FC236}">
                <a16:creationId xmlns:a16="http://schemas.microsoft.com/office/drawing/2014/main" id="{7F431356-8623-1FDA-304C-F65A70F7406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27802" y="2417139"/>
            <a:ext cx="2242239" cy="1424790"/>
          </a:xfrm>
          <a:prstGeom prst="rect">
            <a:avLst/>
          </a:prstGeom>
          <a:effectLst/>
        </p:spPr>
      </p:pic>
      <p:pic>
        <p:nvPicPr>
          <p:cNvPr id="117" name="Row2_PromptHMR_original_prediction" descr="r2_res6.png">
            <a:extLst>
              <a:ext uri="{FF2B5EF4-FFF2-40B4-BE49-F238E27FC236}">
                <a16:creationId xmlns:a16="http://schemas.microsoft.com/office/drawing/2014/main" id="{78B057CB-CF5C-FC0F-5346-24E0F4D5B50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62118" y="2417569"/>
            <a:ext cx="2242239" cy="1423930"/>
          </a:xfrm>
          <a:prstGeom prst="rect">
            <a:avLst/>
          </a:prstGeom>
          <a:effectLst/>
        </p:spPr>
      </p:pic>
      <p:pic>
        <p:nvPicPr>
          <p:cNvPr id="109" name="Row2_JOSH_original_prediction" descr="r2_res3.png">
            <a:extLst>
              <a:ext uri="{FF2B5EF4-FFF2-40B4-BE49-F238E27FC236}">
                <a16:creationId xmlns:a16="http://schemas.microsoft.com/office/drawing/2014/main" id="{C0E7A77B-3A11-D92A-F00B-960B095ADA7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193485" y="2417401"/>
            <a:ext cx="2242239" cy="1424266"/>
          </a:xfrm>
          <a:prstGeom prst="rect">
            <a:avLst/>
          </a:prstGeom>
          <a:effectLst/>
        </p:spPr>
      </p:pic>
      <p:pic>
        <p:nvPicPr>
          <p:cNvPr id="115" name="Row2_TRACE_original_prediction" descr="r2_res7.png">
            <a:extLst>
              <a:ext uri="{FF2B5EF4-FFF2-40B4-BE49-F238E27FC236}">
                <a16:creationId xmlns:a16="http://schemas.microsoft.com/office/drawing/2014/main" id="{99208B68-624F-387A-2F05-9E38D0478D8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30752" y="2417582"/>
            <a:ext cx="2242239" cy="1423904"/>
          </a:xfrm>
          <a:prstGeom prst="rect">
            <a:avLst/>
          </a:prstGeom>
          <a:effectLst/>
        </p:spPr>
      </p:pic>
      <p:pic>
        <p:nvPicPr>
          <p:cNvPr id="111" name="Row2_TRAM_original_prediction" descr="r2_res1.png">
            <a:extLst>
              <a:ext uri="{FF2B5EF4-FFF2-40B4-BE49-F238E27FC236}">
                <a16:creationId xmlns:a16="http://schemas.microsoft.com/office/drawing/2014/main" id="{B39C2A77-B32C-B580-2DDF-42470972D68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435" y="2416808"/>
            <a:ext cx="2242239" cy="1425451"/>
          </a:xfrm>
          <a:prstGeom prst="rect">
            <a:avLst/>
          </a:prstGeom>
          <a:effectLst/>
        </p:spPr>
      </p:pic>
      <p:pic>
        <p:nvPicPr>
          <p:cNvPr id="105" name="Row2_Shot3R (Ours)_original_prediction" descr="r2_res5.png">
            <a:extLst>
              <a:ext uri="{FF2B5EF4-FFF2-40B4-BE49-F238E27FC236}">
                <a16:creationId xmlns:a16="http://schemas.microsoft.com/office/drawing/2014/main" id="{F437D82E-25C1-9F47-DA20-3A322019700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891019" y="2395846"/>
            <a:ext cx="2309905" cy="1467376"/>
          </a:xfrm>
          <a:prstGeom prst="rect">
            <a:avLst/>
          </a:prstGeom>
          <a:effectLst/>
        </p:spPr>
      </p:pic>
      <p:pic>
        <p:nvPicPr>
          <p:cNvPr id="73" name="Row3_Input_Before_original" descr="r3_input1.jpg">
            <a:extLst>
              <a:ext uri="{FF2B5EF4-FFF2-40B4-BE49-F238E27FC236}">
                <a16:creationId xmlns:a16="http://schemas.microsoft.com/office/drawing/2014/main" id="{69F50077-2000-A913-45C6-75B9B1F6E5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" y="4064419"/>
            <a:ext cx="1691183" cy="1074596"/>
          </a:xfrm>
          <a:prstGeom prst="rect">
            <a:avLst/>
          </a:prstGeom>
          <a:effectLst/>
        </p:spPr>
      </p:pic>
      <p:pic>
        <p:nvPicPr>
          <p:cNvPr id="75" name="Row3_Input_After_original" descr="r3_input2.jpg">
            <a:extLst>
              <a:ext uri="{FF2B5EF4-FFF2-40B4-BE49-F238E27FC236}">
                <a16:creationId xmlns:a16="http://schemas.microsoft.com/office/drawing/2014/main" id="{247AD8CE-0851-B067-CDA7-63AFED4E0F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6747" y="4064419"/>
            <a:ext cx="1691183" cy="1074596"/>
          </a:xfrm>
          <a:prstGeom prst="rect">
            <a:avLst/>
          </a:prstGeom>
          <a:effectLst/>
        </p:spPr>
      </p:pic>
      <p:pic>
        <p:nvPicPr>
          <p:cNvPr id="119" name="Row3_Human3R_original_prediction" descr="r3_res4.png">
            <a:extLst>
              <a:ext uri="{FF2B5EF4-FFF2-40B4-BE49-F238E27FC236}">
                <a16:creationId xmlns:a16="http://schemas.microsoft.com/office/drawing/2014/main" id="{7F5753C3-CD50-0C4A-7F09-F40B77DDA4A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525336" y="4059835"/>
            <a:ext cx="2309905" cy="1467813"/>
          </a:xfrm>
          <a:prstGeom prst="rect">
            <a:avLst/>
          </a:prstGeom>
          <a:effectLst/>
        </p:spPr>
      </p:pic>
      <p:pic>
        <p:nvPicPr>
          <p:cNvPr id="123" name="Row3_OnlineHMR_original_prediction" descr="r3_res6.png">
            <a:extLst>
              <a:ext uri="{FF2B5EF4-FFF2-40B4-BE49-F238E27FC236}">
                <a16:creationId xmlns:a16="http://schemas.microsoft.com/office/drawing/2014/main" id="{292D521B-6221-418C-5E2E-C42A87ED365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827802" y="4081669"/>
            <a:ext cx="2242239" cy="1424145"/>
          </a:xfrm>
          <a:prstGeom prst="rect">
            <a:avLst/>
          </a:prstGeom>
          <a:effectLst/>
        </p:spPr>
      </p:pic>
      <p:pic>
        <p:nvPicPr>
          <p:cNvPr id="125" name="Row3_PromptHMR_original_prediction" descr="r3_res1.png">
            <a:extLst>
              <a:ext uri="{FF2B5EF4-FFF2-40B4-BE49-F238E27FC236}">
                <a16:creationId xmlns:a16="http://schemas.microsoft.com/office/drawing/2014/main" id="{CC96A7CF-83D9-A464-6DA6-271501213BC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62118" y="4081188"/>
            <a:ext cx="2242239" cy="1425107"/>
          </a:xfrm>
          <a:prstGeom prst="rect">
            <a:avLst/>
          </a:prstGeom>
          <a:effectLst/>
        </p:spPr>
      </p:pic>
      <p:pic>
        <p:nvPicPr>
          <p:cNvPr id="121" name="Row3_JOSH_original_prediction" descr="r3_res5.png">
            <a:extLst>
              <a:ext uri="{FF2B5EF4-FFF2-40B4-BE49-F238E27FC236}">
                <a16:creationId xmlns:a16="http://schemas.microsoft.com/office/drawing/2014/main" id="{5D3986F1-919F-F19F-FABF-266A5041696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193485" y="4081604"/>
            <a:ext cx="2242239" cy="1424276"/>
          </a:xfrm>
          <a:prstGeom prst="rect">
            <a:avLst/>
          </a:prstGeom>
          <a:effectLst/>
        </p:spPr>
      </p:pic>
      <p:pic>
        <p:nvPicPr>
          <p:cNvPr id="127" name="Row3_TRACE_original_prediction" descr="r3_res2.png">
            <a:extLst>
              <a:ext uri="{FF2B5EF4-FFF2-40B4-BE49-F238E27FC236}">
                <a16:creationId xmlns:a16="http://schemas.microsoft.com/office/drawing/2014/main" id="{5244C555-4026-C28F-A70C-ABCAB197970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30752" y="4081846"/>
            <a:ext cx="2242239" cy="1423791"/>
          </a:xfrm>
          <a:prstGeom prst="rect">
            <a:avLst/>
          </a:prstGeom>
          <a:effectLst/>
        </p:spPr>
      </p:pic>
      <p:pic>
        <p:nvPicPr>
          <p:cNvPr id="129" name="Row3_TRAM_original_prediction" descr="r3_res3.png">
            <a:extLst>
              <a:ext uri="{FF2B5EF4-FFF2-40B4-BE49-F238E27FC236}">
                <a16:creationId xmlns:a16="http://schemas.microsoft.com/office/drawing/2014/main" id="{7F024377-FA72-49DD-FD05-39C69A861EA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96435" y="4081436"/>
            <a:ext cx="2242239" cy="1424612"/>
          </a:xfrm>
          <a:prstGeom prst="rect">
            <a:avLst/>
          </a:prstGeom>
          <a:effectLst/>
        </p:spPr>
      </p:pic>
      <p:pic>
        <p:nvPicPr>
          <p:cNvPr id="89" name="Row3_Shot3R (Ours)_original_prediction" descr="r3_res7.png">
            <a:extLst>
              <a:ext uri="{FF2B5EF4-FFF2-40B4-BE49-F238E27FC236}">
                <a16:creationId xmlns:a16="http://schemas.microsoft.com/office/drawing/2014/main" id="{4EEAE08D-5FF9-1F01-4100-810CA5DAB2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91019" y="4072754"/>
            <a:ext cx="2309905" cy="144197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16402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自定义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Shot3R — qualitative comparison across shot transitions</dc:title>
  <dc:subject>Editable three-case multi-shot comparison; original images preserved</dc:subject>
  <dc:creator/>
  <cp:keywords/>
  <dc:description>generated using python-pptx</dc:description>
  <cp:lastModifiedBy/>
  <cp:revision>12</cp:revision>
  <dcterms:created xsi:type="dcterms:W3CDTF">2013-01-27T09:14:16Z</dcterms:created>
  <dcterms:modified xsi:type="dcterms:W3CDTF">2026-09-08T04:35:32Z</dcterms:modified>
  <cp:category/>
</cp:coreProperties>
</file>